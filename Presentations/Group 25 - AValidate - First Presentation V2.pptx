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20 seconds. Introduce the team and the one-line question on the slide: does the thing you see make the sound you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Walk the four cards left to right. The first two are easy matches. The third is a clear mismatch. The fourth is the interesting one: a person on screen with a dog bark is uncertain, because a dog may be off-screen or the person may be imitating it. That is why the system reports confidence bands. Then read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Four places where a wrong sound-to-source pairing causes real errors. Search: tags taken from audio alone. Training data: clips with off-screen sources teach the wrong association; AVE itself had to filter about 10,000 candidates down to 4,143. Editing: replaced or shifted audio. Captions and alerts: the sound is credited to the wrong thing. Each card ends with what our MVP gives. Do not claim deepfake or lip-sync detection; we only check whether the visible event is the sound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Five objectives, in pipeline order. Stress the banner: our claim only holds if fusion beats the simple approach of running two classifiers and checking whether their labels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Left column is what we commit to. Middle is what we add if time allows; the live webcam mode is a demo enhancement, not a dependency. Right column is what we will not claim, especially that a low score is not proof of impossibility.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75 seconds. AVE is the primary dataset: about four thousand ten-second clips, 28 categories, and a label for every second saying whether the event is present. We use its official split. We generate matched and mismatched pairs ourselves. VGGSound and VGG-SS are optional. On the right, the preprocessing pipeline, and the leakage rule: negatives never mix clips across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Positives are real clips. Negatives swap in audio from another clip in the same split, the idea introduced in Look, Listen and Learn. Easy negatives are a different category. Hard negatives are categories that sound alike, like guitar and banjo. Time-shifted negatives keep the right sound but move it a few seconds, which tests whether the model uses timing; that idea comes from earlier synchronisation work. The banner explains why we need the hard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Be open about this. From AVE we take the dataset and the per-second event task, which become our first two heads, plus their finding that joint audio-visual models beat single-modality ones. From Look, Listen and Learn we take the correspondence idea and audio swapping, which become our third head. What we add: a calibrated verdict with an uncertain option, a stricter evaluation with a label-agreement baseline and graded negatives, and newer pretrained encoders combined in one model with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Left to right. One clip in; audio and video are encoded in parallel, each giving one embedding per second. Alignment pairs each second of sound with the same second of video. Fusion combines them. Three heads: which event, whether it is audible and visible each second, and the correspondence score. Attention-based fusion is an optional upgrade. The banner is the contract between the three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Each column has a baseline and a stronger candidate. Audio: a spectrogram CNN, then a pretrained audio model such as BEATs, fine-tuned cheaply with LoRA. Visual: a pretrained image CNN, then CLIP. Fusion starts as concatenation plus an MLP, with attention as the upgrade. The correspondence score is calibrated and the confidence bands are set on validation data, never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90 seconds. Read the question column, it tells the story. Row 2 is the key experiment: the baseline runs an audio classifier and a video classifier separately and calls it a match if their labels agree. Fusion must beat that. Row 3 checks that it still works on subtle mismatches. Row 5 checks the confidence means what it says. We report ROC-AUC and PR-AUC rather than accuracy, because accuracy depends on how many negatives we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45 seconds. This is a mock-up of the demo, not a result. The user uploads a clip and gets the event, a decision with a score, and which confidence band it falls in. The timeline shows the seconds where the sound and the visible source overlap; here the dog is always visible but only barks in some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45 seconds. Update this slide before submitting with anything finished by then, for example if AVE has been downloaded. Left is what is done; right is the build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30 seconds. Each of us owns both data and modelling for one slice. The shared inference function is what ties the three slices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image" Target="../media/image-5-7.png"/><Relationship Id="rId9" Type="http://schemas.openxmlformats.org/officeDocument/2006/relationships/image" Target="../media/image-5-7.png"/><Relationship Id="rId10" Type="http://schemas.openxmlformats.org/officeDocument/2006/relationships/image" Target="../media/image-5-7.png"/><Relationship Id="rId11" Type="http://schemas.openxmlformats.org/officeDocument/2006/relationships/image" Target="../media/image-5-7.png"/><Relationship Id="rId12" Type="http://schemas.openxmlformats.org/officeDocument/2006/relationships/image" Target="../media/image-5-12.png"/><Relationship Id="rId13" Type="http://schemas.openxmlformats.org/officeDocument/2006/relationships/image" Target="../media/image-5-12.png"/><Relationship Id="rId14" Type="http://schemas.openxmlformats.org/officeDocument/2006/relationships/image" Target="../media/image-5-12.png"/><Relationship Id="rId15" Type="http://schemas.openxmlformats.org/officeDocument/2006/relationships/image" Target="../media/image-5-12.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2.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4.png"/><Relationship Id="rId16" Type="http://schemas.openxmlformats.org/officeDocument/2006/relationships/image" Target="../media/image-7-14.png"/><Relationship Id="rId17" Type="http://schemas.openxmlformats.org/officeDocument/2006/relationships/image" Target="../media/image-7-14.png"/><Relationship Id="rId18" Type="http://schemas.openxmlformats.org/officeDocument/2006/relationships/image" Target="../media/image-7-14.png"/><Relationship Id="rId19" Type="http://schemas.openxmlformats.org/officeDocument/2006/relationships/image" Target="../media/image-7-19.png"/><Relationship Id="rId20" Type="http://schemas.openxmlformats.org/officeDocument/2006/relationships/image" Target="../media/image-7-2.png"/><Relationship Id="rId21" Type="http://schemas.openxmlformats.org/officeDocument/2006/relationships/image" Target="../media/image-7-2.png"/><Relationship Id="rId22" Type="http://schemas.openxmlformats.org/officeDocument/2006/relationships/image" Target="../media/image-7-2.png"/><Relationship Id="rId23" Type="http://schemas.openxmlformats.org/officeDocument/2006/relationships/image" Target="../media/image-7-2.png"/><Relationship Id="rId24" Type="http://schemas.openxmlformats.org/officeDocument/2006/relationships/image" Target="../media/image-7-2.png"/><Relationship Id="rId25" Type="http://schemas.openxmlformats.org/officeDocument/2006/relationships/image" Target="../media/image-7-25.png"/><Relationship Id="rId26" Type="http://schemas.openxmlformats.org/officeDocument/2006/relationships/slideLayout" Target="../slideLayouts/slideLayout1.xml"/><Relationship Id="rId2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2.png"/><Relationship Id="rId7" Type="http://schemas.openxmlformats.org/officeDocument/2006/relationships/image" Target="../media/image-13-2.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1417320"/>
            <a:ext cx="10972800" cy="320040"/>
          </a:xfrm>
          <a:prstGeom prst="rect">
            <a:avLst/>
          </a:prstGeom>
          <a:noFill/>
          <a:ln/>
        </p:spPr>
        <p:txBody>
          <a:bodyPr wrap="square" lIns="0" tIns="0" rIns="0" bIns="0" rtlCol="0" anchor="t"/>
          <a:lstStyle/>
          <a:p>
            <a:pPr indent="0" marL="0">
              <a:buNone/>
            </a:pPr>
            <a:r>
              <a:rPr lang="en-US" sz="1300" b="1" spc="200" kern="0" dirty="0">
                <a:solidFill>
                  <a:srgbClr val="FFFFFF"/>
                </a:solidFill>
                <a:latin typeface="Inter 1 Bold" pitchFamily="34" charset="0"/>
                <a:ea typeface="Inter 1 Bold" pitchFamily="34" charset="-122"/>
                <a:cs typeface="Inter 1 Bold" pitchFamily="34" charset="-120"/>
              </a:rPr>
              <a:t>GRADUATE CERTIFICATE IN PATTERN RECOGNITION SYSTEMS</a:t>
            </a:r>
            <a:endParaRPr lang="en-US" sz="1300" dirty="0"/>
          </a:p>
        </p:txBody>
      </p:sp>
      <p:sp>
        <p:nvSpPr>
          <p:cNvPr id="4" name="Text 1"/>
          <p:cNvSpPr txBox="1"/>
          <p:nvPr/>
        </p:nvSpPr>
        <p:spPr>
          <a:xfrm>
            <a:off x="982980" y="1828800"/>
            <a:ext cx="10972800" cy="1828800"/>
          </a:xfrm>
          <a:prstGeom prst="rect">
            <a:avLst/>
          </a:prstGeom>
          <a:noFill/>
          <a:ln/>
        </p:spPr>
        <p:txBody>
          <a:bodyPr wrap="square" lIns="0" tIns="0" rIns="0" bIns="0" rtlCol="0" anchor="t"/>
          <a:lstStyle/>
          <a:p>
            <a:pPr indent="0" marL="0">
              <a:buNone/>
            </a:pPr>
            <a:r>
              <a:rPr lang="en-US" sz="11800" b="1" spc="-400" kern="0" dirty="0">
                <a:solidFill>
                  <a:srgbClr val="FFFFFF"/>
                </a:solidFill>
                <a:latin typeface="Inter 1 Bold" pitchFamily="34" charset="0"/>
                <a:ea typeface="Inter 1 Bold" pitchFamily="34" charset="-122"/>
                <a:cs typeface="Inter 1 Bold" pitchFamily="34" charset="-120"/>
              </a:rPr>
              <a:t>AValidate</a:t>
            </a:r>
            <a:endParaRPr lang="en-US" sz="11800" dirty="0"/>
          </a:p>
        </p:txBody>
      </p:sp>
      <p:sp>
        <p:nvSpPr>
          <p:cNvPr id="5" name="Text 2"/>
          <p:cNvSpPr txBox="1"/>
          <p:nvPr/>
        </p:nvSpPr>
        <p:spPr>
          <a:xfrm>
            <a:off x="1028700" y="3611880"/>
            <a:ext cx="10058400" cy="640080"/>
          </a:xfrm>
          <a:prstGeom prst="rect">
            <a:avLst/>
          </a:prstGeom>
          <a:noFill/>
          <a:ln/>
        </p:spPr>
        <p:txBody>
          <a:bodyPr wrap="square" lIns="0" tIns="0" rIns="0" bIns="0" rtlCol="0" anchor="t"/>
          <a:lstStyle/>
          <a:p>
            <a:pPr indent="0" marL="0">
              <a:buNone/>
            </a:pPr>
            <a:r>
              <a:rPr lang="en-US" sz="3000" b="1" dirty="0">
                <a:solidFill>
                  <a:srgbClr val="FFFFFF"/>
                </a:solidFill>
                <a:latin typeface="Inter 1 Semi-Bold" pitchFamily="34" charset="0"/>
                <a:ea typeface="Inter 1 Semi-Bold" pitchFamily="34" charset="-122"/>
                <a:cs typeface="Inter 1 Semi-Bold" pitchFamily="34" charset="-120"/>
              </a:rPr>
              <a:t>Intelligent Audio-Visual Source Matching</a:t>
            </a:r>
            <a:endParaRPr lang="en-US" sz="3000" dirty="0"/>
          </a:p>
        </p:txBody>
      </p:sp>
      <p:sp>
        <p:nvSpPr>
          <p:cNvPr id="6" name="Text 3"/>
          <p:cNvSpPr txBox="1"/>
          <p:nvPr/>
        </p:nvSpPr>
        <p:spPr>
          <a:xfrm>
            <a:off x="1028700" y="4297680"/>
            <a:ext cx="10058400" cy="457200"/>
          </a:xfrm>
          <a:prstGeom prst="rect">
            <a:avLst/>
          </a:prstGeom>
          <a:noFill/>
          <a:ln/>
        </p:spPr>
        <p:txBody>
          <a:bodyPr wrap="square" lIns="0" tIns="0" rIns="0" bIns="0" rtlCol="0" anchor="t"/>
          <a:lstStyle/>
          <a:p>
            <a:pPr indent="0" marL="0">
              <a:buNone/>
            </a:pPr>
            <a:r>
              <a:rPr lang="en-US" sz="2000" i="1" dirty="0">
                <a:solidFill>
                  <a:srgbClr val="E6FBF5"/>
                </a:solidFill>
                <a:latin typeface="Inter 1" pitchFamily="34" charset="0"/>
                <a:ea typeface="Inter 1" pitchFamily="34" charset="-122"/>
                <a:cs typeface="Inter 1" pitchFamily="34" charset="-120"/>
              </a:rPr>
              <a:t>Does the thing you see make the sound you hear?</a:t>
            </a:r>
            <a:endParaRPr lang="en-US" sz="2000" dirty="0"/>
          </a:p>
        </p:txBody>
      </p:sp>
      <p:sp>
        <p:nvSpPr>
          <p:cNvPr id="7" name="Shape 4"/>
          <p:cNvSpPr/>
          <p:nvPr/>
        </p:nvSpPr>
        <p:spPr>
          <a:xfrm>
            <a:off x="11612880" y="5989320"/>
            <a:ext cx="5646420" cy="3246120"/>
          </a:xfrm>
          <a:prstGeom prst="roundRect">
            <a:avLst>
              <a:gd name="adj" fmla="val 3944"/>
            </a:avLst>
          </a:prstGeom>
          <a:solidFill>
            <a:srgbClr val="0B4F5E"/>
          </a:solidFill>
          <a:ln w="12700">
            <a:solidFill>
              <a:srgbClr val="0B4F5E"/>
            </a:solidFill>
            <a:prstDash val="solid"/>
          </a:ln>
        </p:spPr>
      </p:sp>
      <p:sp>
        <p:nvSpPr>
          <p:cNvPr id="8" name="Text 5"/>
          <p:cNvSpPr txBox="1"/>
          <p:nvPr/>
        </p:nvSpPr>
        <p:spPr>
          <a:xfrm>
            <a:off x="11932920" y="6263640"/>
            <a:ext cx="5029200" cy="320040"/>
          </a:xfrm>
          <a:prstGeom prst="rect">
            <a:avLst/>
          </a:prstGeom>
          <a:noFill/>
          <a:ln/>
        </p:spPr>
        <p:txBody>
          <a:bodyPr wrap="square" lIns="0" tIns="0" rIns="0" bIns="0" rtlCol="0" anchor="t"/>
          <a:lstStyle/>
          <a:p>
            <a:pPr indent="0" marL="0">
              <a:buNone/>
            </a:pPr>
            <a:r>
              <a:rPr lang="en-US" sz="1300" b="1" spc="150" kern="0" dirty="0">
                <a:solidFill>
                  <a:srgbClr val="86DC52"/>
                </a:solidFill>
                <a:latin typeface="Inter 1 Bold" pitchFamily="34" charset="0"/>
                <a:ea typeface="Inter 1 Bold" pitchFamily="34" charset="-122"/>
                <a:cs typeface="Inter 1 Bold" pitchFamily="34" charset="-120"/>
              </a:rPr>
              <a:t>FIRST PROJECT PRESENTATION</a:t>
            </a:r>
            <a:endParaRPr lang="en-US" sz="1300" dirty="0"/>
          </a:p>
        </p:txBody>
      </p:sp>
      <p:sp>
        <p:nvSpPr>
          <p:cNvPr id="9" name="Text 6"/>
          <p:cNvSpPr txBox="1"/>
          <p:nvPr/>
        </p:nvSpPr>
        <p:spPr>
          <a:xfrm>
            <a:off x="11932920" y="6629400"/>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Inter 1 Semi-Bold" pitchFamily="34" charset="0"/>
                <a:ea typeface="Inter 1 Semi-Bold" pitchFamily="34" charset="-122"/>
                <a:cs typeface="Inter 1 Semi-Bold" pitchFamily="34" charset="-120"/>
              </a:rPr>
              <a:t>Group 25   ·   6 Oct 2026</a:t>
            </a:r>
            <a:endParaRPr lang="en-US" sz="1600" dirty="0"/>
          </a:p>
        </p:txBody>
      </p:sp>
      <p:sp>
        <p:nvSpPr>
          <p:cNvPr id="10" name="Text 7"/>
          <p:cNvSpPr txBox="1"/>
          <p:nvPr/>
        </p:nvSpPr>
        <p:spPr>
          <a:xfrm>
            <a:off x="11932920" y="7178040"/>
            <a:ext cx="5120640" cy="1920240"/>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Veeramani Mahadevan Venkata Ganapathi Subramanian</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A0355739M</a:t>
            </a:r>
            <a:endParaRPr lang="en-US" sz="1300" dirty="0"/>
          </a:p>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Gupta Swaraj</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A0357457N</a:t>
            </a:r>
            <a:endParaRPr lang="en-US" sz="1300" dirty="0"/>
          </a:p>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Ramia Kasthurirangam Pandurengan Ghanshyam</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A0357701E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Problem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Motivation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In real-world video, the object on screen is sometimes not the source of the sound.</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02</a:t>
            </a:r>
            <a:endParaRPr lang="en-US" sz="1050" dirty="0"/>
          </a:p>
        </p:txBody>
      </p:sp>
      <p:sp>
        <p:nvSpPr>
          <p:cNvPr id="6" name="Shape 3"/>
          <p:cNvSpPr/>
          <p:nvPr/>
        </p:nvSpPr>
        <p:spPr>
          <a:xfrm>
            <a:off x="1028700" y="2697480"/>
            <a:ext cx="3817620" cy="4114800"/>
          </a:xfrm>
          <a:prstGeom prst="roundRect">
            <a:avLst>
              <a:gd name="adj" fmla="val 3353"/>
            </a:avLst>
          </a:prstGeom>
          <a:solidFill>
            <a:srgbClr val="EEF1F2"/>
          </a:solidFill>
          <a:ln w="12700">
            <a:solidFill>
              <a:srgbClr val="EEF1F2"/>
            </a:solidFill>
            <a:prstDash val="solid"/>
          </a:ln>
        </p:spPr>
      </p:sp>
      <p:sp>
        <p:nvSpPr>
          <p:cNvPr id="7" name="Text 4"/>
          <p:cNvSpPr txBox="1"/>
          <p:nvPr/>
        </p:nvSpPr>
        <p:spPr>
          <a:xfrm>
            <a:off x="134874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8" name="Image 1" descr="/private/tmp/claude-501/-Users-ghanashyamrkp-AI-Apps/d936947f-11c3-48a0-9610-6ecad037576d/scratchpad/deck/ic/dog-deep.png">    </p:cNvPr>
          <p:cNvPicPr>
            <a:picLocks noChangeAspect="1"/>
          </p:cNvPicPr>
          <p:nvPr/>
        </p:nvPicPr>
        <p:blipFill>
          <a:blip r:embed="rId2"/>
          <a:stretch>
            <a:fillRect/>
          </a:stretch>
        </p:blipFill>
        <p:spPr>
          <a:xfrm>
            <a:off x="1348740" y="3355848"/>
            <a:ext cx="566928" cy="566928"/>
          </a:xfrm>
          <a:prstGeom prst="rect">
            <a:avLst/>
          </a:prstGeom>
        </p:spPr>
      </p:pic>
      <p:sp>
        <p:nvSpPr>
          <p:cNvPr id="9" name="Text 5"/>
          <p:cNvSpPr txBox="1"/>
          <p:nvPr/>
        </p:nvSpPr>
        <p:spPr>
          <a:xfrm>
            <a:off x="208026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10" name="Text 6"/>
          <p:cNvSpPr txBox="1"/>
          <p:nvPr/>
        </p:nvSpPr>
        <p:spPr>
          <a:xfrm>
            <a:off x="134874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11" name="Image 2" descr="/private/tmp/claude-501/-Users-ghanashyamrkp-AI-Apps/d936947f-11c3-48a0-9610-6ecad037576d/scratchpad/deck/ic/audio-deep.png">    </p:cNvPr>
          <p:cNvPicPr>
            <a:picLocks noChangeAspect="1"/>
          </p:cNvPicPr>
          <p:nvPr/>
        </p:nvPicPr>
        <p:blipFill>
          <a:blip r:embed="rId3"/>
          <a:stretch>
            <a:fillRect/>
          </a:stretch>
        </p:blipFill>
        <p:spPr>
          <a:xfrm>
            <a:off x="1348740" y="4498848"/>
            <a:ext cx="566928" cy="566928"/>
          </a:xfrm>
          <a:prstGeom prst="rect">
            <a:avLst/>
          </a:prstGeom>
        </p:spPr>
      </p:pic>
      <p:sp>
        <p:nvSpPr>
          <p:cNvPr id="12" name="Text 7"/>
          <p:cNvSpPr txBox="1"/>
          <p:nvPr/>
        </p:nvSpPr>
        <p:spPr>
          <a:xfrm>
            <a:off x="208026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Barking</a:t>
            </a:r>
            <a:endParaRPr lang="en-US" sz="2200" dirty="0"/>
          </a:p>
        </p:txBody>
      </p:sp>
      <p:sp>
        <p:nvSpPr>
          <p:cNvPr id="13" name="Shape 8"/>
          <p:cNvSpPr/>
          <p:nvPr/>
        </p:nvSpPr>
        <p:spPr>
          <a:xfrm>
            <a:off x="134874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134874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15" name="Text 10"/>
          <p:cNvSpPr txBox="1"/>
          <p:nvPr/>
        </p:nvSpPr>
        <p:spPr>
          <a:xfrm>
            <a:off x="134874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visible dog is the source.</a:t>
            </a:r>
            <a:endParaRPr lang="en-US" sz="1500" dirty="0"/>
          </a:p>
        </p:txBody>
      </p:sp>
      <p:sp>
        <p:nvSpPr>
          <p:cNvPr id="16" name="Shape 11"/>
          <p:cNvSpPr/>
          <p:nvPr/>
        </p:nvSpPr>
        <p:spPr>
          <a:xfrm>
            <a:off x="5166360" y="2697480"/>
            <a:ext cx="3817620" cy="4114800"/>
          </a:xfrm>
          <a:prstGeom prst="roundRect">
            <a:avLst>
              <a:gd name="adj" fmla="val 3353"/>
            </a:avLst>
          </a:prstGeom>
          <a:solidFill>
            <a:srgbClr val="EEF1F2"/>
          </a:solidFill>
          <a:ln w="12700">
            <a:solidFill>
              <a:srgbClr val="EEF1F2"/>
            </a:solidFill>
            <a:prstDash val="solid"/>
          </a:ln>
        </p:spPr>
      </p:sp>
      <p:sp>
        <p:nvSpPr>
          <p:cNvPr id="17" name="Text 12"/>
          <p:cNvSpPr txBox="1"/>
          <p:nvPr/>
        </p:nvSpPr>
        <p:spPr>
          <a:xfrm>
            <a:off x="548640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18" name="Image 3" descr="/private/tmp/claude-501/-Users-ghanashyamrkp-AI-Apps/d936947f-11c3-48a0-9610-6ecad037576d/scratchpad/deck/ic/car-deep.png">    </p:cNvPr>
          <p:cNvPicPr>
            <a:picLocks noChangeAspect="1"/>
          </p:cNvPicPr>
          <p:nvPr/>
        </p:nvPicPr>
        <p:blipFill>
          <a:blip r:embed="rId4"/>
          <a:stretch>
            <a:fillRect/>
          </a:stretch>
        </p:blipFill>
        <p:spPr>
          <a:xfrm>
            <a:off x="5486400" y="3355848"/>
            <a:ext cx="566928" cy="566928"/>
          </a:xfrm>
          <a:prstGeom prst="rect">
            <a:avLst/>
          </a:prstGeom>
        </p:spPr>
      </p:pic>
      <p:sp>
        <p:nvSpPr>
          <p:cNvPr id="19" name="Text 13"/>
          <p:cNvSpPr txBox="1"/>
          <p:nvPr/>
        </p:nvSpPr>
        <p:spPr>
          <a:xfrm>
            <a:off x="621792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Car</a:t>
            </a:r>
            <a:endParaRPr lang="en-US" sz="2200" dirty="0"/>
          </a:p>
        </p:txBody>
      </p:sp>
      <p:sp>
        <p:nvSpPr>
          <p:cNvPr id="20" name="Text 14"/>
          <p:cNvSpPr txBox="1"/>
          <p:nvPr/>
        </p:nvSpPr>
        <p:spPr>
          <a:xfrm>
            <a:off x="548640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21" name="Image 4" descr="/private/tmp/claude-501/-Users-ghanashyamrkp-AI-Apps/d936947f-11c3-48a0-9610-6ecad037576d/scratchpad/deck/ic/audio-deep.png">    </p:cNvPr>
          <p:cNvPicPr>
            <a:picLocks noChangeAspect="1"/>
          </p:cNvPicPr>
          <p:nvPr/>
        </p:nvPicPr>
        <p:blipFill>
          <a:blip r:embed="rId5"/>
          <a:stretch>
            <a:fillRect/>
          </a:stretch>
        </p:blipFill>
        <p:spPr>
          <a:xfrm>
            <a:off x="5486400" y="4498848"/>
            <a:ext cx="566928" cy="566928"/>
          </a:xfrm>
          <a:prstGeom prst="rect">
            <a:avLst/>
          </a:prstGeom>
        </p:spPr>
      </p:pic>
      <p:sp>
        <p:nvSpPr>
          <p:cNvPr id="22" name="Text 15"/>
          <p:cNvSpPr txBox="1"/>
          <p:nvPr/>
        </p:nvSpPr>
        <p:spPr>
          <a:xfrm>
            <a:off x="621792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Car horn</a:t>
            </a:r>
            <a:endParaRPr lang="en-US" sz="2200" dirty="0"/>
          </a:p>
        </p:txBody>
      </p:sp>
      <p:sp>
        <p:nvSpPr>
          <p:cNvPr id="23" name="Shape 16"/>
          <p:cNvSpPr/>
          <p:nvPr/>
        </p:nvSpPr>
        <p:spPr>
          <a:xfrm>
            <a:off x="548640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4" name="Text 17"/>
          <p:cNvSpPr txBox="1"/>
          <p:nvPr/>
        </p:nvSpPr>
        <p:spPr>
          <a:xfrm>
            <a:off x="548640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25" name="Text 18"/>
          <p:cNvSpPr txBox="1"/>
          <p:nvPr/>
        </p:nvSpPr>
        <p:spPr>
          <a:xfrm>
            <a:off x="548640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visible car is the source.</a:t>
            </a:r>
            <a:endParaRPr lang="en-US" sz="1500" dirty="0"/>
          </a:p>
        </p:txBody>
      </p:sp>
      <p:sp>
        <p:nvSpPr>
          <p:cNvPr id="26" name="Shape 19"/>
          <p:cNvSpPr/>
          <p:nvPr/>
        </p:nvSpPr>
        <p:spPr>
          <a:xfrm>
            <a:off x="9304020" y="2697480"/>
            <a:ext cx="3817620" cy="4114800"/>
          </a:xfrm>
          <a:prstGeom prst="roundRect">
            <a:avLst>
              <a:gd name="adj" fmla="val 3353"/>
            </a:avLst>
          </a:prstGeom>
          <a:solidFill>
            <a:srgbClr val="EEF1F2"/>
          </a:solidFill>
          <a:ln w="12700">
            <a:solidFill>
              <a:srgbClr val="EEF1F2"/>
            </a:solidFill>
            <a:prstDash val="solid"/>
          </a:ln>
        </p:spPr>
      </p:sp>
      <p:sp>
        <p:nvSpPr>
          <p:cNvPr id="27" name="Text 20"/>
          <p:cNvSpPr txBox="1"/>
          <p:nvPr/>
        </p:nvSpPr>
        <p:spPr>
          <a:xfrm>
            <a:off x="962406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28" name="Image 5" descr="/private/tmp/claude-501/-Users-ghanashyamrkp-AI-Apps/d936947f-11c3-48a0-9610-6ecad037576d/scratchpad/deck/ic/dog-deep.png">    </p:cNvPr>
          <p:cNvPicPr>
            <a:picLocks noChangeAspect="1"/>
          </p:cNvPicPr>
          <p:nvPr/>
        </p:nvPicPr>
        <p:blipFill>
          <a:blip r:embed="rId6"/>
          <a:stretch>
            <a:fillRect/>
          </a:stretch>
        </p:blipFill>
        <p:spPr>
          <a:xfrm>
            <a:off x="9624060" y="3355848"/>
            <a:ext cx="566928" cy="566928"/>
          </a:xfrm>
          <a:prstGeom prst="rect">
            <a:avLst/>
          </a:prstGeom>
        </p:spPr>
      </p:pic>
      <p:sp>
        <p:nvSpPr>
          <p:cNvPr id="29" name="Text 21"/>
          <p:cNvSpPr txBox="1"/>
          <p:nvPr/>
        </p:nvSpPr>
        <p:spPr>
          <a:xfrm>
            <a:off x="1035558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30" name="Text 22"/>
          <p:cNvSpPr txBox="1"/>
          <p:nvPr/>
        </p:nvSpPr>
        <p:spPr>
          <a:xfrm>
            <a:off x="962406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31" name="Image 6" descr="/private/tmp/claude-501/-Users-ghanashyamrkp-AI-Apps/d936947f-11c3-48a0-9610-6ecad037576d/scratchpad/deck/ic/audio-deep.png">    </p:cNvPr>
          <p:cNvPicPr>
            <a:picLocks noChangeAspect="1"/>
          </p:cNvPicPr>
          <p:nvPr/>
        </p:nvPicPr>
        <p:blipFill>
          <a:blip r:embed="rId7"/>
          <a:stretch>
            <a:fillRect/>
          </a:stretch>
        </p:blipFill>
        <p:spPr>
          <a:xfrm>
            <a:off x="9624060" y="4498848"/>
            <a:ext cx="566928" cy="566928"/>
          </a:xfrm>
          <a:prstGeom prst="rect">
            <a:avLst/>
          </a:prstGeom>
        </p:spPr>
      </p:pic>
      <p:sp>
        <p:nvSpPr>
          <p:cNvPr id="32" name="Text 23"/>
          <p:cNvSpPr txBox="1"/>
          <p:nvPr/>
        </p:nvSpPr>
        <p:spPr>
          <a:xfrm>
            <a:off x="1035558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Siren</a:t>
            </a:r>
            <a:endParaRPr lang="en-US" sz="2200" dirty="0"/>
          </a:p>
        </p:txBody>
      </p:sp>
      <p:sp>
        <p:nvSpPr>
          <p:cNvPr id="33" name="Shape 24"/>
          <p:cNvSpPr/>
          <p:nvPr/>
        </p:nvSpPr>
        <p:spPr>
          <a:xfrm>
            <a:off x="9624060" y="5349240"/>
            <a:ext cx="3177540" cy="438912"/>
          </a:xfrm>
          <a:prstGeom prst="roundRect">
            <a:avLst>
              <a:gd name="adj" fmla="val 50000"/>
            </a:avLst>
          </a:prstGeom>
          <a:solidFill>
            <a:srgbClr val="C2410C"/>
          </a:solidFill>
          <a:ln w="12700">
            <a:solidFill>
              <a:srgbClr val="C2410C"/>
            </a:solidFill>
            <a:prstDash val="solid"/>
          </a:ln>
        </p:spPr>
      </p:sp>
      <p:sp>
        <p:nvSpPr>
          <p:cNvPr id="34" name="Text 25"/>
          <p:cNvSpPr txBox="1"/>
          <p:nvPr/>
        </p:nvSpPr>
        <p:spPr>
          <a:xfrm>
            <a:off x="962406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Mismatch</a:t>
            </a:r>
            <a:endParaRPr lang="en-US" sz="1400" dirty="0"/>
          </a:p>
        </p:txBody>
      </p:sp>
      <p:sp>
        <p:nvSpPr>
          <p:cNvPr id="35" name="Text 26"/>
          <p:cNvSpPr txBox="1"/>
          <p:nvPr/>
        </p:nvSpPr>
        <p:spPr>
          <a:xfrm>
            <a:off x="962406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siren comes from somewhere off-screen.</a:t>
            </a:r>
            <a:endParaRPr lang="en-US" sz="1500" dirty="0"/>
          </a:p>
        </p:txBody>
      </p:sp>
      <p:sp>
        <p:nvSpPr>
          <p:cNvPr id="36" name="Shape 27"/>
          <p:cNvSpPr/>
          <p:nvPr/>
        </p:nvSpPr>
        <p:spPr>
          <a:xfrm>
            <a:off x="13441680" y="2697480"/>
            <a:ext cx="3817620" cy="4114800"/>
          </a:xfrm>
          <a:prstGeom prst="roundRect">
            <a:avLst>
              <a:gd name="adj" fmla="val 3353"/>
            </a:avLst>
          </a:prstGeom>
          <a:solidFill>
            <a:srgbClr val="EEF1F2"/>
          </a:solidFill>
          <a:ln w="12700">
            <a:solidFill>
              <a:srgbClr val="EEF1F2"/>
            </a:solidFill>
            <a:prstDash val="solid"/>
          </a:ln>
        </p:spPr>
      </p:sp>
      <p:sp>
        <p:nvSpPr>
          <p:cNvPr id="37" name="Text 28"/>
          <p:cNvSpPr txBox="1"/>
          <p:nvPr/>
        </p:nvSpPr>
        <p:spPr>
          <a:xfrm>
            <a:off x="1376172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38" name="Image 7" descr="/private/tmp/claude-501/-Users-ghanashyamrkp-AI-Apps/d936947f-11c3-48a0-9610-6ecad037576d/scratchpad/deck/ic/user-deep.png">    </p:cNvPr>
          <p:cNvPicPr>
            <a:picLocks noChangeAspect="1"/>
          </p:cNvPicPr>
          <p:nvPr/>
        </p:nvPicPr>
        <p:blipFill>
          <a:blip r:embed="rId8"/>
          <a:stretch>
            <a:fillRect/>
          </a:stretch>
        </p:blipFill>
        <p:spPr>
          <a:xfrm>
            <a:off x="13761720" y="3355848"/>
            <a:ext cx="566928" cy="566928"/>
          </a:xfrm>
          <a:prstGeom prst="rect">
            <a:avLst/>
          </a:prstGeom>
        </p:spPr>
      </p:pic>
      <p:sp>
        <p:nvSpPr>
          <p:cNvPr id="39" name="Text 29"/>
          <p:cNvSpPr txBox="1"/>
          <p:nvPr/>
        </p:nvSpPr>
        <p:spPr>
          <a:xfrm>
            <a:off x="1449324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Person</a:t>
            </a:r>
            <a:endParaRPr lang="en-US" sz="2200" dirty="0"/>
          </a:p>
        </p:txBody>
      </p:sp>
      <p:sp>
        <p:nvSpPr>
          <p:cNvPr id="40" name="Text 30"/>
          <p:cNvSpPr txBox="1"/>
          <p:nvPr/>
        </p:nvSpPr>
        <p:spPr>
          <a:xfrm>
            <a:off x="1376172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41" name="Image 8" descr="/private/tmp/claude-501/-Users-ghanashyamrkp-AI-Apps/d936947f-11c3-48a0-9610-6ecad037576d/scratchpad/deck/ic/audio-deep.png">    </p:cNvPr>
          <p:cNvPicPr>
            <a:picLocks noChangeAspect="1"/>
          </p:cNvPicPr>
          <p:nvPr/>
        </p:nvPicPr>
        <p:blipFill>
          <a:blip r:embed="rId9"/>
          <a:stretch>
            <a:fillRect/>
          </a:stretch>
        </p:blipFill>
        <p:spPr>
          <a:xfrm>
            <a:off x="13761720" y="4498848"/>
            <a:ext cx="566928" cy="566928"/>
          </a:xfrm>
          <a:prstGeom prst="rect">
            <a:avLst/>
          </a:prstGeom>
        </p:spPr>
      </p:pic>
      <p:sp>
        <p:nvSpPr>
          <p:cNvPr id="42" name="Text 31"/>
          <p:cNvSpPr txBox="1"/>
          <p:nvPr/>
        </p:nvSpPr>
        <p:spPr>
          <a:xfrm>
            <a:off x="1449324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 bark</a:t>
            </a:r>
            <a:endParaRPr lang="en-US" sz="2200" dirty="0"/>
          </a:p>
        </p:txBody>
      </p:sp>
      <p:sp>
        <p:nvSpPr>
          <p:cNvPr id="43" name="Shape 32"/>
          <p:cNvSpPr/>
          <p:nvPr/>
        </p:nvSpPr>
        <p:spPr>
          <a:xfrm>
            <a:off x="13761720" y="5349240"/>
            <a:ext cx="3177540" cy="438912"/>
          </a:xfrm>
          <a:prstGeom prst="roundRect">
            <a:avLst>
              <a:gd name="adj" fmla="val 50000"/>
            </a:avLst>
          </a:prstGeom>
          <a:solidFill>
            <a:srgbClr val="B57A0E"/>
          </a:solidFill>
          <a:ln w="12700">
            <a:solidFill>
              <a:srgbClr val="B57A0E"/>
            </a:solidFill>
            <a:prstDash val="solid"/>
          </a:ln>
        </p:spPr>
      </p:sp>
      <p:sp>
        <p:nvSpPr>
          <p:cNvPr id="44" name="Text 33"/>
          <p:cNvSpPr txBox="1"/>
          <p:nvPr/>
        </p:nvSpPr>
        <p:spPr>
          <a:xfrm>
            <a:off x="1376172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Uncertain</a:t>
            </a:r>
            <a:endParaRPr lang="en-US" sz="1400" dirty="0"/>
          </a:p>
        </p:txBody>
      </p:sp>
      <p:sp>
        <p:nvSpPr>
          <p:cNvPr id="45" name="Text 34"/>
          <p:cNvSpPr txBox="1"/>
          <p:nvPr/>
        </p:nvSpPr>
        <p:spPr>
          <a:xfrm>
            <a:off x="1376172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A dog may be off-screen, or the person may be imitating one.</a:t>
            </a:r>
            <a:endParaRPr lang="en-US" sz="1500" dirty="0"/>
          </a:p>
        </p:txBody>
      </p:sp>
      <p:sp>
        <p:nvSpPr>
          <p:cNvPr id="46" name="Shape 35"/>
          <p:cNvSpPr/>
          <p:nvPr/>
        </p:nvSpPr>
        <p:spPr>
          <a:xfrm>
            <a:off x="1028700" y="7132320"/>
            <a:ext cx="16230600" cy="1737360"/>
          </a:xfrm>
          <a:prstGeom prst="roundRect">
            <a:avLst>
              <a:gd name="adj" fmla="val 7368"/>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7" name="Text 36"/>
          <p:cNvSpPr txBox="1"/>
          <p:nvPr/>
        </p:nvSpPr>
        <p:spPr>
          <a:xfrm>
            <a:off x="1485900" y="7388352"/>
            <a:ext cx="5486400" cy="274320"/>
          </a:xfrm>
          <a:prstGeom prst="rect">
            <a:avLst/>
          </a:prstGeom>
          <a:noFill/>
          <a:ln/>
        </p:spPr>
        <p:txBody>
          <a:bodyPr wrap="square" lIns="0" tIns="0" rIns="0" bIns="0" rtlCol="0" anchor="t"/>
          <a:lstStyle/>
          <a:p>
            <a:pPr indent="0" marL="0">
              <a:buNone/>
            </a:pPr>
            <a:r>
              <a:rPr lang="en-US" sz="1150" b="1" spc="150" kern="0" dirty="0">
                <a:solidFill>
                  <a:srgbClr val="FFFFFF"/>
                </a:solidFill>
                <a:latin typeface="Inter 1 Bold" pitchFamily="34" charset="0"/>
                <a:ea typeface="Inter 1 Bold" pitchFamily="34" charset="-122"/>
                <a:cs typeface="Inter 1 Bold" pitchFamily="34" charset="-120"/>
              </a:rPr>
              <a:t>RESEARCH QUESTION</a:t>
            </a:r>
            <a:endParaRPr lang="en-US" sz="1150" dirty="0"/>
          </a:p>
        </p:txBody>
      </p:sp>
      <p:sp>
        <p:nvSpPr>
          <p:cNvPr id="48" name="Text 37"/>
          <p:cNvSpPr txBox="1"/>
          <p:nvPr/>
        </p:nvSpPr>
        <p:spPr>
          <a:xfrm>
            <a:off x="1485900" y="7726680"/>
            <a:ext cx="15316200" cy="91440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Inter 1 Semi-Bold" pitchFamily="34" charset="0"/>
                <a:ea typeface="Inter 1 Semi-Bold" pitchFamily="34" charset="-122"/>
                <a:cs typeface="Inter 1 Semi-Bold" pitchFamily="34" charset="-120"/>
              </a:rPr>
              <a:t>Can synchronised audio and visual embeddings be fused to reliably verify whether the visible event is the source of the observed sound?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Why It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Matters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Wherever video is searched, filtered or used to train models, a wrong pairing of sound and source causes real errors.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03</a:t>
            </a:r>
            <a:endParaRPr lang="en-US" sz="1050" dirty="0"/>
          </a:p>
        </p:txBody>
      </p:sp>
      <p:sp>
        <p:nvSpPr>
          <p:cNvPr id="6" name="Shape 3"/>
          <p:cNvSpPr/>
          <p:nvPr/>
        </p:nvSpPr>
        <p:spPr>
          <a:xfrm>
            <a:off x="1028700" y="2697480"/>
            <a:ext cx="3851910" cy="576072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film-white.png">    </p:cNvPr>
          <p:cNvPicPr>
            <a:picLocks noChangeAspect="1"/>
          </p:cNvPicPr>
          <p:nvPr/>
        </p:nvPicPr>
        <p:blipFill>
          <a:blip r:embed="rId2"/>
          <a:stretch>
            <a:fillRect/>
          </a:stretch>
        </p:blipFill>
        <p:spPr>
          <a:xfrm>
            <a:off x="1495044" y="3163824"/>
            <a:ext cx="310896" cy="310896"/>
          </a:xfrm>
          <a:prstGeom prst="rect">
            <a:avLst/>
          </a:prstGeom>
        </p:spPr>
      </p:pic>
      <p:sp>
        <p:nvSpPr>
          <p:cNvPr id="9" name="Text 5"/>
          <p:cNvSpPr txBox="1"/>
          <p:nvPr/>
        </p:nvSpPr>
        <p:spPr>
          <a:xfrm>
            <a:off x="134874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Video search &amp; tagging</a:t>
            </a:r>
            <a:endParaRPr lang="en-US" sz="2000" dirty="0"/>
          </a:p>
        </p:txBody>
      </p:sp>
      <p:sp>
        <p:nvSpPr>
          <p:cNvPr id="10" name="Text 6"/>
          <p:cNvSpPr txBox="1"/>
          <p:nvPr/>
        </p:nvSpPr>
        <p:spPr>
          <a:xfrm>
            <a:off x="134874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WHAT GOES WRONG</a:t>
            </a:r>
            <a:endParaRPr lang="en-US" sz="1050" dirty="0"/>
          </a:p>
        </p:txBody>
      </p:sp>
      <p:sp>
        <p:nvSpPr>
          <p:cNvPr id="11" name="Text 7"/>
          <p:cNvSpPr txBox="1"/>
          <p:nvPr/>
        </p:nvSpPr>
        <p:spPr>
          <a:xfrm>
            <a:off x="1348740" y="4937760"/>
            <a:ext cx="3211830" cy="1920240"/>
          </a:xfrm>
          <a:prstGeom prst="rect">
            <a:avLst/>
          </a:prstGeom>
          <a:noFill/>
          <a:ln/>
        </p:spPr>
        <p:txBody>
          <a:bodyPr wrap="square" lIns="0" tIns="0" rIns="0" bIns="0" rtlCol="0" anchor="t"/>
          <a:lstStyle/>
          <a:p>
            <a:pPr indent="0" marL="0">
              <a:lnSpc>
                <a:spcPct val="112000"/>
              </a:lnSpc>
              <a:buNone/>
            </a:pPr>
            <a:r>
              <a:rPr lang="en-US" sz="1500" dirty="0">
                <a:solidFill>
                  <a:srgbClr val="202020"/>
                </a:solidFill>
                <a:latin typeface="Inter 1" pitchFamily="34" charset="0"/>
                <a:ea typeface="Inter 1" pitchFamily="34" charset="-122"/>
                <a:cs typeface="Inter 1" pitchFamily="34" charset="-120"/>
              </a:rPr>
              <a:t>A clip is tagged “dog” from its audio, though the dog is never on screen. Searches return the wrong videos.</a:t>
            </a:r>
            <a:endParaRPr lang="en-US" sz="1500" dirty="0"/>
          </a:p>
        </p:txBody>
      </p:sp>
      <p:sp>
        <p:nvSpPr>
          <p:cNvPr id="12" name="Shape 8"/>
          <p:cNvSpPr/>
          <p:nvPr/>
        </p:nvSpPr>
        <p:spPr>
          <a:xfrm>
            <a:off x="1348740" y="6922008"/>
            <a:ext cx="3211830" cy="0"/>
          </a:xfrm>
          <a:prstGeom prst="line">
            <a:avLst/>
          </a:prstGeom>
          <a:noFill/>
          <a:ln w="12700">
            <a:solidFill>
              <a:srgbClr val="D6E0E4"/>
            </a:solidFill>
            <a:prstDash val="solid"/>
          </a:ln>
        </p:spPr>
      </p:sp>
      <p:sp>
        <p:nvSpPr>
          <p:cNvPr id="13" name="Text 9"/>
          <p:cNvSpPr txBox="1"/>
          <p:nvPr/>
        </p:nvSpPr>
        <p:spPr>
          <a:xfrm>
            <a:off x="134874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GIVES</a:t>
            </a:r>
            <a:endParaRPr lang="en-US" sz="1050" dirty="0"/>
          </a:p>
        </p:txBody>
      </p:sp>
      <p:sp>
        <p:nvSpPr>
          <p:cNvPr id="14" name="Text 10"/>
          <p:cNvSpPr txBox="1"/>
          <p:nvPr/>
        </p:nvSpPr>
        <p:spPr>
          <a:xfrm>
            <a:off x="1348740" y="7406640"/>
            <a:ext cx="3211830" cy="914400"/>
          </a:xfrm>
          <a:prstGeom prst="rect">
            <a:avLst/>
          </a:prstGeom>
          <a:noFill/>
          <a:ln/>
        </p:spPr>
        <p:txBody>
          <a:bodyPr wrap="square" lIns="0" tIns="0" rIns="0" bIns="0" rtlCol="0" anchor="t"/>
          <a:lstStyle/>
          <a:p>
            <a:pPr indent="0" marL="0">
              <a:lnSpc>
                <a:spcPct val="110000"/>
              </a:lnSpc>
              <a:buNone/>
            </a:pPr>
            <a:r>
              <a:rPr lang="en-US" sz="1500" b="1" dirty="0">
                <a:solidFill>
                  <a:srgbClr val="0E5C70"/>
                </a:solidFill>
                <a:latin typeface="Inter 1 Semi-Bold" pitchFamily="34" charset="0"/>
                <a:ea typeface="Inter 1 Semi-Bold" pitchFamily="34" charset="-122"/>
                <a:cs typeface="Inter 1 Semi-Bold" pitchFamily="34" charset="-120"/>
              </a:rPr>
              <a:t>A match score checked before a tag is trusted.</a:t>
            </a:r>
            <a:endParaRPr lang="en-US" sz="1500" dirty="0"/>
          </a:p>
        </p:txBody>
      </p:sp>
      <p:sp>
        <p:nvSpPr>
          <p:cNvPr id="15" name="Shape 11"/>
          <p:cNvSpPr/>
          <p:nvPr/>
        </p:nvSpPr>
        <p:spPr>
          <a:xfrm>
            <a:off x="5154930" y="2697480"/>
            <a:ext cx="3851910" cy="5760720"/>
          </a:xfrm>
          <a:prstGeom prst="roundRect">
            <a:avLst>
              <a:gd name="adj" fmla="val 3323"/>
            </a:avLst>
          </a:prstGeom>
          <a:solidFill>
            <a:srgbClr val="EEF1F2"/>
          </a:solidFill>
          <a:ln w="12700">
            <a:solidFill>
              <a:srgbClr val="EEF1F2"/>
            </a:solidFill>
            <a:prstDash val="solid"/>
          </a:ln>
        </p:spPr>
      </p:sp>
      <p:sp>
        <p:nvSpPr>
          <p:cNvPr id="16" name="Shape 12"/>
          <p:cNvSpPr/>
          <p:nvPr/>
        </p:nvSpPr>
        <p:spPr>
          <a:xfrm>
            <a:off x="547497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7" name="Image 2" descr="/private/tmp/claude-501/-Users-ghanashyamrkp-AI-Apps/d936947f-11c3-48a0-9610-6ecad037576d/scratchpad/deck/ic/db-white.png">    </p:cNvPr>
          <p:cNvPicPr>
            <a:picLocks noChangeAspect="1"/>
          </p:cNvPicPr>
          <p:nvPr/>
        </p:nvPicPr>
        <p:blipFill>
          <a:blip r:embed="rId3"/>
          <a:stretch>
            <a:fillRect/>
          </a:stretch>
        </p:blipFill>
        <p:spPr>
          <a:xfrm>
            <a:off x="5621274" y="3163824"/>
            <a:ext cx="310896" cy="310896"/>
          </a:xfrm>
          <a:prstGeom prst="rect">
            <a:avLst/>
          </a:prstGeom>
        </p:spPr>
      </p:pic>
      <p:sp>
        <p:nvSpPr>
          <p:cNvPr id="18" name="Text 13"/>
          <p:cNvSpPr txBox="1"/>
          <p:nvPr/>
        </p:nvSpPr>
        <p:spPr>
          <a:xfrm>
            <a:off x="547497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Training data for AI</a:t>
            </a:r>
            <a:endParaRPr lang="en-US" sz="2000" dirty="0"/>
          </a:p>
        </p:txBody>
      </p:sp>
      <p:sp>
        <p:nvSpPr>
          <p:cNvPr id="19" name="Text 14"/>
          <p:cNvSpPr txBox="1"/>
          <p:nvPr/>
        </p:nvSpPr>
        <p:spPr>
          <a:xfrm>
            <a:off x="547497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WHAT GOES WRONG</a:t>
            </a:r>
            <a:endParaRPr lang="en-US" sz="1050" dirty="0"/>
          </a:p>
        </p:txBody>
      </p:sp>
      <p:sp>
        <p:nvSpPr>
          <p:cNvPr id="20" name="Text 15"/>
          <p:cNvSpPr txBox="1"/>
          <p:nvPr/>
        </p:nvSpPr>
        <p:spPr>
          <a:xfrm>
            <a:off x="5474970" y="4937760"/>
            <a:ext cx="3211830" cy="1920240"/>
          </a:xfrm>
          <a:prstGeom prst="rect">
            <a:avLst/>
          </a:prstGeom>
          <a:noFill/>
          <a:ln/>
        </p:spPr>
        <p:txBody>
          <a:bodyPr wrap="square" lIns="0" tIns="0" rIns="0" bIns="0" rtlCol="0" anchor="t"/>
          <a:lstStyle/>
          <a:p>
            <a:pPr indent="0" marL="0">
              <a:lnSpc>
                <a:spcPct val="112000"/>
              </a:lnSpc>
              <a:buNone/>
            </a:pPr>
            <a:r>
              <a:rPr lang="en-US" sz="1500" dirty="0">
                <a:solidFill>
                  <a:srgbClr val="202020"/>
                </a:solidFill>
                <a:latin typeface="Inter 1" pitchFamily="34" charset="0"/>
                <a:ea typeface="Inter 1" pitchFamily="34" charset="-122"/>
                <a:cs typeface="Inter 1" pitchFamily="34" charset="-120"/>
              </a:rPr>
              <a:t>Clips whose sound source is off-screen teach models the wrong link between sight and sound. AVE’s authors kept only 4,143 of about 10,000 candidate clips.</a:t>
            </a:r>
            <a:endParaRPr lang="en-US" sz="1500" dirty="0"/>
          </a:p>
        </p:txBody>
      </p:sp>
      <p:sp>
        <p:nvSpPr>
          <p:cNvPr id="21" name="Shape 16"/>
          <p:cNvSpPr/>
          <p:nvPr/>
        </p:nvSpPr>
        <p:spPr>
          <a:xfrm>
            <a:off x="5474970" y="6922008"/>
            <a:ext cx="3211830" cy="0"/>
          </a:xfrm>
          <a:prstGeom prst="line">
            <a:avLst/>
          </a:prstGeom>
          <a:noFill/>
          <a:ln w="12700">
            <a:solidFill>
              <a:srgbClr val="D6E0E4"/>
            </a:solidFill>
            <a:prstDash val="solid"/>
          </a:ln>
        </p:spPr>
      </p:sp>
      <p:sp>
        <p:nvSpPr>
          <p:cNvPr id="22" name="Text 17"/>
          <p:cNvSpPr txBox="1"/>
          <p:nvPr/>
        </p:nvSpPr>
        <p:spPr>
          <a:xfrm>
            <a:off x="547497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GIVES</a:t>
            </a:r>
            <a:endParaRPr lang="en-US" sz="1050" dirty="0"/>
          </a:p>
        </p:txBody>
      </p:sp>
      <p:sp>
        <p:nvSpPr>
          <p:cNvPr id="23" name="Text 18"/>
          <p:cNvSpPr txBox="1"/>
          <p:nvPr/>
        </p:nvSpPr>
        <p:spPr>
          <a:xfrm>
            <a:off x="5474970" y="7406640"/>
            <a:ext cx="3211830" cy="914400"/>
          </a:xfrm>
          <a:prstGeom prst="rect">
            <a:avLst/>
          </a:prstGeom>
          <a:noFill/>
          <a:ln/>
        </p:spPr>
        <p:txBody>
          <a:bodyPr wrap="square" lIns="0" tIns="0" rIns="0" bIns="0" rtlCol="0" anchor="t"/>
          <a:lstStyle/>
          <a:p>
            <a:pPr indent="0" marL="0">
              <a:lnSpc>
                <a:spcPct val="110000"/>
              </a:lnSpc>
              <a:buNone/>
            </a:pPr>
            <a:r>
              <a:rPr lang="en-US" sz="1500" b="1" dirty="0">
                <a:solidFill>
                  <a:srgbClr val="0E5C70"/>
                </a:solidFill>
                <a:latin typeface="Inter 1 Semi-Bold" pitchFamily="34" charset="0"/>
                <a:ea typeface="Inter 1 Semi-Bold" pitchFamily="34" charset="-122"/>
                <a:cs typeface="Inter 1 Semi-Bold" pitchFamily="34" charset="-120"/>
              </a:rPr>
              <a:t>Automatic flagging of mismatched clips before training.</a:t>
            </a:r>
            <a:endParaRPr lang="en-US" sz="1500" dirty="0"/>
          </a:p>
        </p:txBody>
      </p:sp>
      <p:sp>
        <p:nvSpPr>
          <p:cNvPr id="24" name="Shape 19"/>
          <p:cNvSpPr/>
          <p:nvPr/>
        </p:nvSpPr>
        <p:spPr>
          <a:xfrm>
            <a:off x="9281160" y="2697480"/>
            <a:ext cx="3851910" cy="5760720"/>
          </a:xfrm>
          <a:prstGeom prst="roundRect">
            <a:avLst>
              <a:gd name="adj" fmla="val 3323"/>
            </a:avLst>
          </a:prstGeom>
          <a:solidFill>
            <a:srgbClr val="EEF1F2"/>
          </a:solidFill>
          <a:ln w="12700">
            <a:solidFill>
              <a:srgbClr val="EEF1F2"/>
            </a:solidFill>
            <a:prstDash val="solid"/>
          </a:ln>
        </p:spPr>
      </p:sp>
      <p:sp>
        <p:nvSpPr>
          <p:cNvPr id="25" name="Shape 20"/>
          <p:cNvSpPr/>
          <p:nvPr/>
        </p:nvSpPr>
        <p:spPr>
          <a:xfrm>
            <a:off x="960120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6" name="Image 3" descr="/private/tmp/claude-501/-Users-ghanashyamrkp-AI-Apps/d936947f-11c3-48a0-9610-6ecad037576d/scratchpad/deck/ic/clock-white.png">    </p:cNvPr>
          <p:cNvPicPr>
            <a:picLocks noChangeAspect="1"/>
          </p:cNvPicPr>
          <p:nvPr/>
        </p:nvPicPr>
        <p:blipFill>
          <a:blip r:embed="rId4"/>
          <a:stretch>
            <a:fillRect/>
          </a:stretch>
        </p:blipFill>
        <p:spPr>
          <a:xfrm>
            <a:off x="9747504" y="3163824"/>
            <a:ext cx="310896" cy="310896"/>
          </a:xfrm>
          <a:prstGeom prst="rect">
            <a:avLst/>
          </a:prstGeom>
        </p:spPr>
      </p:pic>
      <p:sp>
        <p:nvSpPr>
          <p:cNvPr id="27" name="Text 21"/>
          <p:cNvSpPr txBox="1"/>
          <p:nvPr/>
        </p:nvSpPr>
        <p:spPr>
          <a:xfrm>
            <a:off x="960120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Edited &amp; re-dubbed video</a:t>
            </a:r>
            <a:endParaRPr lang="en-US" sz="2000" dirty="0"/>
          </a:p>
        </p:txBody>
      </p:sp>
      <p:sp>
        <p:nvSpPr>
          <p:cNvPr id="28" name="Text 22"/>
          <p:cNvSpPr txBox="1"/>
          <p:nvPr/>
        </p:nvSpPr>
        <p:spPr>
          <a:xfrm>
            <a:off x="960120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WHAT GOES WRONG</a:t>
            </a:r>
            <a:endParaRPr lang="en-US" sz="1050" dirty="0"/>
          </a:p>
        </p:txBody>
      </p:sp>
      <p:sp>
        <p:nvSpPr>
          <p:cNvPr id="29" name="Text 23"/>
          <p:cNvSpPr txBox="1"/>
          <p:nvPr/>
        </p:nvSpPr>
        <p:spPr>
          <a:xfrm>
            <a:off x="9601200" y="4937760"/>
            <a:ext cx="3211830" cy="1920240"/>
          </a:xfrm>
          <a:prstGeom prst="rect">
            <a:avLst/>
          </a:prstGeom>
          <a:noFill/>
          <a:ln/>
        </p:spPr>
        <p:txBody>
          <a:bodyPr wrap="square" lIns="0" tIns="0" rIns="0" bIns="0" rtlCol="0" anchor="t"/>
          <a:lstStyle/>
          <a:p>
            <a:pPr indent="0" marL="0">
              <a:lnSpc>
                <a:spcPct val="112000"/>
              </a:lnSpc>
              <a:buNone/>
            </a:pPr>
            <a:r>
              <a:rPr lang="en-US" sz="1500" dirty="0">
                <a:solidFill>
                  <a:srgbClr val="202020"/>
                </a:solidFill>
                <a:latin typeface="Inter 1" pitchFamily="34" charset="0"/>
                <a:ea typeface="Inter 1" pitchFamily="34" charset="-122"/>
                <a:cs typeface="Inter 1" pitchFamily="34" charset="-120"/>
              </a:rPr>
              <a:t>Audio is replaced or shifted during editing, so what you hear no longer lines up with what you see.</a:t>
            </a:r>
            <a:endParaRPr lang="en-US" sz="1500" dirty="0"/>
          </a:p>
        </p:txBody>
      </p:sp>
      <p:sp>
        <p:nvSpPr>
          <p:cNvPr id="30" name="Shape 24"/>
          <p:cNvSpPr/>
          <p:nvPr/>
        </p:nvSpPr>
        <p:spPr>
          <a:xfrm>
            <a:off x="9601200" y="6922008"/>
            <a:ext cx="3211830" cy="0"/>
          </a:xfrm>
          <a:prstGeom prst="line">
            <a:avLst/>
          </a:prstGeom>
          <a:noFill/>
          <a:ln w="12700">
            <a:solidFill>
              <a:srgbClr val="D6E0E4"/>
            </a:solidFill>
            <a:prstDash val="solid"/>
          </a:ln>
        </p:spPr>
      </p:sp>
      <p:sp>
        <p:nvSpPr>
          <p:cNvPr id="31" name="Text 25"/>
          <p:cNvSpPr txBox="1"/>
          <p:nvPr/>
        </p:nvSpPr>
        <p:spPr>
          <a:xfrm>
            <a:off x="960120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GIVES</a:t>
            </a:r>
            <a:endParaRPr lang="en-US" sz="1050" dirty="0"/>
          </a:p>
        </p:txBody>
      </p:sp>
      <p:sp>
        <p:nvSpPr>
          <p:cNvPr id="32" name="Text 26"/>
          <p:cNvSpPr txBox="1"/>
          <p:nvPr/>
        </p:nvSpPr>
        <p:spPr>
          <a:xfrm>
            <a:off x="9601200" y="7406640"/>
            <a:ext cx="3211830" cy="914400"/>
          </a:xfrm>
          <a:prstGeom prst="rect">
            <a:avLst/>
          </a:prstGeom>
          <a:noFill/>
          <a:ln/>
        </p:spPr>
        <p:txBody>
          <a:bodyPr wrap="square" lIns="0" tIns="0" rIns="0" bIns="0" rtlCol="0" anchor="t"/>
          <a:lstStyle/>
          <a:p>
            <a:pPr indent="0" marL="0">
              <a:lnSpc>
                <a:spcPct val="110000"/>
              </a:lnSpc>
              <a:buNone/>
            </a:pPr>
            <a:r>
              <a:rPr lang="en-US" sz="1500" b="1" dirty="0">
                <a:solidFill>
                  <a:srgbClr val="0E5C70"/>
                </a:solidFill>
                <a:latin typeface="Inter 1 Semi-Bold" pitchFamily="34" charset="0"/>
                <a:ea typeface="Inter 1 Semi-Bold" pitchFamily="34" charset="-122"/>
                <a:cs typeface="Inter 1 Semi-Bold" pitchFamily="34" charset="-120"/>
              </a:rPr>
              <a:t>Per-second evidence that shows where audio and video stop agreeing.</a:t>
            </a:r>
            <a:endParaRPr lang="en-US" sz="1500" dirty="0"/>
          </a:p>
        </p:txBody>
      </p:sp>
      <p:sp>
        <p:nvSpPr>
          <p:cNvPr id="33" name="Shape 27"/>
          <p:cNvSpPr/>
          <p:nvPr/>
        </p:nvSpPr>
        <p:spPr>
          <a:xfrm>
            <a:off x="13407390" y="2697480"/>
            <a:ext cx="3851910" cy="5760720"/>
          </a:xfrm>
          <a:prstGeom prst="roundRect">
            <a:avLst>
              <a:gd name="adj" fmla="val 3323"/>
            </a:avLst>
          </a:prstGeom>
          <a:solidFill>
            <a:srgbClr val="EEF1F2"/>
          </a:solidFill>
          <a:ln w="12700">
            <a:solidFill>
              <a:srgbClr val="EEF1F2"/>
            </a:solidFill>
            <a:prstDash val="solid"/>
          </a:ln>
        </p:spPr>
      </p:sp>
      <p:sp>
        <p:nvSpPr>
          <p:cNvPr id="34" name="Shape 28"/>
          <p:cNvSpPr/>
          <p:nvPr/>
        </p:nvSpPr>
        <p:spPr>
          <a:xfrm>
            <a:off x="1372743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35" name="Image 4" descr="/private/tmp/claude-501/-Users-ghanashyamrkp-AI-Apps/d936947f-11c3-48a0-9610-6ecad037576d/scratchpad/deck/ic/bolt-white.png">    </p:cNvPr>
          <p:cNvPicPr>
            <a:picLocks noChangeAspect="1"/>
          </p:cNvPicPr>
          <p:nvPr/>
        </p:nvPicPr>
        <p:blipFill>
          <a:blip r:embed="rId5"/>
          <a:stretch>
            <a:fillRect/>
          </a:stretch>
        </p:blipFill>
        <p:spPr>
          <a:xfrm>
            <a:off x="13873734" y="3163824"/>
            <a:ext cx="310896" cy="310896"/>
          </a:xfrm>
          <a:prstGeom prst="rect">
            <a:avLst/>
          </a:prstGeom>
        </p:spPr>
      </p:pic>
      <p:sp>
        <p:nvSpPr>
          <p:cNvPr id="36" name="Text 29"/>
          <p:cNvSpPr txBox="1"/>
          <p:nvPr/>
        </p:nvSpPr>
        <p:spPr>
          <a:xfrm>
            <a:off x="1372743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Captions &amp; alerts</a:t>
            </a:r>
            <a:endParaRPr lang="en-US" sz="2000" dirty="0"/>
          </a:p>
        </p:txBody>
      </p:sp>
      <p:sp>
        <p:nvSpPr>
          <p:cNvPr id="37" name="Text 30"/>
          <p:cNvSpPr txBox="1"/>
          <p:nvPr/>
        </p:nvSpPr>
        <p:spPr>
          <a:xfrm>
            <a:off x="1372743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WHAT GOES WRONG</a:t>
            </a:r>
            <a:endParaRPr lang="en-US" sz="1050" dirty="0"/>
          </a:p>
        </p:txBody>
      </p:sp>
      <p:sp>
        <p:nvSpPr>
          <p:cNvPr id="38" name="Text 31"/>
          <p:cNvSpPr txBox="1"/>
          <p:nvPr/>
        </p:nvSpPr>
        <p:spPr>
          <a:xfrm>
            <a:off x="13727430" y="4937760"/>
            <a:ext cx="3211830" cy="1920240"/>
          </a:xfrm>
          <a:prstGeom prst="rect">
            <a:avLst/>
          </a:prstGeom>
          <a:noFill/>
          <a:ln/>
        </p:spPr>
        <p:txBody>
          <a:bodyPr wrap="square" lIns="0" tIns="0" rIns="0" bIns="0" rtlCol="0" anchor="t"/>
          <a:lstStyle/>
          <a:p>
            <a:pPr indent="0" marL="0">
              <a:lnSpc>
                <a:spcPct val="112000"/>
              </a:lnSpc>
              <a:buNone/>
            </a:pPr>
            <a:r>
              <a:rPr lang="en-US" sz="1500" dirty="0">
                <a:solidFill>
                  <a:srgbClr val="202020"/>
                </a:solidFill>
                <a:latin typeface="Inter 1" pitchFamily="34" charset="0"/>
                <a:ea typeface="Inter 1" pitchFamily="34" charset="-122"/>
                <a:cs typeface="Inter 1" pitchFamily="34" charset="-120"/>
              </a:rPr>
              <a:t>An auto-caption or an alarm credits the sound to the visible person or object, with full confidence.</a:t>
            </a:r>
            <a:endParaRPr lang="en-US" sz="1500" dirty="0"/>
          </a:p>
        </p:txBody>
      </p:sp>
      <p:sp>
        <p:nvSpPr>
          <p:cNvPr id="39" name="Shape 32"/>
          <p:cNvSpPr/>
          <p:nvPr/>
        </p:nvSpPr>
        <p:spPr>
          <a:xfrm>
            <a:off x="13727430" y="6922008"/>
            <a:ext cx="3211830" cy="0"/>
          </a:xfrm>
          <a:prstGeom prst="line">
            <a:avLst/>
          </a:prstGeom>
          <a:noFill/>
          <a:ln w="12700">
            <a:solidFill>
              <a:srgbClr val="D6E0E4"/>
            </a:solidFill>
            <a:prstDash val="solid"/>
          </a:ln>
        </p:spPr>
      </p:sp>
      <p:sp>
        <p:nvSpPr>
          <p:cNvPr id="40" name="Text 33"/>
          <p:cNvSpPr txBox="1"/>
          <p:nvPr/>
        </p:nvSpPr>
        <p:spPr>
          <a:xfrm>
            <a:off x="1372743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GIVES</a:t>
            </a:r>
            <a:endParaRPr lang="en-US" sz="1050" dirty="0"/>
          </a:p>
        </p:txBody>
      </p:sp>
      <p:sp>
        <p:nvSpPr>
          <p:cNvPr id="41" name="Text 34"/>
          <p:cNvSpPr txBox="1"/>
          <p:nvPr/>
        </p:nvSpPr>
        <p:spPr>
          <a:xfrm>
            <a:off x="13727430" y="7406640"/>
            <a:ext cx="3211830" cy="914400"/>
          </a:xfrm>
          <a:prstGeom prst="rect">
            <a:avLst/>
          </a:prstGeom>
          <a:noFill/>
          <a:ln/>
        </p:spPr>
        <p:txBody>
          <a:bodyPr wrap="square" lIns="0" tIns="0" rIns="0" bIns="0" rtlCol="0" anchor="t"/>
          <a:lstStyle/>
          <a:p>
            <a:pPr indent="0" marL="0">
              <a:lnSpc>
                <a:spcPct val="110000"/>
              </a:lnSpc>
              <a:buNone/>
            </a:pPr>
            <a:r>
              <a:rPr lang="en-US" sz="1500" b="1" dirty="0">
                <a:solidFill>
                  <a:srgbClr val="0E5C70"/>
                </a:solidFill>
                <a:latin typeface="Inter 1 Semi-Bold" pitchFamily="34" charset="0"/>
                <a:ea typeface="Inter 1 Semi-Bold" pitchFamily="34" charset="-122"/>
                <a:cs typeface="Inter 1 Semi-Bold" pitchFamily="34" charset="-120"/>
              </a:rPr>
              <a:t>An “uncertain” result in place of a confident wrong answer.</a:t>
            </a:r>
            <a:endParaRPr lang="en-US" sz="1500" dirty="0"/>
          </a:p>
        </p:txBody>
      </p:sp>
      <p:sp>
        <p:nvSpPr>
          <p:cNvPr id="42" name="Shape 35"/>
          <p:cNvSpPr/>
          <p:nvPr/>
        </p:nvSpPr>
        <p:spPr>
          <a:xfrm>
            <a:off x="1028700" y="8686800"/>
            <a:ext cx="16230600" cy="685800"/>
          </a:xfrm>
          <a:prstGeom prst="roundRect">
            <a:avLst>
              <a:gd name="adj" fmla="val 18667"/>
            </a:avLst>
          </a:prstGeom>
          <a:solidFill>
            <a:srgbClr val="E3F4F6"/>
          </a:solidFill>
          <a:ln w="12700">
            <a:solidFill>
              <a:srgbClr val="E3F4F6"/>
            </a:solidFill>
            <a:prstDash val="solid"/>
          </a:ln>
        </p:spPr>
      </p:sp>
      <p:sp>
        <p:nvSpPr>
          <p:cNvPr id="43" name="Text 36"/>
          <p:cNvSpPr txBox="1"/>
          <p:nvPr/>
        </p:nvSpPr>
        <p:spPr>
          <a:xfrm>
            <a:off x="1440180" y="8686800"/>
            <a:ext cx="15407640" cy="685800"/>
          </a:xfrm>
          <a:prstGeom prst="rect">
            <a:avLst/>
          </a:prstGeom>
          <a:noFill/>
          <a:ln/>
        </p:spPr>
        <p:txBody>
          <a:bodyPr wrap="square" lIns="0" tIns="0" rIns="0" bIns="0" rtlCol="0" anchor="ctr"/>
          <a:lstStyle/>
          <a:p>
            <a:pPr indent="0" marL="0">
              <a:buNone/>
            </a:pPr>
            <a:r>
              <a:rPr lang="en-US" sz="1600" b="1" dirty="0">
                <a:solidFill>
                  <a:srgbClr val="0E5C70"/>
                </a:solidFill>
                <a:latin typeface="Inter 1 Bold" pitchFamily="34" charset="0"/>
                <a:ea typeface="Inter 1 Bold" pitchFamily="34" charset="-122"/>
                <a:cs typeface="Inter 1 Bold" pitchFamily="34" charset="-120"/>
              </a:rPr>
              <a:t>One question behind all four:  </a:t>
            </a:r>
            <a:pPr indent="0" marL="0">
              <a:buNone/>
            </a:pPr>
            <a:r>
              <a:rPr lang="en-US" sz="1600" dirty="0">
                <a:solidFill>
                  <a:srgbClr val="202020"/>
                </a:solidFill>
                <a:latin typeface="Inter 1" pitchFamily="34" charset="0"/>
                <a:ea typeface="Inter 1" pitchFamily="34" charset="-122"/>
                <a:cs typeface="Inter 1" pitchFamily="34" charset="-120"/>
              </a:rPr>
              <a:t>is the thing on screen the source of the sound, and how sure are we?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Project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Objectives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Five things the system must do, in the order the data flows through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04</a:t>
            </a:r>
            <a:endParaRPr lang="en-US" sz="1050" dirty="0"/>
          </a:p>
        </p:txBody>
      </p:sp>
      <p:sp>
        <p:nvSpPr>
          <p:cNvPr id="6" name="Shape 3"/>
          <p:cNvSpPr/>
          <p:nvPr/>
        </p:nvSpPr>
        <p:spPr>
          <a:xfrm>
            <a:off x="1028700" y="2697480"/>
            <a:ext cx="3026664" cy="4572000"/>
          </a:xfrm>
          <a:prstGeom prst="roundRect">
            <a:avLst>
              <a:gd name="adj" fmla="val 4230"/>
            </a:avLst>
          </a:prstGeom>
          <a:solidFill>
            <a:srgbClr val="EEF1F2"/>
          </a:solidFill>
          <a:ln w="12700">
            <a:solidFill>
              <a:srgbClr val="EEF1F2"/>
            </a:solidFill>
            <a:prstDash val="solid"/>
          </a:ln>
        </p:spPr>
      </p:sp>
      <p:sp>
        <p:nvSpPr>
          <p:cNvPr id="7" name="Text 4"/>
          <p:cNvSpPr txBox="1"/>
          <p:nvPr/>
        </p:nvSpPr>
        <p:spPr>
          <a:xfrm>
            <a:off x="1303020"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03020"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Extract &amp; align</a:t>
            </a:r>
            <a:endParaRPr lang="en-US" sz="2400" dirty="0"/>
          </a:p>
        </p:txBody>
      </p:sp>
      <p:sp>
        <p:nvSpPr>
          <p:cNvPr id="9" name="Text 6"/>
          <p:cNvSpPr txBox="1"/>
          <p:nvPr/>
        </p:nvSpPr>
        <p:spPr>
          <a:xfrm>
            <a:off x="1303020"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Pull synchronised audio and video frames from each clip and align them at about one-second resolution.</a:t>
            </a:r>
            <a:endParaRPr lang="en-US" sz="1800" dirty="0"/>
          </a:p>
        </p:txBody>
      </p:sp>
      <p:sp>
        <p:nvSpPr>
          <p:cNvPr id="10" name="Shape 7"/>
          <p:cNvSpPr/>
          <p:nvPr/>
        </p:nvSpPr>
        <p:spPr>
          <a:xfrm>
            <a:off x="4091940" y="4983480"/>
            <a:ext cx="201168" cy="0"/>
          </a:xfrm>
          <a:prstGeom prst="line">
            <a:avLst/>
          </a:prstGeom>
          <a:noFill/>
          <a:ln w="25400">
            <a:solidFill>
              <a:srgbClr val="0097B2"/>
            </a:solidFill>
            <a:prstDash val="solid"/>
            <a:tailEnd type="triangle"/>
          </a:ln>
        </p:spPr>
      </p:sp>
      <p:sp>
        <p:nvSpPr>
          <p:cNvPr id="11" name="Shape 8"/>
          <p:cNvSpPr/>
          <p:nvPr/>
        </p:nvSpPr>
        <p:spPr>
          <a:xfrm>
            <a:off x="4329684" y="2697480"/>
            <a:ext cx="3026664" cy="4572000"/>
          </a:xfrm>
          <a:prstGeom prst="roundRect">
            <a:avLst>
              <a:gd name="adj" fmla="val 4230"/>
            </a:avLst>
          </a:prstGeom>
          <a:solidFill>
            <a:srgbClr val="EEF1F2"/>
          </a:solidFill>
          <a:ln w="12700">
            <a:solidFill>
              <a:srgbClr val="EEF1F2"/>
            </a:solidFill>
            <a:prstDash val="solid"/>
          </a:ln>
        </p:spPr>
      </p:sp>
      <p:sp>
        <p:nvSpPr>
          <p:cNvPr id="12" name="Text 9"/>
          <p:cNvSpPr txBox="1"/>
          <p:nvPr/>
        </p:nvSpPr>
        <p:spPr>
          <a:xfrm>
            <a:off x="4604004"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3" name="Text 10"/>
          <p:cNvSpPr txBox="1"/>
          <p:nvPr/>
        </p:nvSpPr>
        <p:spPr>
          <a:xfrm>
            <a:off x="4604004"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Represent</a:t>
            </a:r>
            <a:endParaRPr lang="en-US" sz="2400" dirty="0"/>
          </a:p>
        </p:txBody>
      </p:sp>
      <p:sp>
        <p:nvSpPr>
          <p:cNvPr id="14" name="Text 11"/>
          <p:cNvSpPr txBox="1"/>
          <p:nvPr/>
        </p:nvSpPr>
        <p:spPr>
          <a:xfrm>
            <a:off x="4604004"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Encode each modality into embeddings, starting from lightweight baselines and moving to pretrained encoders.</a:t>
            </a:r>
            <a:endParaRPr lang="en-US" sz="1800" dirty="0"/>
          </a:p>
        </p:txBody>
      </p:sp>
      <p:sp>
        <p:nvSpPr>
          <p:cNvPr id="15" name="Shape 12"/>
          <p:cNvSpPr/>
          <p:nvPr/>
        </p:nvSpPr>
        <p:spPr>
          <a:xfrm>
            <a:off x="7392924" y="4983480"/>
            <a:ext cx="201168" cy="0"/>
          </a:xfrm>
          <a:prstGeom prst="line">
            <a:avLst/>
          </a:prstGeom>
          <a:noFill/>
          <a:ln w="25400">
            <a:solidFill>
              <a:srgbClr val="0097B2"/>
            </a:solidFill>
            <a:prstDash val="solid"/>
            <a:tailEnd type="triangle"/>
          </a:ln>
        </p:spPr>
      </p:sp>
      <p:sp>
        <p:nvSpPr>
          <p:cNvPr id="16" name="Shape 13"/>
          <p:cNvSpPr/>
          <p:nvPr/>
        </p:nvSpPr>
        <p:spPr>
          <a:xfrm>
            <a:off x="7630668" y="2697480"/>
            <a:ext cx="3026664" cy="4572000"/>
          </a:xfrm>
          <a:prstGeom prst="roundRect">
            <a:avLst>
              <a:gd name="adj" fmla="val 4230"/>
            </a:avLst>
          </a:prstGeom>
          <a:solidFill>
            <a:srgbClr val="EEF1F2"/>
          </a:solidFill>
          <a:ln w="12700">
            <a:solidFill>
              <a:srgbClr val="EEF1F2"/>
            </a:solidFill>
            <a:prstDash val="solid"/>
          </a:ln>
        </p:spPr>
      </p:sp>
      <p:sp>
        <p:nvSpPr>
          <p:cNvPr id="17" name="Text 14"/>
          <p:cNvSpPr txBox="1"/>
          <p:nvPr/>
        </p:nvSpPr>
        <p:spPr>
          <a:xfrm>
            <a:off x="7904988"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18" name="Text 15"/>
          <p:cNvSpPr txBox="1"/>
          <p:nvPr/>
        </p:nvSpPr>
        <p:spPr>
          <a:xfrm>
            <a:off x="7904988"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Recognise</a:t>
            </a:r>
            <a:endParaRPr lang="en-US" sz="2400" dirty="0"/>
          </a:p>
        </p:txBody>
      </p:sp>
      <p:sp>
        <p:nvSpPr>
          <p:cNvPr id="19" name="Text 16"/>
          <p:cNvSpPr txBox="1"/>
          <p:nvPr/>
        </p:nvSpPr>
        <p:spPr>
          <a:xfrm>
            <a:off x="7904988"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Predict the event class, and whether the event is both audible and visible in each second.</a:t>
            </a:r>
            <a:endParaRPr lang="en-US" sz="1800" dirty="0"/>
          </a:p>
        </p:txBody>
      </p:sp>
      <p:sp>
        <p:nvSpPr>
          <p:cNvPr id="20" name="Shape 17"/>
          <p:cNvSpPr/>
          <p:nvPr/>
        </p:nvSpPr>
        <p:spPr>
          <a:xfrm>
            <a:off x="10693908" y="4983480"/>
            <a:ext cx="201168" cy="0"/>
          </a:xfrm>
          <a:prstGeom prst="line">
            <a:avLst/>
          </a:prstGeom>
          <a:noFill/>
          <a:ln w="25400">
            <a:solidFill>
              <a:srgbClr val="0097B2"/>
            </a:solidFill>
            <a:prstDash val="solid"/>
            <a:tailEnd type="triangle"/>
          </a:ln>
        </p:spPr>
      </p:sp>
      <p:sp>
        <p:nvSpPr>
          <p:cNvPr id="21" name="Shape 18"/>
          <p:cNvSpPr/>
          <p:nvPr/>
        </p:nvSpPr>
        <p:spPr>
          <a:xfrm>
            <a:off x="10931652" y="2697480"/>
            <a:ext cx="3026664" cy="4572000"/>
          </a:xfrm>
          <a:prstGeom prst="roundRect">
            <a:avLst>
              <a:gd name="adj" fmla="val 4230"/>
            </a:avLst>
          </a:prstGeom>
          <a:solidFill>
            <a:srgbClr val="EEF1F2"/>
          </a:solidFill>
          <a:ln w="12700">
            <a:solidFill>
              <a:srgbClr val="EEF1F2"/>
            </a:solidFill>
            <a:prstDash val="solid"/>
          </a:ln>
        </p:spPr>
      </p:sp>
      <p:sp>
        <p:nvSpPr>
          <p:cNvPr id="22" name="Text 19"/>
          <p:cNvSpPr txBox="1"/>
          <p:nvPr/>
        </p:nvSpPr>
        <p:spPr>
          <a:xfrm>
            <a:off x="11205972"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400" dirty="0"/>
          </a:p>
        </p:txBody>
      </p:sp>
      <p:sp>
        <p:nvSpPr>
          <p:cNvPr id="23" name="Text 20"/>
          <p:cNvSpPr txBox="1"/>
          <p:nvPr/>
        </p:nvSpPr>
        <p:spPr>
          <a:xfrm>
            <a:off x="11205972"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Verify</a:t>
            </a:r>
            <a:endParaRPr lang="en-US" sz="2400" dirty="0"/>
          </a:p>
        </p:txBody>
      </p:sp>
      <p:sp>
        <p:nvSpPr>
          <p:cNvPr id="24" name="Text 21"/>
          <p:cNvSpPr txBox="1"/>
          <p:nvPr/>
        </p:nvSpPr>
        <p:spPr>
          <a:xfrm>
            <a:off x="11205972"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Learn a correspondence score that decides match or mismatch between what is seen and what is heard.</a:t>
            </a:r>
            <a:endParaRPr lang="en-US" sz="1800" dirty="0"/>
          </a:p>
        </p:txBody>
      </p:sp>
      <p:sp>
        <p:nvSpPr>
          <p:cNvPr id="25" name="Shape 22"/>
          <p:cNvSpPr/>
          <p:nvPr/>
        </p:nvSpPr>
        <p:spPr>
          <a:xfrm>
            <a:off x="13994892" y="4983480"/>
            <a:ext cx="201168" cy="0"/>
          </a:xfrm>
          <a:prstGeom prst="line">
            <a:avLst/>
          </a:prstGeom>
          <a:noFill/>
          <a:ln w="25400">
            <a:solidFill>
              <a:srgbClr val="0097B2"/>
            </a:solidFill>
            <a:prstDash val="solid"/>
            <a:tailEnd type="triangle"/>
          </a:ln>
        </p:spPr>
      </p:sp>
      <p:sp>
        <p:nvSpPr>
          <p:cNvPr id="26" name="Shape 23"/>
          <p:cNvSpPr/>
          <p:nvPr/>
        </p:nvSpPr>
        <p:spPr>
          <a:xfrm>
            <a:off x="14232636" y="2697480"/>
            <a:ext cx="3026664" cy="4572000"/>
          </a:xfrm>
          <a:prstGeom prst="roundRect">
            <a:avLst>
              <a:gd name="adj" fmla="val 4230"/>
            </a:avLst>
          </a:prstGeom>
          <a:solidFill>
            <a:srgbClr val="EEF1F2"/>
          </a:solidFill>
          <a:ln w="12700">
            <a:solidFill>
              <a:srgbClr val="EEF1F2"/>
            </a:solidFill>
            <a:prstDash val="solid"/>
          </a:ln>
        </p:spPr>
      </p:sp>
      <p:sp>
        <p:nvSpPr>
          <p:cNvPr id="27" name="Text 24"/>
          <p:cNvSpPr txBox="1"/>
          <p:nvPr/>
        </p:nvSpPr>
        <p:spPr>
          <a:xfrm>
            <a:off x="14506956"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400" dirty="0"/>
          </a:p>
        </p:txBody>
      </p:sp>
      <p:sp>
        <p:nvSpPr>
          <p:cNvPr id="28" name="Text 25"/>
          <p:cNvSpPr txBox="1"/>
          <p:nvPr/>
        </p:nvSpPr>
        <p:spPr>
          <a:xfrm>
            <a:off x="14506956"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Present</a:t>
            </a:r>
            <a:endParaRPr lang="en-US" sz="2400" dirty="0"/>
          </a:p>
        </p:txBody>
      </p:sp>
      <p:sp>
        <p:nvSpPr>
          <p:cNvPr id="29" name="Text 26"/>
          <p:cNvSpPr txBox="1"/>
          <p:nvPr/>
        </p:nvSpPr>
        <p:spPr>
          <a:xfrm>
            <a:off x="14506956"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Show the event, the confidence, the per-second evidence and the final decision in a simple interface.</a:t>
            </a:r>
            <a:endParaRPr lang="en-US" sz="1800" dirty="0"/>
          </a:p>
        </p:txBody>
      </p:sp>
      <p:sp>
        <p:nvSpPr>
          <p:cNvPr id="30" name="Shape 27"/>
          <p:cNvSpPr/>
          <p:nvPr/>
        </p:nvSpPr>
        <p:spPr>
          <a:xfrm>
            <a:off x="1028700" y="7635240"/>
            <a:ext cx="16230600" cy="1234440"/>
          </a:xfrm>
          <a:prstGeom prst="roundRect">
            <a:avLst>
              <a:gd name="adj" fmla="val 10370"/>
            </a:avLst>
          </a:prstGeom>
          <a:solidFill>
            <a:srgbClr val="E3F4F6"/>
          </a:solidFill>
          <a:ln w="12700">
            <a:solidFill>
              <a:srgbClr val="E3F4F6"/>
            </a:solidFill>
            <a:prstDash val="solid"/>
          </a:ln>
        </p:spPr>
      </p:sp>
      <p:pic>
        <p:nvPicPr>
          <p:cNvPr id="31" name="Image 1" descr="/private/tmp/claude-501/-Users-ghanashyamrkp-AI-Apps/d936947f-11c3-48a0-9610-6ecad037576d/scratchpad/deck/ic/target-teal.png">    </p:cNvPr>
          <p:cNvPicPr>
            <a:picLocks noChangeAspect="1"/>
          </p:cNvPicPr>
          <p:nvPr/>
        </p:nvPicPr>
        <p:blipFill>
          <a:blip r:embed="rId2"/>
          <a:stretch>
            <a:fillRect/>
          </a:stretch>
        </p:blipFill>
        <p:spPr>
          <a:xfrm>
            <a:off x="1440180" y="7955280"/>
            <a:ext cx="566928" cy="566928"/>
          </a:xfrm>
          <a:prstGeom prst="rect">
            <a:avLst/>
          </a:prstGeom>
        </p:spPr>
      </p:pic>
      <p:sp>
        <p:nvSpPr>
          <p:cNvPr id="32" name="Text 28"/>
          <p:cNvSpPr txBox="1"/>
          <p:nvPr/>
        </p:nvSpPr>
        <p:spPr>
          <a:xfrm>
            <a:off x="2263140" y="7772400"/>
            <a:ext cx="14584680" cy="960120"/>
          </a:xfrm>
          <a:prstGeom prst="rect">
            <a:avLst/>
          </a:prstGeom>
          <a:noFill/>
          <a:ln/>
        </p:spPr>
        <p:txBody>
          <a:bodyPr wrap="square" lIns="0" tIns="0" rIns="0" bIns="0" rtlCol="0" anchor="ctr"/>
          <a:lstStyle/>
          <a:p>
            <a:pPr indent="0" marL="0">
              <a:lnSpc>
                <a:spcPct val="110000"/>
              </a:lnSpc>
              <a:buNone/>
            </a:pPr>
            <a:r>
              <a:rPr lang="en-US" sz="1700" b="1" dirty="0">
                <a:solidFill>
                  <a:srgbClr val="0E5C70"/>
                </a:solidFill>
                <a:latin typeface="Inter 1 Bold" pitchFamily="34" charset="0"/>
                <a:ea typeface="Inter 1 Bold" pitchFamily="34" charset="-122"/>
                <a:cs typeface="Inter 1 Bold" pitchFamily="34" charset="-120"/>
              </a:rPr>
              <a:t>Success looks like:  </a:t>
            </a:r>
            <a:pPr indent="0" marL="0">
              <a:lnSpc>
                <a:spcPct val="110000"/>
              </a:lnSpc>
              <a:buNone/>
            </a:pPr>
            <a:r>
              <a:rPr lang="en-US" sz="1700" dirty="0">
                <a:solidFill>
                  <a:srgbClr val="202020"/>
                </a:solidFill>
                <a:latin typeface="Inter 1" pitchFamily="34" charset="0"/>
                <a:ea typeface="Inter 1" pitchFamily="34" charset="-122"/>
                <a:cs typeface="Inter 1" pitchFamily="34" charset="-120"/>
              </a:rPr>
              <a:t>the fused model separates matched from mismatched clips better than two independent classifiers whose labels are simply compared, including on hard, similar-sounding mismatches.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Project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Scope</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An offline MVP first. Extensions only once it is stable.</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05</a:t>
            </a:r>
            <a:endParaRPr lang="en-US" sz="1050" dirty="0"/>
          </a:p>
        </p:txBody>
      </p:sp>
      <p:sp>
        <p:nvSpPr>
          <p:cNvPr id="6" name="Shape 3"/>
          <p:cNvSpPr/>
          <p:nvPr/>
        </p:nvSpPr>
        <p:spPr>
          <a:xfrm>
            <a:off x="1028700" y="2697480"/>
            <a:ext cx="5196840" cy="6629400"/>
          </a:xfrm>
          <a:prstGeom prst="roundRect">
            <a:avLst>
              <a:gd name="adj" fmla="val 2463"/>
            </a:avLst>
          </a:prstGeom>
          <a:solidFill>
            <a:srgbClr val="EEF1F2"/>
          </a:solidFill>
          <a:ln w="12700">
            <a:solidFill>
              <a:srgbClr val="EEF1F2"/>
            </a:solidFill>
            <a:prstDash val="solid"/>
          </a:ln>
        </p:spPr>
      </p:sp>
      <p:sp>
        <p:nvSpPr>
          <p:cNvPr id="7" name="Shape 4"/>
          <p:cNvSpPr/>
          <p:nvPr/>
        </p:nvSpPr>
        <p:spPr>
          <a:xfrm>
            <a:off x="1348740" y="3017520"/>
            <a:ext cx="455676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MVP  ·  COMMITTED</a:t>
            </a:r>
            <a:endParaRPr lang="en-US" sz="1300" dirty="0"/>
          </a:p>
        </p:txBody>
      </p:sp>
      <p:pic>
        <p:nvPicPr>
          <p:cNvPr id="9" name="Image 1" descr="/private/tmp/claude-501/-Users-ghanashyamrkp-AI-Apps/d936947f-11c3-48a0-9610-6ecad037576d/scratchpad/deck/ic/check-teal.png">    </p:cNvPr>
          <p:cNvPicPr>
            <a:picLocks noChangeAspect="1"/>
          </p:cNvPicPr>
          <p:nvPr/>
        </p:nvPicPr>
        <p:blipFill>
          <a:blip r:embed="rId2"/>
          <a:stretch>
            <a:fillRect/>
          </a:stretch>
        </p:blipFill>
        <p:spPr>
          <a:xfrm>
            <a:off x="1394460" y="3867912"/>
            <a:ext cx="292608" cy="292608"/>
          </a:xfrm>
          <a:prstGeom prst="rect">
            <a:avLst/>
          </a:prstGeom>
        </p:spPr>
      </p:pic>
      <p:sp>
        <p:nvSpPr>
          <p:cNvPr id="10" name="Text 6"/>
          <p:cNvSpPr txBox="1"/>
          <p:nvPr/>
        </p:nvSpPr>
        <p:spPr>
          <a:xfrm>
            <a:off x="185166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Offline 10-second clips from the AVE dataset</a:t>
            </a:r>
            <a:endParaRPr lang="en-US" sz="1800" dirty="0"/>
          </a:p>
        </p:txBody>
      </p:sp>
      <p:pic>
        <p:nvPicPr>
          <p:cNvPr id="11" name="Image 2" descr="/private/tmp/claude-501/-Users-ghanashyamrkp-AI-Apps/d936947f-11c3-48a0-9610-6ecad037576d/scratchpad/deck/ic/check-teal.png">    </p:cNvPr>
          <p:cNvPicPr>
            <a:picLocks noChangeAspect="1"/>
          </p:cNvPicPr>
          <p:nvPr/>
        </p:nvPicPr>
        <p:blipFill>
          <a:blip r:embed="rId3"/>
          <a:stretch>
            <a:fillRect/>
          </a:stretch>
        </p:blipFill>
        <p:spPr>
          <a:xfrm>
            <a:off x="1394460" y="4910328"/>
            <a:ext cx="292608" cy="292608"/>
          </a:xfrm>
          <a:prstGeom prst="rect">
            <a:avLst/>
          </a:prstGeom>
        </p:spPr>
      </p:pic>
      <p:sp>
        <p:nvSpPr>
          <p:cNvPr id="12" name="Text 7"/>
          <p:cNvSpPr txBox="1"/>
          <p:nvPr/>
        </p:nvSpPr>
        <p:spPr>
          <a:xfrm>
            <a:off x="185166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28 event categories with per-second labels</a:t>
            </a:r>
            <a:endParaRPr lang="en-US" sz="1800" dirty="0"/>
          </a:p>
        </p:txBody>
      </p:sp>
      <p:pic>
        <p:nvPicPr>
          <p:cNvPr id="13" name="Image 3" descr="/private/tmp/claude-501/-Users-ghanashyamrkp-AI-Apps/d936947f-11c3-48a0-9610-6ecad037576d/scratchpad/deck/ic/check-teal.png">    </p:cNvPr>
          <p:cNvPicPr>
            <a:picLocks noChangeAspect="1"/>
          </p:cNvPicPr>
          <p:nvPr/>
        </p:nvPicPr>
        <p:blipFill>
          <a:blip r:embed="rId4"/>
          <a:stretch>
            <a:fillRect/>
          </a:stretch>
        </p:blipFill>
        <p:spPr>
          <a:xfrm>
            <a:off x="1394460" y="5952744"/>
            <a:ext cx="292608" cy="292608"/>
          </a:xfrm>
          <a:prstGeom prst="rect">
            <a:avLst/>
          </a:prstGeom>
        </p:spPr>
      </p:pic>
      <p:sp>
        <p:nvSpPr>
          <p:cNvPr id="14" name="Text 8"/>
          <p:cNvSpPr txBox="1"/>
          <p:nvPr/>
        </p:nvSpPr>
        <p:spPr>
          <a:xfrm>
            <a:off x="185166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Audio branch, visual branch, fusion and three prediction heads</a:t>
            </a:r>
            <a:endParaRPr lang="en-US" sz="1800" dirty="0"/>
          </a:p>
        </p:txBody>
      </p:sp>
      <p:pic>
        <p:nvPicPr>
          <p:cNvPr id="15" name="Image 4" descr="/private/tmp/claude-501/-Users-ghanashyamrkp-AI-Apps/d936947f-11c3-48a0-9610-6ecad037576d/scratchpad/deck/ic/check-teal.png">    </p:cNvPr>
          <p:cNvPicPr>
            <a:picLocks noChangeAspect="1"/>
          </p:cNvPicPr>
          <p:nvPr/>
        </p:nvPicPr>
        <p:blipFill>
          <a:blip r:embed="rId5"/>
          <a:stretch>
            <a:fillRect/>
          </a:stretch>
        </p:blipFill>
        <p:spPr>
          <a:xfrm>
            <a:off x="1394460" y="6995160"/>
            <a:ext cx="292608" cy="292608"/>
          </a:xfrm>
          <a:prstGeom prst="rect">
            <a:avLst/>
          </a:prstGeom>
        </p:spPr>
      </p:pic>
      <p:sp>
        <p:nvSpPr>
          <p:cNvPr id="16" name="Text 9"/>
          <p:cNvSpPr txBox="1"/>
          <p:nvPr/>
        </p:nvSpPr>
        <p:spPr>
          <a:xfrm>
            <a:off x="185166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Match or mismatch, reported as Strong, Weak/Uncertain or Mismatch</a:t>
            </a:r>
            <a:endParaRPr lang="en-US" sz="1800" dirty="0"/>
          </a:p>
        </p:txBody>
      </p:sp>
      <p:pic>
        <p:nvPicPr>
          <p:cNvPr id="17" name="Image 5" descr="/private/tmp/claude-501/-Users-ghanashyamrkp-AI-Apps/d936947f-11c3-48a0-9610-6ecad037576d/scratchpad/deck/ic/check-teal.png">    </p:cNvPr>
          <p:cNvPicPr>
            <a:picLocks noChangeAspect="1"/>
          </p:cNvPicPr>
          <p:nvPr/>
        </p:nvPicPr>
        <p:blipFill>
          <a:blip r:embed="rId6"/>
          <a:stretch>
            <a:fillRect/>
          </a:stretch>
        </p:blipFill>
        <p:spPr>
          <a:xfrm>
            <a:off x="1394460" y="8037576"/>
            <a:ext cx="292608" cy="292608"/>
          </a:xfrm>
          <a:prstGeom prst="rect">
            <a:avLst/>
          </a:prstGeom>
        </p:spPr>
      </p:pic>
      <p:sp>
        <p:nvSpPr>
          <p:cNvPr id="18" name="Text 10"/>
          <p:cNvSpPr txBox="1"/>
          <p:nvPr/>
        </p:nvSpPr>
        <p:spPr>
          <a:xfrm>
            <a:off x="1851660" y="7964424"/>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 demo that accepts a clip and shows the result with a timeline</a:t>
            </a:r>
            <a:endParaRPr lang="en-US" sz="1800" dirty="0"/>
          </a:p>
        </p:txBody>
      </p:sp>
      <p:sp>
        <p:nvSpPr>
          <p:cNvPr id="19" name="Shape 11"/>
          <p:cNvSpPr/>
          <p:nvPr/>
        </p:nvSpPr>
        <p:spPr>
          <a:xfrm>
            <a:off x="6545580" y="2697480"/>
            <a:ext cx="5196840" cy="6629400"/>
          </a:xfrm>
          <a:prstGeom prst="roundRect">
            <a:avLst>
              <a:gd name="adj" fmla="val 2463"/>
            </a:avLst>
          </a:prstGeom>
          <a:solidFill>
            <a:srgbClr val="EEF1F2"/>
          </a:solidFill>
          <a:ln w="12700">
            <a:solidFill>
              <a:srgbClr val="EEF1F2"/>
            </a:solidFill>
            <a:prstDash val="solid"/>
          </a:ln>
        </p:spPr>
      </p:sp>
      <p:sp>
        <p:nvSpPr>
          <p:cNvPr id="20" name="Shape 12"/>
          <p:cNvSpPr/>
          <p:nvPr/>
        </p:nvSpPr>
        <p:spPr>
          <a:xfrm>
            <a:off x="6865620" y="3017520"/>
            <a:ext cx="4556760" cy="420624"/>
          </a:xfrm>
          <a:prstGeom prst="roundRect">
            <a:avLst>
              <a:gd name="adj" fmla="val 50000"/>
            </a:avLst>
          </a:prstGeom>
          <a:solidFill>
            <a:srgbClr val="0097B2"/>
          </a:solidFill>
          <a:ln w="12700">
            <a:solidFill>
              <a:srgbClr val="0097B2"/>
            </a:solidFill>
            <a:prstDash val="solid"/>
          </a:ln>
        </p:spPr>
      </p:sp>
      <p:sp>
        <p:nvSpPr>
          <p:cNvPr id="21" name="Text 13"/>
          <p:cNvSpPr txBox="1"/>
          <p:nvPr/>
        </p:nvSpPr>
        <p:spPr>
          <a:xfrm>
            <a:off x="686562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EXTENSIONS  ·  IF TIME ALLOWS</a:t>
            </a:r>
            <a:endParaRPr lang="en-US" sz="1300" dirty="0"/>
          </a:p>
        </p:txBody>
      </p:sp>
      <p:pic>
        <p:nvPicPr>
          <p:cNvPr id="22" name="Image 6" descr="/private/tmp/claude-501/-Users-ghanashyamrkp-AI-Apps/d936947f-11c3-48a0-9610-6ecad037576d/scratchpad/deck/ic/bolt-teal.png">    </p:cNvPr>
          <p:cNvPicPr>
            <a:picLocks noChangeAspect="1"/>
          </p:cNvPicPr>
          <p:nvPr/>
        </p:nvPicPr>
        <p:blipFill>
          <a:blip r:embed="rId7"/>
          <a:stretch>
            <a:fillRect/>
          </a:stretch>
        </p:blipFill>
        <p:spPr>
          <a:xfrm>
            <a:off x="6911340" y="3867912"/>
            <a:ext cx="292608" cy="292608"/>
          </a:xfrm>
          <a:prstGeom prst="rect">
            <a:avLst/>
          </a:prstGeom>
        </p:spPr>
      </p:pic>
      <p:sp>
        <p:nvSpPr>
          <p:cNvPr id="23" name="Text 14"/>
          <p:cNvSpPr txBox="1"/>
          <p:nvPr/>
        </p:nvSpPr>
        <p:spPr>
          <a:xfrm>
            <a:off x="736854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Attention-based fusion, compared with the simple fusion</a:t>
            </a:r>
            <a:endParaRPr lang="en-US" sz="1800" dirty="0"/>
          </a:p>
        </p:txBody>
      </p:sp>
      <p:pic>
        <p:nvPicPr>
          <p:cNvPr id="24" name="Image 7" descr="/private/tmp/claude-501/-Users-ghanashyamrkp-AI-Apps/d936947f-11c3-48a0-9610-6ecad037576d/scratchpad/deck/ic/bolt-teal.png">    </p:cNvPr>
          <p:cNvPicPr>
            <a:picLocks noChangeAspect="1"/>
          </p:cNvPicPr>
          <p:nvPr/>
        </p:nvPicPr>
        <p:blipFill>
          <a:blip r:embed="rId8"/>
          <a:stretch>
            <a:fillRect/>
          </a:stretch>
        </p:blipFill>
        <p:spPr>
          <a:xfrm>
            <a:off x="6911340" y="4910328"/>
            <a:ext cx="292608" cy="292608"/>
          </a:xfrm>
          <a:prstGeom prst="rect">
            <a:avLst/>
          </a:prstGeom>
        </p:spPr>
      </p:pic>
      <p:sp>
        <p:nvSpPr>
          <p:cNvPr id="25" name="Text 15"/>
          <p:cNvSpPr txBox="1"/>
          <p:nvPr/>
        </p:nvSpPr>
        <p:spPr>
          <a:xfrm>
            <a:off x="736854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Scale-up with a VGGSound subset of overlapping classes</a:t>
            </a:r>
            <a:endParaRPr lang="en-US" sz="1800" dirty="0"/>
          </a:p>
        </p:txBody>
      </p:sp>
      <p:pic>
        <p:nvPicPr>
          <p:cNvPr id="26" name="Image 8" descr="/private/tmp/claude-501/-Users-ghanashyamrkp-AI-Apps/d936947f-11c3-48a0-9610-6ecad037576d/scratchpad/deck/ic/bolt-teal.png">    </p:cNvPr>
          <p:cNvPicPr>
            <a:picLocks noChangeAspect="1"/>
          </p:cNvPicPr>
          <p:nvPr/>
        </p:nvPicPr>
        <p:blipFill>
          <a:blip r:embed="rId9"/>
          <a:stretch>
            <a:fillRect/>
          </a:stretch>
        </p:blipFill>
        <p:spPr>
          <a:xfrm>
            <a:off x="6911340" y="5952744"/>
            <a:ext cx="292608" cy="292608"/>
          </a:xfrm>
          <a:prstGeom prst="rect">
            <a:avLst/>
          </a:prstGeom>
        </p:spPr>
      </p:pic>
      <p:sp>
        <p:nvSpPr>
          <p:cNvPr id="27" name="Text 16"/>
          <p:cNvSpPr txBox="1"/>
          <p:nvPr/>
        </p:nvSpPr>
        <p:spPr>
          <a:xfrm>
            <a:off x="736854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Qualitative sound-source localisation on VGG-SS</a:t>
            </a:r>
            <a:endParaRPr lang="en-US" sz="1800" dirty="0"/>
          </a:p>
        </p:txBody>
      </p:sp>
      <p:pic>
        <p:nvPicPr>
          <p:cNvPr id="28" name="Image 9" descr="/private/tmp/claude-501/-Users-ghanashyamrkp-AI-Apps/d936947f-11c3-48a0-9610-6ecad037576d/scratchpad/deck/ic/bolt-teal.png">    </p:cNvPr>
          <p:cNvPicPr>
            <a:picLocks noChangeAspect="1"/>
          </p:cNvPicPr>
          <p:nvPr/>
        </p:nvPicPr>
        <p:blipFill>
          <a:blip r:embed="rId10"/>
          <a:stretch>
            <a:fillRect/>
          </a:stretch>
        </p:blipFill>
        <p:spPr>
          <a:xfrm>
            <a:off x="6911340" y="6995160"/>
            <a:ext cx="292608" cy="292608"/>
          </a:xfrm>
          <a:prstGeom prst="rect">
            <a:avLst/>
          </a:prstGeom>
        </p:spPr>
      </p:pic>
      <p:sp>
        <p:nvSpPr>
          <p:cNvPr id="29" name="Text 17"/>
          <p:cNvSpPr txBox="1"/>
          <p:nvPr/>
        </p:nvSpPr>
        <p:spPr>
          <a:xfrm>
            <a:off x="736854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Robustness tests: volume, background noise, partial occlusion</a:t>
            </a:r>
            <a:endParaRPr lang="en-US" sz="1800" dirty="0"/>
          </a:p>
        </p:txBody>
      </p:sp>
      <p:pic>
        <p:nvPicPr>
          <p:cNvPr id="30" name="Image 10" descr="/private/tmp/claude-501/-Users-ghanashyamrkp-AI-Apps/d936947f-11c3-48a0-9610-6ecad037576d/scratchpad/deck/ic/bolt-teal.png">    </p:cNvPr>
          <p:cNvPicPr>
            <a:picLocks noChangeAspect="1"/>
          </p:cNvPicPr>
          <p:nvPr/>
        </p:nvPicPr>
        <p:blipFill>
          <a:blip r:embed="rId11"/>
          <a:stretch>
            <a:fillRect/>
          </a:stretch>
        </p:blipFill>
        <p:spPr>
          <a:xfrm>
            <a:off x="6911340" y="8037576"/>
            <a:ext cx="292608" cy="292608"/>
          </a:xfrm>
          <a:prstGeom prst="rect">
            <a:avLst/>
          </a:prstGeom>
        </p:spPr>
      </p:pic>
      <p:sp>
        <p:nvSpPr>
          <p:cNvPr id="31" name="Text 18"/>
          <p:cNvSpPr txBox="1"/>
          <p:nvPr/>
        </p:nvSpPr>
        <p:spPr>
          <a:xfrm>
            <a:off x="7368540" y="7964424"/>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Live webcam and microphone mode for the final demo</a:t>
            </a:r>
            <a:endParaRPr lang="en-US" sz="1800" dirty="0"/>
          </a:p>
        </p:txBody>
      </p:sp>
      <p:sp>
        <p:nvSpPr>
          <p:cNvPr id="32" name="Shape 19"/>
          <p:cNvSpPr/>
          <p:nvPr/>
        </p:nvSpPr>
        <p:spPr>
          <a:xfrm>
            <a:off x="12062460" y="2697480"/>
            <a:ext cx="5196840" cy="6629400"/>
          </a:xfrm>
          <a:prstGeom prst="roundRect">
            <a:avLst>
              <a:gd name="adj" fmla="val 2463"/>
            </a:avLst>
          </a:prstGeom>
          <a:solidFill>
            <a:srgbClr val="EEF1F2"/>
          </a:solidFill>
          <a:ln w="12700">
            <a:solidFill>
              <a:srgbClr val="EEF1F2"/>
            </a:solidFill>
            <a:prstDash val="solid"/>
          </a:ln>
        </p:spPr>
      </p:sp>
      <p:sp>
        <p:nvSpPr>
          <p:cNvPr id="33" name="Shape 20"/>
          <p:cNvSpPr/>
          <p:nvPr/>
        </p:nvSpPr>
        <p:spPr>
          <a:xfrm>
            <a:off x="12382500" y="3017520"/>
            <a:ext cx="4556760" cy="420624"/>
          </a:xfrm>
          <a:prstGeom prst="roundRect">
            <a:avLst>
              <a:gd name="adj" fmla="val 50000"/>
            </a:avLst>
          </a:prstGeom>
          <a:solidFill>
            <a:srgbClr val="6B7782"/>
          </a:solidFill>
          <a:ln w="12700">
            <a:solidFill>
              <a:srgbClr val="6B7782"/>
            </a:solidFill>
            <a:prstDash val="solid"/>
          </a:ln>
        </p:spPr>
      </p:sp>
      <p:sp>
        <p:nvSpPr>
          <p:cNvPr id="34" name="Text 21"/>
          <p:cNvSpPr txBox="1"/>
          <p:nvPr/>
        </p:nvSpPr>
        <p:spPr>
          <a:xfrm>
            <a:off x="1238250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BOUNDARIES</a:t>
            </a:r>
            <a:endParaRPr lang="en-US" sz="1300" dirty="0"/>
          </a:p>
        </p:txBody>
      </p:sp>
      <p:pic>
        <p:nvPicPr>
          <p:cNvPr id="35" name="Image 11" descr="/private/tmp/claude-501/-Users-ghanashyamrkp-AI-Apps/d936947f-11c3-48a0-9610-6ecad037576d/scratchpad/deck/ic/times-grey.png">    </p:cNvPr>
          <p:cNvPicPr>
            <a:picLocks noChangeAspect="1"/>
          </p:cNvPicPr>
          <p:nvPr/>
        </p:nvPicPr>
        <p:blipFill>
          <a:blip r:embed="rId12"/>
          <a:stretch>
            <a:fillRect/>
          </a:stretch>
        </p:blipFill>
        <p:spPr>
          <a:xfrm>
            <a:off x="12428220" y="3867912"/>
            <a:ext cx="292608" cy="292608"/>
          </a:xfrm>
          <a:prstGeom prst="rect">
            <a:avLst/>
          </a:prstGeom>
        </p:spPr>
      </p:pic>
      <p:sp>
        <p:nvSpPr>
          <p:cNvPr id="36" name="Text 22"/>
          <p:cNvSpPr txBox="1"/>
          <p:nvPr/>
        </p:nvSpPr>
        <p:spPr>
          <a:xfrm>
            <a:off x="1288542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 low score means weak evidence of correspondence, never proof that the pairing is impossible</a:t>
            </a:r>
            <a:endParaRPr lang="en-US" sz="1800" dirty="0"/>
          </a:p>
        </p:txBody>
      </p:sp>
      <p:pic>
        <p:nvPicPr>
          <p:cNvPr id="37" name="Image 12" descr="/private/tmp/claude-501/-Users-ghanashyamrkp-AI-Apps/d936947f-11c3-48a0-9610-6ecad037576d/scratchpad/deck/ic/times-grey.png">    </p:cNvPr>
          <p:cNvPicPr>
            <a:picLocks noChangeAspect="1"/>
          </p:cNvPicPr>
          <p:nvPr/>
        </p:nvPicPr>
        <p:blipFill>
          <a:blip r:embed="rId13"/>
          <a:stretch>
            <a:fillRect/>
          </a:stretch>
        </p:blipFill>
        <p:spPr>
          <a:xfrm>
            <a:off x="12428220" y="4910328"/>
            <a:ext cx="292608" cy="292608"/>
          </a:xfrm>
          <a:prstGeom prst="rect">
            <a:avLst/>
          </a:prstGeom>
        </p:spPr>
      </p:pic>
      <p:sp>
        <p:nvSpPr>
          <p:cNvPr id="38" name="Text 23"/>
          <p:cNvSpPr txBox="1"/>
          <p:nvPr/>
        </p:nvSpPr>
        <p:spPr>
          <a:xfrm>
            <a:off x="1288542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Events outside the 28 trained categories are not recognised</a:t>
            </a:r>
            <a:endParaRPr lang="en-US" sz="1800" dirty="0"/>
          </a:p>
        </p:txBody>
      </p:sp>
      <p:pic>
        <p:nvPicPr>
          <p:cNvPr id="39" name="Image 13" descr="/private/tmp/claude-501/-Users-ghanashyamrkp-AI-Apps/d936947f-11c3-48a0-9610-6ecad037576d/scratchpad/deck/ic/times-grey.png">    </p:cNvPr>
          <p:cNvPicPr>
            <a:picLocks noChangeAspect="1"/>
          </p:cNvPicPr>
          <p:nvPr/>
        </p:nvPicPr>
        <p:blipFill>
          <a:blip r:embed="rId14"/>
          <a:stretch>
            <a:fillRect/>
          </a:stretch>
        </p:blipFill>
        <p:spPr>
          <a:xfrm>
            <a:off x="12428220" y="5952744"/>
            <a:ext cx="292608" cy="292608"/>
          </a:xfrm>
          <a:prstGeom prst="rect">
            <a:avLst/>
          </a:prstGeom>
        </p:spPr>
      </p:pic>
      <p:sp>
        <p:nvSpPr>
          <p:cNvPr id="40" name="Text 24"/>
          <p:cNvSpPr txBox="1"/>
          <p:nvPr/>
        </p:nvSpPr>
        <p:spPr>
          <a:xfrm>
            <a:off x="1288542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Off-screen sources are flagged as uncertain rather than located</a:t>
            </a:r>
            <a:endParaRPr lang="en-US" sz="1800" dirty="0"/>
          </a:p>
        </p:txBody>
      </p:sp>
      <p:pic>
        <p:nvPicPr>
          <p:cNvPr id="41" name="Image 14" descr="/private/tmp/claude-501/-Users-ghanashyamrkp-AI-Apps/d936947f-11c3-48a0-9610-6ecad037576d/scratchpad/deck/ic/times-grey.png">    </p:cNvPr>
          <p:cNvPicPr>
            <a:picLocks noChangeAspect="1"/>
          </p:cNvPicPr>
          <p:nvPr/>
        </p:nvPicPr>
        <p:blipFill>
          <a:blip r:embed="rId15"/>
          <a:stretch>
            <a:fillRect/>
          </a:stretch>
        </p:blipFill>
        <p:spPr>
          <a:xfrm>
            <a:off x="12428220" y="6995160"/>
            <a:ext cx="292608" cy="292608"/>
          </a:xfrm>
          <a:prstGeom prst="rect">
            <a:avLst/>
          </a:prstGeom>
        </p:spPr>
      </p:pic>
      <p:sp>
        <p:nvSpPr>
          <p:cNvPr id="42" name="Text 25"/>
          <p:cNvSpPr txBox="1"/>
          <p:nvPr/>
        </p:nvSpPr>
        <p:spPr>
          <a:xfrm>
            <a:off x="1288542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Localisation, if shown, is illustrative and not scored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Data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Required &amp; Available</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One primary dataset, one generated set, two optional sources. All public.</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06</a:t>
            </a:r>
            <a:endParaRPr lang="en-US" sz="1050" dirty="0"/>
          </a:p>
        </p:txBody>
      </p:sp>
      <p:sp>
        <p:nvSpPr>
          <p:cNvPr id="6" name="Shape 3"/>
          <p:cNvSpPr/>
          <p:nvPr/>
        </p:nvSpPr>
        <p:spPr>
          <a:xfrm>
            <a:off x="1028700" y="2697480"/>
            <a:ext cx="4983480" cy="3200400"/>
          </a:xfrm>
          <a:prstGeom prst="roundRect">
            <a:avLst>
              <a:gd name="adj" fmla="val 4000"/>
            </a:avLst>
          </a:prstGeom>
          <a:solidFill>
            <a:srgbClr val="EEF1F2"/>
          </a:solidFill>
          <a:ln w="12700">
            <a:solidFill>
              <a:srgbClr val="EEF1F2"/>
            </a:solidFill>
            <a:prstDash val="solid"/>
          </a:ln>
        </p:spPr>
      </p:sp>
      <p:sp>
        <p:nvSpPr>
          <p:cNvPr id="7" name="Shape 4"/>
          <p:cNvSpPr/>
          <p:nvPr/>
        </p:nvSpPr>
        <p:spPr>
          <a:xfrm>
            <a:off x="1348740" y="3017520"/>
            <a:ext cx="1737360" cy="32918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PRIMARY</a:t>
            </a:r>
            <a:endParaRPr lang="en-US" sz="1050" dirty="0"/>
          </a:p>
        </p:txBody>
      </p:sp>
      <p:sp>
        <p:nvSpPr>
          <p:cNvPr id="9" name="Text 6"/>
          <p:cNvSpPr txBox="1"/>
          <p:nvPr/>
        </p:nvSpPr>
        <p:spPr>
          <a:xfrm>
            <a:off x="1348740" y="352044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AVE  ·  Audio-Visual Event</a:t>
            </a:r>
            <a:endParaRPr lang="en-US" sz="2100" dirty="0"/>
          </a:p>
        </p:txBody>
      </p:sp>
      <p:sp>
        <p:nvSpPr>
          <p:cNvPr id="10" name="Text 7"/>
          <p:cNvSpPr txBox="1"/>
          <p:nvPr/>
        </p:nvSpPr>
        <p:spPr>
          <a:xfrm>
            <a:off x="1348740" y="406908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4,143 ten-second YouTube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28 event categories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Per-second event / background labels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Official split: 3,339 train · 402 val · 402 test</a:t>
            </a:r>
            <a:endParaRPr lang="en-US" sz="1600" dirty="0"/>
          </a:p>
        </p:txBody>
      </p:sp>
      <p:sp>
        <p:nvSpPr>
          <p:cNvPr id="11" name="Shape 8"/>
          <p:cNvSpPr/>
          <p:nvPr/>
        </p:nvSpPr>
        <p:spPr>
          <a:xfrm>
            <a:off x="6286500" y="2697480"/>
            <a:ext cx="4983480" cy="3200400"/>
          </a:xfrm>
          <a:prstGeom prst="roundRect">
            <a:avLst>
              <a:gd name="adj" fmla="val 4000"/>
            </a:avLst>
          </a:prstGeom>
          <a:solidFill>
            <a:srgbClr val="EEF1F2"/>
          </a:solidFill>
          <a:ln w="12700">
            <a:solidFill>
              <a:srgbClr val="EEF1F2"/>
            </a:solidFill>
            <a:prstDash val="solid"/>
          </a:ln>
        </p:spPr>
      </p:sp>
      <p:sp>
        <p:nvSpPr>
          <p:cNvPr id="12" name="Shape 9"/>
          <p:cNvSpPr/>
          <p:nvPr/>
        </p:nvSpPr>
        <p:spPr>
          <a:xfrm>
            <a:off x="6606540" y="3017520"/>
            <a:ext cx="1737360" cy="329184"/>
          </a:xfrm>
          <a:prstGeom prst="roundRect">
            <a:avLst>
              <a:gd name="adj" fmla="val 50000"/>
            </a:avLst>
          </a:prstGeom>
          <a:solidFill>
            <a:srgbClr val="0097B2"/>
          </a:solidFill>
          <a:ln w="12700">
            <a:solidFill>
              <a:srgbClr val="0097B2"/>
            </a:solidFill>
            <a:prstDash val="solid"/>
          </a:ln>
        </p:spPr>
      </p:sp>
      <p:sp>
        <p:nvSpPr>
          <p:cNvPr id="13" name="Text 10"/>
          <p:cNvSpPr txBox="1"/>
          <p:nvPr/>
        </p:nvSpPr>
        <p:spPr>
          <a:xfrm>
            <a:off x="6606540" y="301752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BUILT BY US</a:t>
            </a:r>
            <a:endParaRPr lang="en-US" sz="1050" dirty="0"/>
          </a:p>
        </p:txBody>
      </p:sp>
      <p:sp>
        <p:nvSpPr>
          <p:cNvPr id="14" name="Text 11"/>
          <p:cNvSpPr txBox="1"/>
          <p:nvPr/>
        </p:nvSpPr>
        <p:spPr>
          <a:xfrm>
            <a:off x="6606540" y="352044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Generated pairs</a:t>
            </a:r>
            <a:endParaRPr lang="en-US" sz="2100" dirty="0"/>
          </a:p>
        </p:txBody>
      </p:sp>
      <p:sp>
        <p:nvSpPr>
          <p:cNvPr id="15" name="Text 12"/>
          <p:cNvSpPr txBox="1"/>
          <p:nvPr/>
        </p:nvSpPr>
        <p:spPr>
          <a:xfrm>
            <a:off x="6606540" y="406908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Positives: original synchronised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Negatives: audio swapped in from other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Easy, hard and time-shifted negatives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Generated inside each split</a:t>
            </a:r>
            <a:endParaRPr lang="en-US" sz="1600" dirty="0"/>
          </a:p>
        </p:txBody>
      </p:sp>
      <p:sp>
        <p:nvSpPr>
          <p:cNvPr id="16" name="Shape 13"/>
          <p:cNvSpPr/>
          <p:nvPr/>
        </p:nvSpPr>
        <p:spPr>
          <a:xfrm>
            <a:off x="1028700" y="6172200"/>
            <a:ext cx="4983480" cy="3200400"/>
          </a:xfrm>
          <a:prstGeom prst="roundRect">
            <a:avLst>
              <a:gd name="adj" fmla="val 4000"/>
            </a:avLst>
          </a:prstGeom>
          <a:solidFill>
            <a:srgbClr val="EEF1F2"/>
          </a:solidFill>
          <a:ln w="12700">
            <a:solidFill>
              <a:srgbClr val="EEF1F2"/>
            </a:solidFill>
            <a:prstDash val="solid"/>
          </a:ln>
        </p:spPr>
      </p:sp>
      <p:sp>
        <p:nvSpPr>
          <p:cNvPr id="17" name="Shape 14"/>
          <p:cNvSpPr/>
          <p:nvPr/>
        </p:nvSpPr>
        <p:spPr>
          <a:xfrm>
            <a:off x="1348740" y="6492240"/>
            <a:ext cx="1737360" cy="329184"/>
          </a:xfrm>
          <a:prstGeom prst="roundRect">
            <a:avLst>
              <a:gd name="adj" fmla="val 50000"/>
            </a:avLst>
          </a:prstGeom>
          <a:solidFill>
            <a:srgbClr val="6B7782"/>
          </a:solidFill>
          <a:ln w="12700">
            <a:solidFill>
              <a:srgbClr val="6B7782"/>
            </a:solidFill>
            <a:prstDash val="solid"/>
          </a:ln>
        </p:spPr>
      </p:sp>
      <p:sp>
        <p:nvSpPr>
          <p:cNvPr id="18" name="Text 15"/>
          <p:cNvSpPr txBox="1"/>
          <p:nvPr/>
        </p:nvSpPr>
        <p:spPr>
          <a:xfrm>
            <a:off x="1348740" y="649224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19" name="Text 16"/>
          <p:cNvSpPr txBox="1"/>
          <p:nvPr/>
        </p:nvSpPr>
        <p:spPr>
          <a:xfrm>
            <a:off x="1348740" y="699516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VGGSound</a:t>
            </a:r>
            <a:endParaRPr lang="en-US" sz="2100" dirty="0"/>
          </a:p>
        </p:txBody>
      </p:sp>
      <p:sp>
        <p:nvSpPr>
          <p:cNvPr id="20" name="Text 17"/>
          <p:cNvSpPr txBox="1"/>
          <p:nvPr/>
        </p:nvSpPr>
        <p:spPr>
          <a:xfrm>
            <a:off x="1348740" y="754380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Large-scale audio-visual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Subset of classes that overlap with AVE</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Scale-up, or fallback if AVE is too small</a:t>
            </a:r>
            <a:endParaRPr lang="en-US" sz="1600" dirty="0"/>
          </a:p>
        </p:txBody>
      </p:sp>
      <p:sp>
        <p:nvSpPr>
          <p:cNvPr id="21" name="Shape 18"/>
          <p:cNvSpPr/>
          <p:nvPr/>
        </p:nvSpPr>
        <p:spPr>
          <a:xfrm>
            <a:off x="6286500" y="6172200"/>
            <a:ext cx="4983480" cy="3200400"/>
          </a:xfrm>
          <a:prstGeom prst="roundRect">
            <a:avLst>
              <a:gd name="adj" fmla="val 4000"/>
            </a:avLst>
          </a:prstGeom>
          <a:solidFill>
            <a:srgbClr val="EEF1F2"/>
          </a:solidFill>
          <a:ln w="12700">
            <a:solidFill>
              <a:srgbClr val="EEF1F2"/>
            </a:solidFill>
            <a:prstDash val="solid"/>
          </a:ln>
        </p:spPr>
      </p:sp>
      <p:sp>
        <p:nvSpPr>
          <p:cNvPr id="22" name="Shape 19"/>
          <p:cNvSpPr/>
          <p:nvPr/>
        </p:nvSpPr>
        <p:spPr>
          <a:xfrm>
            <a:off x="6606540" y="6492240"/>
            <a:ext cx="1737360" cy="329184"/>
          </a:xfrm>
          <a:prstGeom prst="roundRect">
            <a:avLst>
              <a:gd name="adj" fmla="val 50000"/>
            </a:avLst>
          </a:prstGeom>
          <a:solidFill>
            <a:srgbClr val="6B7782"/>
          </a:solidFill>
          <a:ln w="12700">
            <a:solidFill>
              <a:srgbClr val="6B7782"/>
            </a:solidFill>
            <a:prstDash val="solid"/>
          </a:ln>
        </p:spPr>
      </p:sp>
      <p:sp>
        <p:nvSpPr>
          <p:cNvPr id="23" name="Text 20"/>
          <p:cNvSpPr txBox="1"/>
          <p:nvPr/>
        </p:nvSpPr>
        <p:spPr>
          <a:xfrm>
            <a:off x="6606540" y="649224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24" name="Text 21"/>
          <p:cNvSpPr txBox="1"/>
          <p:nvPr/>
        </p:nvSpPr>
        <p:spPr>
          <a:xfrm>
            <a:off x="6606540" y="699516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VGG-SS</a:t>
            </a:r>
            <a:endParaRPr lang="en-US" sz="2100" dirty="0"/>
          </a:p>
        </p:txBody>
      </p:sp>
      <p:sp>
        <p:nvSpPr>
          <p:cNvPr id="25" name="Text 22"/>
          <p:cNvSpPr txBox="1"/>
          <p:nvPr/>
        </p:nvSpPr>
        <p:spPr>
          <a:xfrm>
            <a:off x="6606540" y="754380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Sound-source localisation annotations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Qualitative checks of where the sound comes from</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Not used for training</a:t>
            </a:r>
            <a:endParaRPr lang="en-US" sz="1600" dirty="0"/>
          </a:p>
        </p:txBody>
      </p:sp>
      <p:sp>
        <p:nvSpPr>
          <p:cNvPr id="26" name="Shape 23"/>
          <p:cNvSpPr/>
          <p:nvPr/>
        </p:nvSpPr>
        <p:spPr>
          <a:xfrm>
            <a:off x="11635740" y="2697480"/>
            <a:ext cx="5623560" cy="6675120"/>
          </a:xfrm>
          <a:prstGeom prst="roundRect">
            <a:avLst>
              <a:gd name="adj" fmla="val 2276"/>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7" name="Text 24"/>
          <p:cNvSpPr txBox="1"/>
          <p:nvPr/>
        </p:nvSpPr>
        <p:spPr>
          <a:xfrm>
            <a:off x="12047220" y="3017520"/>
            <a:ext cx="4800600" cy="274320"/>
          </a:xfrm>
          <a:prstGeom prst="rect">
            <a:avLst/>
          </a:prstGeom>
          <a:noFill/>
          <a:ln/>
        </p:spPr>
        <p:txBody>
          <a:bodyPr wrap="square" lIns="0" tIns="0" rIns="0" bIns="0" rtlCol="0" anchor="t"/>
          <a:lstStyle/>
          <a:p>
            <a:pPr indent="0" marL="0">
              <a:buNone/>
            </a:pPr>
            <a:r>
              <a:rPr lang="en-US" sz="1200" b="1" spc="150" kern="0" dirty="0">
                <a:solidFill>
                  <a:srgbClr val="FFFFFF"/>
                </a:solidFill>
                <a:latin typeface="Inter 1 Bold" pitchFamily="34" charset="0"/>
                <a:ea typeface="Inter 1 Bold" pitchFamily="34" charset="-122"/>
                <a:cs typeface="Inter 1 Bold" pitchFamily="34" charset="-120"/>
              </a:rPr>
              <a:t>PREPROCESSING PIPELINE</a:t>
            </a:r>
            <a:endParaRPr lang="en-US" sz="1200" dirty="0"/>
          </a:p>
        </p:txBody>
      </p:sp>
      <p:sp>
        <p:nvSpPr>
          <p:cNvPr id="28" name="Shape 25"/>
          <p:cNvSpPr/>
          <p:nvPr/>
        </p:nvSpPr>
        <p:spPr>
          <a:xfrm>
            <a:off x="12047220" y="3566160"/>
            <a:ext cx="457200" cy="457200"/>
          </a:xfrm>
          <a:prstGeom prst="ellipse">
            <a:avLst/>
          </a:prstGeom>
          <a:solidFill>
            <a:srgbClr val="FFFFFF"/>
          </a:solidFill>
          <a:ln w="12700">
            <a:solidFill>
              <a:srgbClr val="FFFFFF"/>
            </a:solidFill>
            <a:prstDash val="solid"/>
          </a:ln>
        </p:spPr>
      </p:sp>
      <p:sp>
        <p:nvSpPr>
          <p:cNvPr id="29" name="Text 26"/>
          <p:cNvSpPr txBox="1"/>
          <p:nvPr/>
        </p:nvSpPr>
        <p:spPr>
          <a:xfrm>
            <a:off x="12047220" y="35661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1</a:t>
            </a:r>
            <a:endParaRPr lang="en-US" sz="1500" dirty="0"/>
          </a:p>
        </p:txBody>
      </p:sp>
      <p:sp>
        <p:nvSpPr>
          <p:cNvPr id="30" name="Text 27"/>
          <p:cNvSpPr txBox="1"/>
          <p:nvPr/>
        </p:nvSpPr>
        <p:spPr>
          <a:xfrm>
            <a:off x="12687300" y="35295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Extract audio</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mono, one fixed sample rate</a:t>
            </a:r>
            <a:endParaRPr lang="en-US" sz="1700" dirty="0"/>
          </a:p>
        </p:txBody>
      </p:sp>
      <p:sp>
        <p:nvSpPr>
          <p:cNvPr id="31" name="Shape 28"/>
          <p:cNvSpPr/>
          <p:nvPr/>
        </p:nvSpPr>
        <p:spPr>
          <a:xfrm>
            <a:off x="12047220" y="4480560"/>
            <a:ext cx="457200" cy="457200"/>
          </a:xfrm>
          <a:prstGeom prst="ellipse">
            <a:avLst/>
          </a:prstGeom>
          <a:solidFill>
            <a:srgbClr val="FFFFFF"/>
          </a:solidFill>
          <a:ln w="12700">
            <a:solidFill>
              <a:srgbClr val="FFFFFF"/>
            </a:solidFill>
            <a:prstDash val="solid"/>
          </a:ln>
        </p:spPr>
      </p:sp>
      <p:sp>
        <p:nvSpPr>
          <p:cNvPr id="32" name="Text 29"/>
          <p:cNvSpPr txBox="1"/>
          <p:nvPr/>
        </p:nvSpPr>
        <p:spPr>
          <a:xfrm>
            <a:off x="12047220" y="44805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2</a:t>
            </a:r>
            <a:endParaRPr lang="en-US" sz="1500" dirty="0"/>
          </a:p>
        </p:txBody>
      </p:sp>
      <p:sp>
        <p:nvSpPr>
          <p:cNvPr id="33" name="Text 30"/>
          <p:cNvSpPr txBox="1"/>
          <p:nvPr/>
        </p:nvSpPr>
        <p:spPr>
          <a:xfrm>
            <a:off x="12687300" y="44439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Sample frames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at timestamps aligned to each second</a:t>
            </a:r>
            <a:endParaRPr lang="en-US" sz="1700" dirty="0"/>
          </a:p>
        </p:txBody>
      </p:sp>
      <p:sp>
        <p:nvSpPr>
          <p:cNvPr id="34" name="Shape 31"/>
          <p:cNvSpPr/>
          <p:nvPr/>
        </p:nvSpPr>
        <p:spPr>
          <a:xfrm>
            <a:off x="12047220" y="5394960"/>
            <a:ext cx="457200" cy="457200"/>
          </a:xfrm>
          <a:prstGeom prst="ellipse">
            <a:avLst/>
          </a:prstGeom>
          <a:solidFill>
            <a:srgbClr val="FFFFFF"/>
          </a:solidFill>
          <a:ln w="12700">
            <a:solidFill>
              <a:srgbClr val="FFFFFF"/>
            </a:solidFill>
            <a:prstDash val="solid"/>
          </a:ln>
        </p:spPr>
      </p:sp>
      <p:sp>
        <p:nvSpPr>
          <p:cNvPr id="35" name="Text 32"/>
          <p:cNvSpPr txBox="1"/>
          <p:nvPr/>
        </p:nvSpPr>
        <p:spPr>
          <a:xfrm>
            <a:off x="12047220" y="53949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3</a:t>
            </a:r>
            <a:endParaRPr lang="en-US" sz="1500" dirty="0"/>
          </a:p>
        </p:txBody>
      </p:sp>
      <p:sp>
        <p:nvSpPr>
          <p:cNvPr id="36" name="Text 33"/>
          <p:cNvSpPr txBox="1"/>
          <p:nvPr/>
        </p:nvSpPr>
        <p:spPr>
          <a:xfrm>
            <a:off x="12687300" y="53583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Map labels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per-second event / background</a:t>
            </a:r>
            <a:endParaRPr lang="en-US" sz="1700" dirty="0"/>
          </a:p>
        </p:txBody>
      </p:sp>
      <p:sp>
        <p:nvSpPr>
          <p:cNvPr id="37" name="Shape 34"/>
          <p:cNvSpPr/>
          <p:nvPr/>
        </p:nvSpPr>
        <p:spPr>
          <a:xfrm>
            <a:off x="12047220" y="6309360"/>
            <a:ext cx="457200" cy="457200"/>
          </a:xfrm>
          <a:prstGeom prst="ellipse">
            <a:avLst/>
          </a:prstGeom>
          <a:solidFill>
            <a:srgbClr val="FFFFFF"/>
          </a:solidFill>
          <a:ln w="12700">
            <a:solidFill>
              <a:srgbClr val="FFFFFF"/>
            </a:solidFill>
            <a:prstDash val="solid"/>
          </a:ln>
        </p:spPr>
      </p:sp>
      <p:sp>
        <p:nvSpPr>
          <p:cNvPr id="38" name="Text 35"/>
          <p:cNvSpPr txBox="1"/>
          <p:nvPr/>
        </p:nvSpPr>
        <p:spPr>
          <a:xfrm>
            <a:off x="12047220" y="63093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4</a:t>
            </a:r>
            <a:endParaRPr lang="en-US" sz="1500" dirty="0"/>
          </a:p>
        </p:txBody>
      </p:sp>
      <p:sp>
        <p:nvSpPr>
          <p:cNvPr id="39" name="Text 36"/>
          <p:cNvSpPr txBox="1"/>
          <p:nvPr/>
        </p:nvSpPr>
        <p:spPr>
          <a:xfrm>
            <a:off x="12687300" y="62727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Build pairs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positives and three kinds of negative</a:t>
            </a:r>
            <a:endParaRPr lang="en-US" sz="1700" dirty="0"/>
          </a:p>
        </p:txBody>
      </p:sp>
      <p:sp>
        <p:nvSpPr>
          <p:cNvPr id="40" name="Shape 37"/>
          <p:cNvSpPr/>
          <p:nvPr/>
        </p:nvSpPr>
        <p:spPr>
          <a:xfrm>
            <a:off x="12047220" y="7223760"/>
            <a:ext cx="457200" cy="457200"/>
          </a:xfrm>
          <a:prstGeom prst="ellipse">
            <a:avLst/>
          </a:prstGeom>
          <a:solidFill>
            <a:srgbClr val="FFFFFF"/>
          </a:solidFill>
          <a:ln w="12700">
            <a:solidFill>
              <a:srgbClr val="FFFFFF"/>
            </a:solidFill>
            <a:prstDash val="solid"/>
          </a:ln>
        </p:spPr>
      </p:sp>
      <p:sp>
        <p:nvSpPr>
          <p:cNvPr id="41" name="Text 38"/>
          <p:cNvSpPr txBox="1"/>
          <p:nvPr/>
        </p:nvSpPr>
        <p:spPr>
          <a:xfrm>
            <a:off x="12047220" y="72237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5</a:t>
            </a:r>
            <a:endParaRPr lang="en-US" sz="1500" dirty="0"/>
          </a:p>
        </p:txBody>
      </p:sp>
      <p:sp>
        <p:nvSpPr>
          <p:cNvPr id="42" name="Text 39"/>
          <p:cNvSpPr txBox="1"/>
          <p:nvPr/>
        </p:nvSpPr>
        <p:spPr>
          <a:xfrm>
            <a:off x="12687300" y="71871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Store splits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reproducible, versioned train / val / test</a:t>
            </a:r>
            <a:endParaRPr lang="en-US" sz="1700" dirty="0"/>
          </a:p>
        </p:txBody>
      </p:sp>
      <p:sp>
        <p:nvSpPr>
          <p:cNvPr id="43" name="Shape 40"/>
          <p:cNvSpPr/>
          <p:nvPr/>
        </p:nvSpPr>
        <p:spPr>
          <a:xfrm>
            <a:off x="12047220" y="8183880"/>
            <a:ext cx="4800600" cy="0"/>
          </a:xfrm>
          <a:prstGeom prst="line">
            <a:avLst/>
          </a:prstGeom>
          <a:noFill/>
          <a:ln w="9525">
            <a:solidFill>
              <a:srgbClr val="FFFFFF"/>
            </a:solidFill>
            <a:prstDash val="solid"/>
          </a:ln>
        </p:spPr>
      </p:sp>
      <p:sp>
        <p:nvSpPr>
          <p:cNvPr id="44" name="Text 41"/>
          <p:cNvSpPr txBox="1"/>
          <p:nvPr/>
        </p:nvSpPr>
        <p:spPr>
          <a:xfrm>
            <a:off x="12047220" y="8321040"/>
            <a:ext cx="4800600" cy="86868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Inter 1 Semi-Bold" pitchFamily="34" charset="0"/>
                <a:ea typeface="Inter 1 Semi-Bold" pitchFamily="34" charset="-122"/>
                <a:cs typeface="Inter 1 Semi-Bold" pitchFamily="34" charset="-120"/>
              </a:rPr>
              <a:t>No leakage: every clip belongs to one split, and negatives only borrow audio from clips in the same split.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Training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Pairs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The model learns correspondence from real clips and from deliberately broken ones.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07</a:t>
            </a:r>
            <a:endParaRPr lang="en-US" sz="1050" dirty="0"/>
          </a:p>
        </p:txBody>
      </p:sp>
      <p:sp>
        <p:nvSpPr>
          <p:cNvPr id="6" name="Shape 3"/>
          <p:cNvSpPr/>
          <p:nvPr/>
        </p:nvSpPr>
        <p:spPr>
          <a:xfrm>
            <a:off x="1028700" y="2697480"/>
            <a:ext cx="3851910" cy="548640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3211830" cy="402336"/>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POSITIVE</a:t>
            </a:r>
            <a:endParaRPr lang="en-US" sz="1250" dirty="0"/>
          </a:p>
        </p:txBody>
      </p:sp>
      <p:sp>
        <p:nvSpPr>
          <p:cNvPr id="9" name="Text 6"/>
          <p:cNvSpPr txBox="1"/>
          <p:nvPr/>
        </p:nvSpPr>
        <p:spPr>
          <a:xfrm>
            <a:off x="134874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10" name="Shape 7"/>
          <p:cNvSpPr/>
          <p:nvPr/>
        </p:nvSpPr>
        <p:spPr>
          <a:xfrm>
            <a:off x="1348740" y="4023360"/>
            <a:ext cx="583844" cy="658368"/>
          </a:xfrm>
          <a:prstGeom prst="roundRect">
            <a:avLst>
              <a:gd name="adj" fmla="val 9397"/>
            </a:avLst>
          </a:prstGeom>
          <a:solidFill>
            <a:srgbClr val="0B4F5E"/>
          </a:solidFill>
          <a:ln w="12700">
            <a:solidFill>
              <a:srgbClr val="0B4F5E"/>
            </a:solidFill>
            <a:prstDash val="solid"/>
          </a:ln>
        </p:spPr>
      </p:sp>
      <p:pic>
        <p:nvPicPr>
          <p:cNvPr id="11" name="Image 1" descr="/private/tmp/claude-501/-Users-ghanashyamrkp-AI-Apps/d936947f-11c3-48a0-9610-6ecad037576d/scratchpad/deck/ic/dog-white.png">    </p:cNvPr>
          <p:cNvPicPr>
            <a:picLocks noChangeAspect="1"/>
          </p:cNvPicPr>
          <p:nvPr/>
        </p:nvPicPr>
        <p:blipFill>
          <a:blip r:embed="rId2"/>
          <a:stretch>
            <a:fillRect/>
          </a:stretch>
        </p:blipFill>
        <p:spPr>
          <a:xfrm>
            <a:off x="1457782" y="4169664"/>
            <a:ext cx="365760" cy="365760"/>
          </a:xfrm>
          <a:prstGeom prst="rect">
            <a:avLst/>
          </a:prstGeom>
        </p:spPr>
      </p:pic>
      <p:sp>
        <p:nvSpPr>
          <p:cNvPr id="12" name="Shape 8"/>
          <p:cNvSpPr/>
          <p:nvPr/>
        </p:nvSpPr>
        <p:spPr>
          <a:xfrm>
            <a:off x="2005736" y="4023360"/>
            <a:ext cx="583844" cy="658368"/>
          </a:xfrm>
          <a:prstGeom prst="roundRect">
            <a:avLst>
              <a:gd name="adj" fmla="val 9397"/>
            </a:avLst>
          </a:prstGeom>
          <a:solidFill>
            <a:srgbClr val="0B4F5E"/>
          </a:solidFill>
          <a:ln w="12700">
            <a:solidFill>
              <a:srgbClr val="0B4F5E"/>
            </a:solidFill>
            <a:prstDash val="solid"/>
          </a:ln>
        </p:spPr>
      </p:sp>
      <p:pic>
        <p:nvPicPr>
          <p:cNvPr id="13" name="Image 2" descr="/private/tmp/claude-501/-Users-ghanashyamrkp-AI-Apps/d936947f-11c3-48a0-9610-6ecad037576d/scratchpad/deck/ic/dog-white.png">    </p:cNvPr>
          <p:cNvPicPr>
            <a:picLocks noChangeAspect="1"/>
          </p:cNvPicPr>
          <p:nvPr/>
        </p:nvPicPr>
        <p:blipFill>
          <a:blip r:embed="rId3"/>
          <a:stretch>
            <a:fillRect/>
          </a:stretch>
        </p:blipFill>
        <p:spPr>
          <a:xfrm>
            <a:off x="2114779" y="4169664"/>
            <a:ext cx="365760" cy="365760"/>
          </a:xfrm>
          <a:prstGeom prst="rect">
            <a:avLst/>
          </a:prstGeom>
        </p:spPr>
      </p:pic>
      <p:sp>
        <p:nvSpPr>
          <p:cNvPr id="14" name="Shape 9"/>
          <p:cNvSpPr/>
          <p:nvPr/>
        </p:nvSpPr>
        <p:spPr>
          <a:xfrm>
            <a:off x="2662733" y="4023360"/>
            <a:ext cx="583844" cy="658368"/>
          </a:xfrm>
          <a:prstGeom prst="roundRect">
            <a:avLst>
              <a:gd name="adj" fmla="val 9397"/>
            </a:avLst>
          </a:prstGeom>
          <a:solidFill>
            <a:srgbClr val="0B4F5E"/>
          </a:solidFill>
          <a:ln w="12700">
            <a:solidFill>
              <a:srgbClr val="0B4F5E"/>
            </a:solidFill>
            <a:prstDash val="solid"/>
          </a:ln>
        </p:spPr>
      </p:sp>
      <p:pic>
        <p:nvPicPr>
          <p:cNvPr id="15" name="Image 3" descr="/private/tmp/claude-501/-Users-ghanashyamrkp-AI-Apps/d936947f-11c3-48a0-9610-6ecad037576d/scratchpad/deck/ic/dog-white.png">    </p:cNvPr>
          <p:cNvPicPr>
            <a:picLocks noChangeAspect="1"/>
          </p:cNvPicPr>
          <p:nvPr/>
        </p:nvPicPr>
        <p:blipFill>
          <a:blip r:embed="rId4"/>
          <a:stretch>
            <a:fillRect/>
          </a:stretch>
        </p:blipFill>
        <p:spPr>
          <a:xfrm>
            <a:off x="2771775" y="4169664"/>
            <a:ext cx="365760" cy="365760"/>
          </a:xfrm>
          <a:prstGeom prst="rect">
            <a:avLst/>
          </a:prstGeom>
        </p:spPr>
      </p:pic>
      <p:sp>
        <p:nvSpPr>
          <p:cNvPr id="16" name="Shape 10"/>
          <p:cNvSpPr/>
          <p:nvPr/>
        </p:nvSpPr>
        <p:spPr>
          <a:xfrm>
            <a:off x="3319729" y="4023360"/>
            <a:ext cx="583844" cy="658368"/>
          </a:xfrm>
          <a:prstGeom prst="roundRect">
            <a:avLst>
              <a:gd name="adj" fmla="val 9397"/>
            </a:avLst>
          </a:prstGeom>
          <a:solidFill>
            <a:srgbClr val="0B4F5E"/>
          </a:solidFill>
          <a:ln w="12700">
            <a:solidFill>
              <a:srgbClr val="0B4F5E"/>
            </a:solidFill>
            <a:prstDash val="solid"/>
          </a:ln>
        </p:spPr>
      </p:sp>
      <p:pic>
        <p:nvPicPr>
          <p:cNvPr id="17" name="Image 4" descr="/private/tmp/claude-501/-Users-ghanashyamrkp-AI-Apps/d936947f-11c3-48a0-9610-6ecad037576d/scratchpad/deck/ic/dog-white.png">    </p:cNvPr>
          <p:cNvPicPr>
            <a:picLocks noChangeAspect="1"/>
          </p:cNvPicPr>
          <p:nvPr/>
        </p:nvPicPr>
        <p:blipFill>
          <a:blip r:embed="rId5"/>
          <a:stretch>
            <a:fillRect/>
          </a:stretch>
        </p:blipFill>
        <p:spPr>
          <a:xfrm>
            <a:off x="3428771" y="4169664"/>
            <a:ext cx="365760" cy="365760"/>
          </a:xfrm>
          <a:prstGeom prst="rect">
            <a:avLst/>
          </a:prstGeom>
        </p:spPr>
      </p:pic>
      <p:sp>
        <p:nvSpPr>
          <p:cNvPr id="18" name="Shape 11"/>
          <p:cNvSpPr/>
          <p:nvPr/>
        </p:nvSpPr>
        <p:spPr>
          <a:xfrm>
            <a:off x="3976726" y="4023360"/>
            <a:ext cx="583844" cy="658368"/>
          </a:xfrm>
          <a:prstGeom prst="roundRect">
            <a:avLst>
              <a:gd name="adj" fmla="val 9397"/>
            </a:avLst>
          </a:prstGeom>
          <a:solidFill>
            <a:srgbClr val="0B4F5E"/>
          </a:solidFill>
          <a:ln w="12700">
            <a:solidFill>
              <a:srgbClr val="0B4F5E"/>
            </a:solidFill>
            <a:prstDash val="solid"/>
          </a:ln>
        </p:spPr>
      </p:sp>
      <p:pic>
        <p:nvPicPr>
          <p:cNvPr id="19" name="Image 5" descr="/private/tmp/claude-501/-Users-ghanashyamrkp-AI-Apps/d936947f-11c3-48a0-9610-6ecad037576d/scratchpad/deck/ic/dog-white.png">    </p:cNvPr>
          <p:cNvPicPr>
            <a:picLocks noChangeAspect="1"/>
          </p:cNvPicPr>
          <p:nvPr/>
        </p:nvPicPr>
        <p:blipFill>
          <a:blip r:embed="rId6"/>
          <a:stretch>
            <a:fillRect/>
          </a:stretch>
        </p:blipFill>
        <p:spPr>
          <a:xfrm>
            <a:off x="4085768" y="4169664"/>
            <a:ext cx="365760" cy="365760"/>
          </a:xfrm>
          <a:prstGeom prst="rect">
            <a:avLst/>
          </a:prstGeom>
        </p:spPr>
      </p:pic>
      <p:sp>
        <p:nvSpPr>
          <p:cNvPr id="20" name="Text 12"/>
          <p:cNvSpPr txBox="1"/>
          <p:nvPr/>
        </p:nvSpPr>
        <p:spPr>
          <a:xfrm>
            <a:off x="134874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21" name="Text 13"/>
          <p:cNvSpPr txBox="1"/>
          <p:nvPr/>
        </p:nvSpPr>
        <p:spPr>
          <a:xfrm>
            <a:off x="134874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22" name="Shape 14"/>
          <p:cNvSpPr/>
          <p:nvPr/>
        </p:nvSpPr>
        <p:spPr>
          <a:xfrm>
            <a:off x="1348740" y="5577840"/>
            <a:ext cx="3211830" cy="658368"/>
          </a:xfrm>
          <a:prstGeom prst="roundRect">
            <a:avLst>
              <a:gd name="adj" fmla="val 8333"/>
            </a:avLst>
          </a:prstGeom>
          <a:solidFill>
            <a:srgbClr val="FFFFFF"/>
          </a:solidFill>
          <a:ln w="12700">
            <a:solidFill>
              <a:srgbClr val="FFFFFF"/>
            </a:solidFill>
            <a:prstDash val="solid"/>
          </a:ln>
        </p:spPr>
      </p:sp>
      <p:pic>
        <p:nvPicPr>
          <p:cNvPr id="23" name="Image 6" descr="/private/tmp/claude-501/-Users-ghanashyamrkp-AI-Apps/d936947f-11c3-48a0-9610-6ecad037576d/scratchpad/deck/wave_teal.png">    </p:cNvPr>
          <p:cNvPicPr>
            <a:picLocks noChangeAspect="1"/>
          </p:cNvPicPr>
          <p:nvPr/>
        </p:nvPicPr>
        <p:blipFill>
          <a:blip r:embed="rId7"/>
          <a:stretch>
            <a:fillRect/>
          </a:stretch>
        </p:blipFill>
        <p:spPr>
          <a:xfrm>
            <a:off x="1440180" y="5623560"/>
            <a:ext cx="3028950" cy="566928"/>
          </a:xfrm>
          <a:prstGeom prst="rect">
            <a:avLst/>
          </a:prstGeom>
        </p:spPr>
      </p:pic>
      <p:sp>
        <p:nvSpPr>
          <p:cNvPr id="24" name="Text 15"/>
          <p:cNvSpPr txBox="1"/>
          <p:nvPr/>
        </p:nvSpPr>
        <p:spPr>
          <a:xfrm>
            <a:off x="134874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Its own barking</a:t>
            </a:r>
            <a:endParaRPr lang="en-US" sz="1400" dirty="0"/>
          </a:p>
        </p:txBody>
      </p:sp>
      <p:sp>
        <p:nvSpPr>
          <p:cNvPr id="25" name="Text 16"/>
          <p:cNvSpPr txBox="1"/>
          <p:nvPr/>
        </p:nvSpPr>
        <p:spPr>
          <a:xfrm>
            <a:off x="134874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MATCH</a:t>
            </a:r>
            <a:endParaRPr lang="en-US" sz="1400" dirty="0"/>
          </a:p>
        </p:txBody>
      </p:sp>
      <p:sp>
        <p:nvSpPr>
          <p:cNvPr id="26" name="Text 17"/>
          <p:cNvSpPr txBox="1"/>
          <p:nvPr/>
        </p:nvSpPr>
        <p:spPr>
          <a:xfrm>
            <a:off x="134874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The original, synchronised clip.</a:t>
            </a:r>
            <a:endParaRPr lang="en-US" sz="1450" dirty="0"/>
          </a:p>
        </p:txBody>
      </p:sp>
      <p:sp>
        <p:nvSpPr>
          <p:cNvPr id="27" name="Shape 18"/>
          <p:cNvSpPr/>
          <p:nvPr/>
        </p:nvSpPr>
        <p:spPr>
          <a:xfrm>
            <a:off x="5154930" y="2697480"/>
            <a:ext cx="3851910" cy="5486400"/>
          </a:xfrm>
          <a:prstGeom prst="roundRect">
            <a:avLst>
              <a:gd name="adj" fmla="val 3323"/>
            </a:avLst>
          </a:prstGeom>
          <a:solidFill>
            <a:srgbClr val="EEF1F2"/>
          </a:solidFill>
          <a:ln w="12700">
            <a:solidFill>
              <a:srgbClr val="EEF1F2"/>
            </a:solidFill>
            <a:prstDash val="solid"/>
          </a:ln>
        </p:spPr>
      </p:sp>
      <p:sp>
        <p:nvSpPr>
          <p:cNvPr id="28" name="Shape 19"/>
          <p:cNvSpPr/>
          <p:nvPr/>
        </p:nvSpPr>
        <p:spPr>
          <a:xfrm>
            <a:off x="5474970" y="3017520"/>
            <a:ext cx="3211830" cy="402336"/>
          </a:xfrm>
          <a:prstGeom prst="roundRect">
            <a:avLst>
              <a:gd name="adj" fmla="val 50000"/>
            </a:avLst>
          </a:prstGeom>
          <a:solidFill>
            <a:srgbClr val="C2410C"/>
          </a:solidFill>
          <a:ln w="12700">
            <a:solidFill>
              <a:srgbClr val="C2410C"/>
            </a:solidFill>
            <a:prstDash val="solid"/>
          </a:ln>
        </p:spPr>
      </p:sp>
      <p:sp>
        <p:nvSpPr>
          <p:cNvPr id="29" name="Text 20"/>
          <p:cNvSpPr txBox="1"/>
          <p:nvPr/>
        </p:nvSpPr>
        <p:spPr>
          <a:xfrm>
            <a:off x="547497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EASY NEGATIVE</a:t>
            </a:r>
            <a:endParaRPr lang="en-US" sz="1250" dirty="0"/>
          </a:p>
        </p:txBody>
      </p:sp>
      <p:sp>
        <p:nvSpPr>
          <p:cNvPr id="30" name="Text 21"/>
          <p:cNvSpPr txBox="1"/>
          <p:nvPr/>
        </p:nvSpPr>
        <p:spPr>
          <a:xfrm>
            <a:off x="547497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31" name="Shape 22"/>
          <p:cNvSpPr/>
          <p:nvPr/>
        </p:nvSpPr>
        <p:spPr>
          <a:xfrm>
            <a:off x="5474970" y="4023360"/>
            <a:ext cx="583844" cy="658368"/>
          </a:xfrm>
          <a:prstGeom prst="roundRect">
            <a:avLst>
              <a:gd name="adj" fmla="val 9397"/>
            </a:avLst>
          </a:prstGeom>
          <a:solidFill>
            <a:srgbClr val="0B4F5E"/>
          </a:solidFill>
          <a:ln w="12700">
            <a:solidFill>
              <a:srgbClr val="0B4F5E"/>
            </a:solidFill>
            <a:prstDash val="solid"/>
          </a:ln>
        </p:spPr>
      </p:sp>
      <p:pic>
        <p:nvPicPr>
          <p:cNvPr id="32" name="Image 7" descr="/private/tmp/claude-501/-Users-ghanashyamrkp-AI-Apps/d936947f-11c3-48a0-9610-6ecad037576d/scratchpad/deck/ic/dog-white.png">    </p:cNvPr>
          <p:cNvPicPr>
            <a:picLocks noChangeAspect="1"/>
          </p:cNvPicPr>
          <p:nvPr/>
        </p:nvPicPr>
        <p:blipFill>
          <a:blip r:embed="rId8"/>
          <a:stretch>
            <a:fillRect/>
          </a:stretch>
        </p:blipFill>
        <p:spPr>
          <a:xfrm>
            <a:off x="5584012" y="4169664"/>
            <a:ext cx="365760" cy="365760"/>
          </a:xfrm>
          <a:prstGeom prst="rect">
            <a:avLst/>
          </a:prstGeom>
        </p:spPr>
      </p:pic>
      <p:sp>
        <p:nvSpPr>
          <p:cNvPr id="33" name="Shape 23"/>
          <p:cNvSpPr/>
          <p:nvPr/>
        </p:nvSpPr>
        <p:spPr>
          <a:xfrm>
            <a:off x="6131966" y="4023360"/>
            <a:ext cx="583844" cy="658368"/>
          </a:xfrm>
          <a:prstGeom prst="roundRect">
            <a:avLst>
              <a:gd name="adj" fmla="val 9397"/>
            </a:avLst>
          </a:prstGeom>
          <a:solidFill>
            <a:srgbClr val="0B4F5E"/>
          </a:solidFill>
          <a:ln w="12700">
            <a:solidFill>
              <a:srgbClr val="0B4F5E"/>
            </a:solidFill>
            <a:prstDash val="solid"/>
          </a:ln>
        </p:spPr>
      </p:sp>
      <p:pic>
        <p:nvPicPr>
          <p:cNvPr id="34" name="Image 8" descr="/private/tmp/claude-501/-Users-ghanashyamrkp-AI-Apps/d936947f-11c3-48a0-9610-6ecad037576d/scratchpad/deck/ic/dog-white.png">    </p:cNvPr>
          <p:cNvPicPr>
            <a:picLocks noChangeAspect="1"/>
          </p:cNvPicPr>
          <p:nvPr/>
        </p:nvPicPr>
        <p:blipFill>
          <a:blip r:embed="rId9"/>
          <a:stretch>
            <a:fillRect/>
          </a:stretch>
        </p:blipFill>
        <p:spPr>
          <a:xfrm>
            <a:off x="6241009" y="4169664"/>
            <a:ext cx="365760" cy="365760"/>
          </a:xfrm>
          <a:prstGeom prst="rect">
            <a:avLst/>
          </a:prstGeom>
        </p:spPr>
      </p:pic>
      <p:sp>
        <p:nvSpPr>
          <p:cNvPr id="35" name="Shape 24"/>
          <p:cNvSpPr/>
          <p:nvPr/>
        </p:nvSpPr>
        <p:spPr>
          <a:xfrm>
            <a:off x="6788963" y="4023360"/>
            <a:ext cx="583844" cy="658368"/>
          </a:xfrm>
          <a:prstGeom prst="roundRect">
            <a:avLst>
              <a:gd name="adj" fmla="val 9397"/>
            </a:avLst>
          </a:prstGeom>
          <a:solidFill>
            <a:srgbClr val="0B4F5E"/>
          </a:solidFill>
          <a:ln w="12700">
            <a:solidFill>
              <a:srgbClr val="0B4F5E"/>
            </a:solidFill>
            <a:prstDash val="solid"/>
          </a:ln>
        </p:spPr>
      </p:sp>
      <p:pic>
        <p:nvPicPr>
          <p:cNvPr id="36" name="Image 9" descr="/private/tmp/claude-501/-Users-ghanashyamrkp-AI-Apps/d936947f-11c3-48a0-9610-6ecad037576d/scratchpad/deck/ic/dog-white.png">    </p:cNvPr>
          <p:cNvPicPr>
            <a:picLocks noChangeAspect="1"/>
          </p:cNvPicPr>
          <p:nvPr/>
        </p:nvPicPr>
        <p:blipFill>
          <a:blip r:embed="rId10"/>
          <a:stretch>
            <a:fillRect/>
          </a:stretch>
        </p:blipFill>
        <p:spPr>
          <a:xfrm>
            <a:off x="6898005" y="4169664"/>
            <a:ext cx="365760" cy="365760"/>
          </a:xfrm>
          <a:prstGeom prst="rect">
            <a:avLst/>
          </a:prstGeom>
        </p:spPr>
      </p:pic>
      <p:sp>
        <p:nvSpPr>
          <p:cNvPr id="37" name="Shape 25"/>
          <p:cNvSpPr/>
          <p:nvPr/>
        </p:nvSpPr>
        <p:spPr>
          <a:xfrm>
            <a:off x="7445959" y="4023360"/>
            <a:ext cx="583844" cy="658368"/>
          </a:xfrm>
          <a:prstGeom prst="roundRect">
            <a:avLst>
              <a:gd name="adj" fmla="val 9397"/>
            </a:avLst>
          </a:prstGeom>
          <a:solidFill>
            <a:srgbClr val="0B4F5E"/>
          </a:solidFill>
          <a:ln w="12700">
            <a:solidFill>
              <a:srgbClr val="0B4F5E"/>
            </a:solidFill>
            <a:prstDash val="solid"/>
          </a:ln>
        </p:spPr>
      </p:sp>
      <p:pic>
        <p:nvPicPr>
          <p:cNvPr id="38" name="Image 10" descr="/private/tmp/claude-501/-Users-ghanashyamrkp-AI-Apps/d936947f-11c3-48a0-9610-6ecad037576d/scratchpad/deck/ic/dog-white.png">    </p:cNvPr>
          <p:cNvPicPr>
            <a:picLocks noChangeAspect="1"/>
          </p:cNvPicPr>
          <p:nvPr/>
        </p:nvPicPr>
        <p:blipFill>
          <a:blip r:embed="rId11"/>
          <a:stretch>
            <a:fillRect/>
          </a:stretch>
        </p:blipFill>
        <p:spPr>
          <a:xfrm>
            <a:off x="7555001" y="4169664"/>
            <a:ext cx="365760" cy="365760"/>
          </a:xfrm>
          <a:prstGeom prst="rect">
            <a:avLst/>
          </a:prstGeom>
        </p:spPr>
      </p:pic>
      <p:sp>
        <p:nvSpPr>
          <p:cNvPr id="39" name="Shape 26"/>
          <p:cNvSpPr/>
          <p:nvPr/>
        </p:nvSpPr>
        <p:spPr>
          <a:xfrm>
            <a:off x="8102956" y="4023360"/>
            <a:ext cx="583844" cy="658368"/>
          </a:xfrm>
          <a:prstGeom prst="roundRect">
            <a:avLst>
              <a:gd name="adj" fmla="val 9397"/>
            </a:avLst>
          </a:prstGeom>
          <a:solidFill>
            <a:srgbClr val="0B4F5E"/>
          </a:solidFill>
          <a:ln w="12700">
            <a:solidFill>
              <a:srgbClr val="0B4F5E"/>
            </a:solidFill>
            <a:prstDash val="solid"/>
          </a:ln>
        </p:spPr>
      </p:sp>
      <p:pic>
        <p:nvPicPr>
          <p:cNvPr id="40" name="Image 11" descr="/private/tmp/claude-501/-Users-ghanashyamrkp-AI-Apps/d936947f-11c3-48a0-9610-6ecad037576d/scratchpad/deck/ic/dog-white.png">    </p:cNvPr>
          <p:cNvPicPr>
            <a:picLocks noChangeAspect="1"/>
          </p:cNvPicPr>
          <p:nvPr/>
        </p:nvPicPr>
        <p:blipFill>
          <a:blip r:embed="rId12"/>
          <a:stretch>
            <a:fillRect/>
          </a:stretch>
        </p:blipFill>
        <p:spPr>
          <a:xfrm>
            <a:off x="8211998" y="4169664"/>
            <a:ext cx="365760" cy="365760"/>
          </a:xfrm>
          <a:prstGeom prst="rect">
            <a:avLst/>
          </a:prstGeom>
        </p:spPr>
      </p:pic>
      <p:sp>
        <p:nvSpPr>
          <p:cNvPr id="41" name="Text 27"/>
          <p:cNvSpPr txBox="1"/>
          <p:nvPr/>
        </p:nvSpPr>
        <p:spPr>
          <a:xfrm>
            <a:off x="547497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42" name="Text 28"/>
          <p:cNvSpPr txBox="1"/>
          <p:nvPr/>
        </p:nvSpPr>
        <p:spPr>
          <a:xfrm>
            <a:off x="547497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43" name="Shape 29"/>
          <p:cNvSpPr/>
          <p:nvPr/>
        </p:nvSpPr>
        <p:spPr>
          <a:xfrm>
            <a:off x="5474970" y="5577840"/>
            <a:ext cx="3211830" cy="658368"/>
          </a:xfrm>
          <a:prstGeom prst="roundRect">
            <a:avLst>
              <a:gd name="adj" fmla="val 8333"/>
            </a:avLst>
          </a:prstGeom>
          <a:solidFill>
            <a:srgbClr val="FFFFFF"/>
          </a:solidFill>
          <a:ln w="12700">
            <a:solidFill>
              <a:srgbClr val="FFFFFF"/>
            </a:solidFill>
            <a:prstDash val="solid"/>
          </a:ln>
        </p:spPr>
      </p:sp>
      <p:pic>
        <p:nvPicPr>
          <p:cNvPr id="44" name="Image 12" descr="/private/tmp/claude-501/-Users-ghanashyamrkp-AI-Apps/d936947f-11c3-48a0-9610-6ecad037576d/scratchpad/deck/wave_red.png">    </p:cNvPr>
          <p:cNvPicPr>
            <a:picLocks noChangeAspect="1"/>
          </p:cNvPicPr>
          <p:nvPr/>
        </p:nvPicPr>
        <p:blipFill>
          <a:blip r:embed="rId13"/>
          <a:stretch>
            <a:fillRect/>
          </a:stretch>
        </p:blipFill>
        <p:spPr>
          <a:xfrm>
            <a:off x="5566410" y="5623560"/>
            <a:ext cx="3028950" cy="566928"/>
          </a:xfrm>
          <a:prstGeom prst="rect">
            <a:avLst/>
          </a:prstGeom>
        </p:spPr>
      </p:pic>
      <p:sp>
        <p:nvSpPr>
          <p:cNvPr id="45" name="Text 30"/>
          <p:cNvSpPr txBox="1"/>
          <p:nvPr/>
        </p:nvSpPr>
        <p:spPr>
          <a:xfrm>
            <a:off x="547497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Siren from another clip</a:t>
            </a:r>
            <a:endParaRPr lang="en-US" sz="1400" dirty="0"/>
          </a:p>
        </p:txBody>
      </p:sp>
      <p:sp>
        <p:nvSpPr>
          <p:cNvPr id="46" name="Text 31"/>
          <p:cNvSpPr txBox="1"/>
          <p:nvPr/>
        </p:nvSpPr>
        <p:spPr>
          <a:xfrm>
            <a:off x="547497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47" name="Text 32"/>
          <p:cNvSpPr txBox="1"/>
          <p:nvPr/>
        </p:nvSpPr>
        <p:spPr>
          <a:xfrm>
            <a:off x="547497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Different category. Easy to reject.</a:t>
            </a:r>
            <a:endParaRPr lang="en-US" sz="1450" dirty="0"/>
          </a:p>
        </p:txBody>
      </p:sp>
      <p:sp>
        <p:nvSpPr>
          <p:cNvPr id="48" name="Shape 33"/>
          <p:cNvSpPr/>
          <p:nvPr/>
        </p:nvSpPr>
        <p:spPr>
          <a:xfrm>
            <a:off x="9281160" y="2697480"/>
            <a:ext cx="3851910" cy="5486400"/>
          </a:xfrm>
          <a:prstGeom prst="roundRect">
            <a:avLst>
              <a:gd name="adj" fmla="val 3323"/>
            </a:avLst>
          </a:prstGeom>
          <a:solidFill>
            <a:srgbClr val="EEF1F2"/>
          </a:solidFill>
          <a:ln w="12700">
            <a:solidFill>
              <a:srgbClr val="EEF1F2"/>
            </a:solidFill>
            <a:prstDash val="solid"/>
          </a:ln>
        </p:spPr>
      </p:sp>
      <p:sp>
        <p:nvSpPr>
          <p:cNvPr id="49" name="Shape 34"/>
          <p:cNvSpPr/>
          <p:nvPr/>
        </p:nvSpPr>
        <p:spPr>
          <a:xfrm>
            <a:off x="9601200" y="3017520"/>
            <a:ext cx="3211830" cy="402336"/>
          </a:xfrm>
          <a:prstGeom prst="roundRect">
            <a:avLst>
              <a:gd name="adj" fmla="val 50000"/>
            </a:avLst>
          </a:prstGeom>
          <a:solidFill>
            <a:srgbClr val="B57A0E"/>
          </a:solidFill>
          <a:ln w="12700">
            <a:solidFill>
              <a:srgbClr val="B57A0E"/>
            </a:solidFill>
            <a:prstDash val="solid"/>
          </a:ln>
        </p:spPr>
      </p:sp>
      <p:sp>
        <p:nvSpPr>
          <p:cNvPr id="50" name="Text 35"/>
          <p:cNvSpPr txBox="1"/>
          <p:nvPr/>
        </p:nvSpPr>
        <p:spPr>
          <a:xfrm>
            <a:off x="960120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HARD NEGATIVE</a:t>
            </a:r>
            <a:endParaRPr lang="en-US" sz="1250" dirty="0"/>
          </a:p>
        </p:txBody>
      </p:sp>
      <p:sp>
        <p:nvSpPr>
          <p:cNvPr id="51" name="Text 36"/>
          <p:cNvSpPr txBox="1"/>
          <p:nvPr/>
        </p:nvSpPr>
        <p:spPr>
          <a:xfrm>
            <a:off x="960120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52" name="Shape 37"/>
          <p:cNvSpPr/>
          <p:nvPr/>
        </p:nvSpPr>
        <p:spPr>
          <a:xfrm>
            <a:off x="9601200" y="4023360"/>
            <a:ext cx="583844" cy="658368"/>
          </a:xfrm>
          <a:prstGeom prst="roundRect">
            <a:avLst>
              <a:gd name="adj" fmla="val 9397"/>
            </a:avLst>
          </a:prstGeom>
          <a:solidFill>
            <a:srgbClr val="0B4F5E"/>
          </a:solidFill>
          <a:ln w="12700">
            <a:solidFill>
              <a:srgbClr val="0B4F5E"/>
            </a:solidFill>
            <a:prstDash val="solid"/>
          </a:ln>
        </p:spPr>
      </p:sp>
      <p:pic>
        <p:nvPicPr>
          <p:cNvPr id="53" name="Image 13" descr="/private/tmp/claude-501/-Users-ghanashyamrkp-AI-Apps/d936947f-11c3-48a0-9610-6ecad037576d/scratchpad/deck/ic/guitar-white.png">    </p:cNvPr>
          <p:cNvPicPr>
            <a:picLocks noChangeAspect="1"/>
          </p:cNvPicPr>
          <p:nvPr/>
        </p:nvPicPr>
        <p:blipFill>
          <a:blip r:embed="rId14"/>
          <a:stretch>
            <a:fillRect/>
          </a:stretch>
        </p:blipFill>
        <p:spPr>
          <a:xfrm>
            <a:off x="9710242" y="4169664"/>
            <a:ext cx="365760" cy="365760"/>
          </a:xfrm>
          <a:prstGeom prst="rect">
            <a:avLst/>
          </a:prstGeom>
        </p:spPr>
      </p:pic>
      <p:sp>
        <p:nvSpPr>
          <p:cNvPr id="54" name="Shape 38"/>
          <p:cNvSpPr/>
          <p:nvPr/>
        </p:nvSpPr>
        <p:spPr>
          <a:xfrm>
            <a:off x="10258196" y="4023360"/>
            <a:ext cx="583844" cy="658368"/>
          </a:xfrm>
          <a:prstGeom prst="roundRect">
            <a:avLst>
              <a:gd name="adj" fmla="val 9397"/>
            </a:avLst>
          </a:prstGeom>
          <a:solidFill>
            <a:srgbClr val="0B4F5E"/>
          </a:solidFill>
          <a:ln w="12700">
            <a:solidFill>
              <a:srgbClr val="0B4F5E"/>
            </a:solidFill>
            <a:prstDash val="solid"/>
          </a:ln>
        </p:spPr>
      </p:sp>
      <p:pic>
        <p:nvPicPr>
          <p:cNvPr id="55" name="Image 14" descr="/private/tmp/claude-501/-Users-ghanashyamrkp-AI-Apps/d936947f-11c3-48a0-9610-6ecad037576d/scratchpad/deck/ic/guitar-white.png">    </p:cNvPr>
          <p:cNvPicPr>
            <a:picLocks noChangeAspect="1"/>
          </p:cNvPicPr>
          <p:nvPr/>
        </p:nvPicPr>
        <p:blipFill>
          <a:blip r:embed="rId15"/>
          <a:stretch>
            <a:fillRect/>
          </a:stretch>
        </p:blipFill>
        <p:spPr>
          <a:xfrm>
            <a:off x="10367239" y="4169664"/>
            <a:ext cx="365760" cy="365760"/>
          </a:xfrm>
          <a:prstGeom prst="rect">
            <a:avLst/>
          </a:prstGeom>
        </p:spPr>
      </p:pic>
      <p:sp>
        <p:nvSpPr>
          <p:cNvPr id="56" name="Shape 39"/>
          <p:cNvSpPr/>
          <p:nvPr/>
        </p:nvSpPr>
        <p:spPr>
          <a:xfrm>
            <a:off x="10915193" y="4023360"/>
            <a:ext cx="583844" cy="658368"/>
          </a:xfrm>
          <a:prstGeom prst="roundRect">
            <a:avLst>
              <a:gd name="adj" fmla="val 9397"/>
            </a:avLst>
          </a:prstGeom>
          <a:solidFill>
            <a:srgbClr val="0B4F5E"/>
          </a:solidFill>
          <a:ln w="12700">
            <a:solidFill>
              <a:srgbClr val="0B4F5E"/>
            </a:solidFill>
            <a:prstDash val="solid"/>
          </a:ln>
        </p:spPr>
      </p:sp>
      <p:pic>
        <p:nvPicPr>
          <p:cNvPr id="57" name="Image 15" descr="/private/tmp/claude-501/-Users-ghanashyamrkp-AI-Apps/d936947f-11c3-48a0-9610-6ecad037576d/scratchpad/deck/ic/guitar-white.png">    </p:cNvPr>
          <p:cNvPicPr>
            <a:picLocks noChangeAspect="1"/>
          </p:cNvPicPr>
          <p:nvPr/>
        </p:nvPicPr>
        <p:blipFill>
          <a:blip r:embed="rId16"/>
          <a:stretch>
            <a:fillRect/>
          </a:stretch>
        </p:blipFill>
        <p:spPr>
          <a:xfrm>
            <a:off x="11024235" y="4169664"/>
            <a:ext cx="365760" cy="365760"/>
          </a:xfrm>
          <a:prstGeom prst="rect">
            <a:avLst/>
          </a:prstGeom>
        </p:spPr>
      </p:pic>
      <p:sp>
        <p:nvSpPr>
          <p:cNvPr id="58" name="Shape 40"/>
          <p:cNvSpPr/>
          <p:nvPr/>
        </p:nvSpPr>
        <p:spPr>
          <a:xfrm>
            <a:off x="11572189" y="4023360"/>
            <a:ext cx="583844" cy="658368"/>
          </a:xfrm>
          <a:prstGeom prst="roundRect">
            <a:avLst>
              <a:gd name="adj" fmla="val 9397"/>
            </a:avLst>
          </a:prstGeom>
          <a:solidFill>
            <a:srgbClr val="0B4F5E"/>
          </a:solidFill>
          <a:ln w="12700">
            <a:solidFill>
              <a:srgbClr val="0B4F5E"/>
            </a:solidFill>
            <a:prstDash val="solid"/>
          </a:ln>
        </p:spPr>
      </p:sp>
      <p:pic>
        <p:nvPicPr>
          <p:cNvPr id="59" name="Image 16" descr="/private/tmp/claude-501/-Users-ghanashyamrkp-AI-Apps/d936947f-11c3-48a0-9610-6ecad037576d/scratchpad/deck/ic/guitar-white.png">    </p:cNvPr>
          <p:cNvPicPr>
            <a:picLocks noChangeAspect="1"/>
          </p:cNvPicPr>
          <p:nvPr/>
        </p:nvPicPr>
        <p:blipFill>
          <a:blip r:embed="rId17"/>
          <a:stretch>
            <a:fillRect/>
          </a:stretch>
        </p:blipFill>
        <p:spPr>
          <a:xfrm>
            <a:off x="11681231" y="4169664"/>
            <a:ext cx="365760" cy="365760"/>
          </a:xfrm>
          <a:prstGeom prst="rect">
            <a:avLst/>
          </a:prstGeom>
        </p:spPr>
      </p:pic>
      <p:sp>
        <p:nvSpPr>
          <p:cNvPr id="60" name="Shape 41"/>
          <p:cNvSpPr/>
          <p:nvPr/>
        </p:nvSpPr>
        <p:spPr>
          <a:xfrm>
            <a:off x="12229186" y="4023360"/>
            <a:ext cx="583844" cy="658368"/>
          </a:xfrm>
          <a:prstGeom prst="roundRect">
            <a:avLst>
              <a:gd name="adj" fmla="val 9397"/>
            </a:avLst>
          </a:prstGeom>
          <a:solidFill>
            <a:srgbClr val="0B4F5E"/>
          </a:solidFill>
          <a:ln w="12700">
            <a:solidFill>
              <a:srgbClr val="0B4F5E"/>
            </a:solidFill>
            <a:prstDash val="solid"/>
          </a:ln>
        </p:spPr>
      </p:sp>
      <p:pic>
        <p:nvPicPr>
          <p:cNvPr id="61" name="Image 17" descr="/private/tmp/claude-501/-Users-ghanashyamrkp-AI-Apps/d936947f-11c3-48a0-9610-6ecad037576d/scratchpad/deck/ic/guitar-white.png">    </p:cNvPr>
          <p:cNvPicPr>
            <a:picLocks noChangeAspect="1"/>
          </p:cNvPicPr>
          <p:nvPr/>
        </p:nvPicPr>
        <p:blipFill>
          <a:blip r:embed="rId18"/>
          <a:stretch>
            <a:fillRect/>
          </a:stretch>
        </p:blipFill>
        <p:spPr>
          <a:xfrm>
            <a:off x="12338228" y="4169664"/>
            <a:ext cx="365760" cy="365760"/>
          </a:xfrm>
          <a:prstGeom prst="rect">
            <a:avLst/>
          </a:prstGeom>
        </p:spPr>
      </p:pic>
      <p:sp>
        <p:nvSpPr>
          <p:cNvPr id="62" name="Text 42"/>
          <p:cNvSpPr txBox="1"/>
          <p:nvPr/>
        </p:nvSpPr>
        <p:spPr>
          <a:xfrm>
            <a:off x="960120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Guitar video</a:t>
            </a:r>
            <a:endParaRPr lang="en-US" sz="1400" dirty="0"/>
          </a:p>
        </p:txBody>
      </p:sp>
      <p:sp>
        <p:nvSpPr>
          <p:cNvPr id="63" name="Text 43"/>
          <p:cNvSpPr txBox="1"/>
          <p:nvPr/>
        </p:nvSpPr>
        <p:spPr>
          <a:xfrm>
            <a:off x="960120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64" name="Shape 44"/>
          <p:cNvSpPr/>
          <p:nvPr/>
        </p:nvSpPr>
        <p:spPr>
          <a:xfrm>
            <a:off x="9601200" y="5577840"/>
            <a:ext cx="3211830" cy="658368"/>
          </a:xfrm>
          <a:prstGeom prst="roundRect">
            <a:avLst>
              <a:gd name="adj" fmla="val 8333"/>
            </a:avLst>
          </a:prstGeom>
          <a:solidFill>
            <a:srgbClr val="FFFFFF"/>
          </a:solidFill>
          <a:ln w="12700">
            <a:solidFill>
              <a:srgbClr val="FFFFFF"/>
            </a:solidFill>
            <a:prstDash val="solid"/>
          </a:ln>
        </p:spPr>
      </p:sp>
      <p:pic>
        <p:nvPicPr>
          <p:cNvPr id="65" name="Image 18" descr="/private/tmp/claude-501/-Users-ghanashyamrkp-AI-Apps/d936947f-11c3-48a0-9610-6ecad037576d/scratchpad/deck/wave_amber.png">    </p:cNvPr>
          <p:cNvPicPr>
            <a:picLocks noChangeAspect="1"/>
          </p:cNvPicPr>
          <p:nvPr/>
        </p:nvPicPr>
        <p:blipFill>
          <a:blip r:embed="rId19"/>
          <a:stretch>
            <a:fillRect/>
          </a:stretch>
        </p:blipFill>
        <p:spPr>
          <a:xfrm>
            <a:off x="9692640" y="5623560"/>
            <a:ext cx="3028950" cy="566928"/>
          </a:xfrm>
          <a:prstGeom prst="rect">
            <a:avLst/>
          </a:prstGeom>
        </p:spPr>
      </p:pic>
      <p:sp>
        <p:nvSpPr>
          <p:cNvPr id="66" name="Text 45"/>
          <p:cNvSpPr txBox="1"/>
          <p:nvPr/>
        </p:nvSpPr>
        <p:spPr>
          <a:xfrm>
            <a:off x="960120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Banjo from another clip</a:t>
            </a:r>
            <a:endParaRPr lang="en-US" sz="1400" dirty="0"/>
          </a:p>
        </p:txBody>
      </p:sp>
      <p:sp>
        <p:nvSpPr>
          <p:cNvPr id="67" name="Text 46"/>
          <p:cNvSpPr txBox="1"/>
          <p:nvPr/>
        </p:nvSpPr>
        <p:spPr>
          <a:xfrm>
            <a:off x="960120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68" name="Text 47"/>
          <p:cNvSpPr txBox="1"/>
          <p:nvPr/>
        </p:nvSpPr>
        <p:spPr>
          <a:xfrm>
            <a:off x="960120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Similar-sounding category: guitar, banjo, ukulele, mandolin; truck and bus.</a:t>
            </a:r>
            <a:endParaRPr lang="en-US" sz="1450" dirty="0"/>
          </a:p>
        </p:txBody>
      </p:sp>
      <p:sp>
        <p:nvSpPr>
          <p:cNvPr id="69" name="Shape 48"/>
          <p:cNvSpPr/>
          <p:nvPr/>
        </p:nvSpPr>
        <p:spPr>
          <a:xfrm>
            <a:off x="13407390" y="2697480"/>
            <a:ext cx="3851910" cy="5486400"/>
          </a:xfrm>
          <a:prstGeom prst="roundRect">
            <a:avLst>
              <a:gd name="adj" fmla="val 3323"/>
            </a:avLst>
          </a:prstGeom>
          <a:solidFill>
            <a:srgbClr val="EEF1F2"/>
          </a:solidFill>
          <a:ln w="12700">
            <a:solidFill>
              <a:srgbClr val="EEF1F2"/>
            </a:solidFill>
            <a:prstDash val="solid"/>
          </a:ln>
        </p:spPr>
      </p:sp>
      <p:sp>
        <p:nvSpPr>
          <p:cNvPr id="70" name="Shape 49"/>
          <p:cNvSpPr/>
          <p:nvPr/>
        </p:nvSpPr>
        <p:spPr>
          <a:xfrm>
            <a:off x="13727430" y="3017520"/>
            <a:ext cx="3211830" cy="402336"/>
          </a:xfrm>
          <a:prstGeom prst="roundRect">
            <a:avLst>
              <a:gd name="adj" fmla="val 50000"/>
            </a:avLst>
          </a:prstGeom>
          <a:solidFill>
            <a:srgbClr val="6B4FA0"/>
          </a:solidFill>
          <a:ln w="12700">
            <a:solidFill>
              <a:srgbClr val="6B4FA0"/>
            </a:solidFill>
            <a:prstDash val="solid"/>
          </a:ln>
        </p:spPr>
      </p:sp>
      <p:sp>
        <p:nvSpPr>
          <p:cNvPr id="71" name="Text 50"/>
          <p:cNvSpPr txBox="1"/>
          <p:nvPr/>
        </p:nvSpPr>
        <p:spPr>
          <a:xfrm>
            <a:off x="1372743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TIME-SHIFTED</a:t>
            </a:r>
            <a:endParaRPr lang="en-US" sz="1250" dirty="0"/>
          </a:p>
        </p:txBody>
      </p:sp>
      <p:sp>
        <p:nvSpPr>
          <p:cNvPr id="72" name="Text 51"/>
          <p:cNvSpPr txBox="1"/>
          <p:nvPr/>
        </p:nvSpPr>
        <p:spPr>
          <a:xfrm>
            <a:off x="1372743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73" name="Shape 52"/>
          <p:cNvSpPr/>
          <p:nvPr/>
        </p:nvSpPr>
        <p:spPr>
          <a:xfrm>
            <a:off x="13727430" y="4023360"/>
            <a:ext cx="583844" cy="658368"/>
          </a:xfrm>
          <a:prstGeom prst="roundRect">
            <a:avLst>
              <a:gd name="adj" fmla="val 9397"/>
            </a:avLst>
          </a:prstGeom>
          <a:solidFill>
            <a:srgbClr val="0B4F5E"/>
          </a:solidFill>
          <a:ln w="12700">
            <a:solidFill>
              <a:srgbClr val="0B4F5E"/>
            </a:solidFill>
            <a:prstDash val="solid"/>
          </a:ln>
        </p:spPr>
      </p:sp>
      <p:pic>
        <p:nvPicPr>
          <p:cNvPr id="74" name="Image 19" descr="/private/tmp/claude-501/-Users-ghanashyamrkp-AI-Apps/d936947f-11c3-48a0-9610-6ecad037576d/scratchpad/deck/ic/dog-white.png">    </p:cNvPr>
          <p:cNvPicPr>
            <a:picLocks noChangeAspect="1"/>
          </p:cNvPicPr>
          <p:nvPr/>
        </p:nvPicPr>
        <p:blipFill>
          <a:blip r:embed="rId20"/>
          <a:stretch>
            <a:fillRect/>
          </a:stretch>
        </p:blipFill>
        <p:spPr>
          <a:xfrm>
            <a:off x="13836472" y="4169664"/>
            <a:ext cx="365760" cy="365760"/>
          </a:xfrm>
          <a:prstGeom prst="rect">
            <a:avLst/>
          </a:prstGeom>
        </p:spPr>
      </p:pic>
      <p:sp>
        <p:nvSpPr>
          <p:cNvPr id="75" name="Shape 53"/>
          <p:cNvSpPr/>
          <p:nvPr/>
        </p:nvSpPr>
        <p:spPr>
          <a:xfrm>
            <a:off x="14384426" y="4023360"/>
            <a:ext cx="583844" cy="658368"/>
          </a:xfrm>
          <a:prstGeom prst="roundRect">
            <a:avLst>
              <a:gd name="adj" fmla="val 9397"/>
            </a:avLst>
          </a:prstGeom>
          <a:solidFill>
            <a:srgbClr val="0B4F5E"/>
          </a:solidFill>
          <a:ln w="12700">
            <a:solidFill>
              <a:srgbClr val="0B4F5E"/>
            </a:solidFill>
            <a:prstDash val="solid"/>
          </a:ln>
        </p:spPr>
      </p:sp>
      <p:pic>
        <p:nvPicPr>
          <p:cNvPr id="76" name="Image 20" descr="/private/tmp/claude-501/-Users-ghanashyamrkp-AI-Apps/d936947f-11c3-48a0-9610-6ecad037576d/scratchpad/deck/ic/dog-white.png">    </p:cNvPr>
          <p:cNvPicPr>
            <a:picLocks noChangeAspect="1"/>
          </p:cNvPicPr>
          <p:nvPr/>
        </p:nvPicPr>
        <p:blipFill>
          <a:blip r:embed="rId21"/>
          <a:stretch>
            <a:fillRect/>
          </a:stretch>
        </p:blipFill>
        <p:spPr>
          <a:xfrm>
            <a:off x="14493469" y="4169664"/>
            <a:ext cx="365760" cy="365760"/>
          </a:xfrm>
          <a:prstGeom prst="rect">
            <a:avLst/>
          </a:prstGeom>
        </p:spPr>
      </p:pic>
      <p:sp>
        <p:nvSpPr>
          <p:cNvPr id="77" name="Shape 54"/>
          <p:cNvSpPr/>
          <p:nvPr/>
        </p:nvSpPr>
        <p:spPr>
          <a:xfrm>
            <a:off x="15041423" y="4023360"/>
            <a:ext cx="583844" cy="658368"/>
          </a:xfrm>
          <a:prstGeom prst="roundRect">
            <a:avLst>
              <a:gd name="adj" fmla="val 9397"/>
            </a:avLst>
          </a:prstGeom>
          <a:solidFill>
            <a:srgbClr val="0B4F5E"/>
          </a:solidFill>
          <a:ln w="12700">
            <a:solidFill>
              <a:srgbClr val="0B4F5E"/>
            </a:solidFill>
            <a:prstDash val="solid"/>
          </a:ln>
        </p:spPr>
      </p:sp>
      <p:pic>
        <p:nvPicPr>
          <p:cNvPr id="78" name="Image 21" descr="/private/tmp/claude-501/-Users-ghanashyamrkp-AI-Apps/d936947f-11c3-48a0-9610-6ecad037576d/scratchpad/deck/ic/dog-white.png">    </p:cNvPr>
          <p:cNvPicPr>
            <a:picLocks noChangeAspect="1"/>
          </p:cNvPicPr>
          <p:nvPr/>
        </p:nvPicPr>
        <p:blipFill>
          <a:blip r:embed="rId22"/>
          <a:stretch>
            <a:fillRect/>
          </a:stretch>
        </p:blipFill>
        <p:spPr>
          <a:xfrm>
            <a:off x="15150465" y="4169664"/>
            <a:ext cx="365760" cy="365760"/>
          </a:xfrm>
          <a:prstGeom prst="rect">
            <a:avLst/>
          </a:prstGeom>
        </p:spPr>
      </p:pic>
      <p:sp>
        <p:nvSpPr>
          <p:cNvPr id="79" name="Shape 55"/>
          <p:cNvSpPr/>
          <p:nvPr/>
        </p:nvSpPr>
        <p:spPr>
          <a:xfrm>
            <a:off x="15698419" y="4023360"/>
            <a:ext cx="583844" cy="658368"/>
          </a:xfrm>
          <a:prstGeom prst="roundRect">
            <a:avLst>
              <a:gd name="adj" fmla="val 9397"/>
            </a:avLst>
          </a:prstGeom>
          <a:solidFill>
            <a:srgbClr val="0B4F5E"/>
          </a:solidFill>
          <a:ln w="12700">
            <a:solidFill>
              <a:srgbClr val="0B4F5E"/>
            </a:solidFill>
            <a:prstDash val="solid"/>
          </a:ln>
        </p:spPr>
      </p:sp>
      <p:pic>
        <p:nvPicPr>
          <p:cNvPr id="80" name="Image 22" descr="/private/tmp/claude-501/-Users-ghanashyamrkp-AI-Apps/d936947f-11c3-48a0-9610-6ecad037576d/scratchpad/deck/ic/dog-white.png">    </p:cNvPr>
          <p:cNvPicPr>
            <a:picLocks noChangeAspect="1"/>
          </p:cNvPicPr>
          <p:nvPr/>
        </p:nvPicPr>
        <p:blipFill>
          <a:blip r:embed="rId23"/>
          <a:stretch>
            <a:fillRect/>
          </a:stretch>
        </p:blipFill>
        <p:spPr>
          <a:xfrm>
            <a:off x="15807461" y="4169664"/>
            <a:ext cx="365760" cy="365760"/>
          </a:xfrm>
          <a:prstGeom prst="rect">
            <a:avLst/>
          </a:prstGeom>
        </p:spPr>
      </p:pic>
      <p:sp>
        <p:nvSpPr>
          <p:cNvPr id="81" name="Shape 56"/>
          <p:cNvSpPr/>
          <p:nvPr/>
        </p:nvSpPr>
        <p:spPr>
          <a:xfrm>
            <a:off x="16355416" y="4023360"/>
            <a:ext cx="583844" cy="658368"/>
          </a:xfrm>
          <a:prstGeom prst="roundRect">
            <a:avLst>
              <a:gd name="adj" fmla="val 9397"/>
            </a:avLst>
          </a:prstGeom>
          <a:solidFill>
            <a:srgbClr val="0B4F5E"/>
          </a:solidFill>
          <a:ln w="12700">
            <a:solidFill>
              <a:srgbClr val="0B4F5E"/>
            </a:solidFill>
            <a:prstDash val="solid"/>
          </a:ln>
        </p:spPr>
      </p:sp>
      <p:pic>
        <p:nvPicPr>
          <p:cNvPr id="82" name="Image 23" descr="/private/tmp/claude-501/-Users-ghanashyamrkp-AI-Apps/d936947f-11c3-48a0-9610-6ecad037576d/scratchpad/deck/ic/dog-white.png">    </p:cNvPr>
          <p:cNvPicPr>
            <a:picLocks noChangeAspect="1"/>
          </p:cNvPicPr>
          <p:nvPr/>
        </p:nvPicPr>
        <p:blipFill>
          <a:blip r:embed="rId24"/>
          <a:stretch>
            <a:fillRect/>
          </a:stretch>
        </p:blipFill>
        <p:spPr>
          <a:xfrm>
            <a:off x="16464458" y="4169664"/>
            <a:ext cx="365760" cy="365760"/>
          </a:xfrm>
          <a:prstGeom prst="rect">
            <a:avLst/>
          </a:prstGeom>
        </p:spPr>
      </p:pic>
      <p:sp>
        <p:nvSpPr>
          <p:cNvPr id="83" name="Text 57"/>
          <p:cNvSpPr txBox="1"/>
          <p:nvPr/>
        </p:nvSpPr>
        <p:spPr>
          <a:xfrm>
            <a:off x="1372743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84" name="Text 58"/>
          <p:cNvSpPr txBox="1"/>
          <p:nvPr/>
        </p:nvSpPr>
        <p:spPr>
          <a:xfrm>
            <a:off x="1372743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85" name="Shape 59"/>
          <p:cNvSpPr/>
          <p:nvPr/>
        </p:nvSpPr>
        <p:spPr>
          <a:xfrm>
            <a:off x="13727430" y="5577840"/>
            <a:ext cx="3211830" cy="658368"/>
          </a:xfrm>
          <a:prstGeom prst="roundRect">
            <a:avLst>
              <a:gd name="adj" fmla="val 8333"/>
            </a:avLst>
          </a:prstGeom>
          <a:solidFill>
            <a:srgbClr val="FFFFFF"/>
          </a:solidFill>
          <a:ln w="12700">
            <a:solidFill>
              <a:srgbClr val="FFFFFF"/>
            </a:solidFill>
            <a:prstDash val="solid"/>
          </a:ln>
        </p:spPr>
      </p:sp>
      <p:pic>
        <p:nvPicPr>
          <p:cNvPr id="86" name="Image 24" descr="/private/tmp/claude-501/-Users-ghanashyamrkp-AI-Apps/d936947f-11c3-48a0-9610-6ecad037576d/scratchpad/deck/wave_purple.png">    </p:cNvPr>
          <p:cNvPicPr>
            <a:picLocks noChangeAspect="1"/>
          </p:cNvPicPr>
          <p:nvPr/>
        </p:nvPicPr>
        <p:blipFill>
          <a:blip r:embed="rId25"/>
          <a:stretch>
            <a:fillRect/>
          </a:stretch>
        </p:blipFill>
        <p:spPr>
          <a:xfrm>
            <a:off x="14321790" y="5623560"/>
            <a:ext cx="2526030" cy="566928"/>
          </a:xfrm>
          <a:prstGeom prst="rect">
            <a:avLst/>
          </a:prstGeom>
        </p:spPr>
      </p:pic>
      <p:sp>
        <p:nvSpPr>
          <p:cNvPr id="87" name="Text 60"/>
          <p:cNvSpPr txBox="1"/>
          <p:nvPr/>
        </p:nvSpPr>
        <p:spPr>
          <a:xfrm>
            <a:off x="1372743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Its own audio, 3 s late</a:t>
            </a:r>
            <a:endParaRPr lang="en-US" sz="1400" dirty="0"/>
          </a:p>
        </p:txBody>
      </p:sp>
      <p:sp>
        <p:nvSpPr>
          <p:cNvPr id="88" name="Text 61"/>
          <p:cNvSpPr txBox="1"/>
          <p:nvPr/>
        </p:nvSpPr>
        <p:spPr>
          <a:xfrm>
            <a:off x="1372743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89" name="Text 62"/>
          <p:cNvSpPr txBox="1"/>
          <p:nvPr/>
        </p:nvSpPr>
        <p:spPr>
          <a:xfrm>
            <a:off x="1372743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Right sound, wrong moment. Tests timing.</a:t>
            </a:r>
            <a:endParaRPr lang="en-US" sz="1450" dirty="0"/>
          </a:p>
        </p:txBody>
      </p:sp>
      <p:sp>
        <p:nvSpPr>
          <p:cNvPr id="90" name="Shape 63"/>
          <p:cNvSpPr/>
          <p:nvPr/>
        </p:nvSpPr>
        <p:spPr>
          <a:xfrm>
            <a:off x="1028700" y="8412480"/>
            <a:ext cx="16230600" cy="1005840"/>
          </a:xfrm>
          <a:prstGeom prst="roundRect">
            <a:avLst>
              <a:gd name="adj" fmla="val 12727"/>
            </a:avLst>
          </a:prstGeom>
          <a:solidFill>
            <a:srgbClr val="E3F4F6"/>
          </a:solidFill>
          <a:ln w="12700">
            <a:solidFill>
              <a:srgbClr val="E3F4F6"/>
            </a:solidFill>
            <a:prstDash val="solid"/>
          </a:ln>
        </p:spPr>
      </p:sp>
      <p:sp>
        <p:nvSpPr>
          <p:cNvPr id="91" name="Text 64"/>
          <p:cNvSpPr txBox="1"/>
          <p:nvPr/>
        </p:nvSpPr>
        <p:spPr>
          <a:xfrm>
            <a:off x="1440180" y="8412480"/>
            <a:ext cx="15407640" cy="1005840"/>
          </a:xfrm>
          <a:prstGeom prst="rect">
            <a:avLst/>
          </a:prstGeom>
          <a:noFill/>
          <a:ln/>
        </p:spPr>
        <p:txBody>
          <a:bodyPr wrap="square" lIns="0" tIns="0" rIns="0" bIns="0" rtlCol="0" anchor="ctr"/>
          <a:lstStyle/>
          <a:p>
            <a:pPr indent="0" marL="0">
              <a:buNone/>
            </a:pPr>
            <a:r>
              <a:rPr lang="en-US" sz="1500" b="1" dirty="0">
                <a:solidFill>
                  <a:srgbClr val="0E5C70"/>
                </a:solidFill>
                <a:latin typeface="Inter 1 Bold" pitchFamily="34" charset="0"/>
                <a:ea typeface="Inter 1 Bold" pitchFamily="34" charset="-122"/>
                <a:cs typeface="Inter 1 Bold" pitchFamily="34" charset="-120"/>
              </a:rPr>
              <a:t>Why the hard cases matter:  </a:t>
            </a:r>
            <a:pPr indent="0" marL="0">
              <a:buNone/>
            </a:pPr>
            <a:r>
              <a:rPr lang="en-US" sz="1500" dirty="0">
                <a:solidFill>
                  <a:srgbClr val="202020"/>
                </a:solidFill>
                <a:latin typeface="Inter 1" pitchFamily="34" charset="0"/>
                <a:ea typeface="Inter 1" pitchFamily="34" charset="-122"/>
                <a:cs typeface="Inter 1" pitchFamily="34" charset="-120"/>
              </a:rPr>
              <a:t>with easy negatives alone, a model can pass by checking whether two category labels agree. Similar sounds and time shifts make it use the actual audio-visual evidence. Audio swapping follows Look, Listen and Learn [6]; time shifts follow [7][8].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Builds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Two well-known papers supply our building blocks. What we add is the question, the evaluation and the system.</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08</a:t>
            </a:r>
            <a:endParaRPr lang="en-US" sz="1050" dirty="0"/>
          </a:p>
        </p:txBody>
      </p:sp>
      <p:sp>
        <p:nvSpPr>
          <p:cNvPr id="6" name="Shape 3"/>
          <p:cNvSpPr/>
          <p:nvPr/>
        </p:nvSpPr>
        <p:spPr>
          <a:xfrm>
            <a:off x="1028700" y="2697480"/>
            <a:ext cx="5196840" cy="6035040"/>
          </a:xfrm>
          <a:prstGeom prst="roundRect">
            <a:avLst>
              <a:gd name="adj" fmla="val 2463"/>
            </a:avLst>
          </a:prstGeom>
          <a:solidFill>
            <a:srgbClr val="EEF1F2"/>
          </a:solidFill>
          <a:ln w="12700">
            <a:solidFill>
              <a:srgbClr val="EEF1F2"/>
            </a:solidFill>
            <a:prstDash val="solid"/>
          </a:ln>
        </p:spPr>
      </p:sp>
      <p:sp>
        <p:nvSpPr>
          <p:cNvPr id="7" name="Text 4"/>
          <p:cNvSpPr txBox="1"/>
          <p:nvPr/>
        </p:nvSpPr>
        <p:spPr>
          <a:xfrm>
            <a:off x="1394460" y="3017520"/>
            <a:ext cx="4465320" cy="777240"/>
          </a:xfrm>
          <a:prstGeom prst="rect">
            <a:avLst/>
          </a:prstGeom>
          <a:noFill/>
          <a:ln/>
        </p:spPr>
        <p:txBody>
          <a:bodyPr wrap="square" lIns="0" tIns="0" rIns="0" bIns="0" rtlCol="0" anchor="t"/>
          <a:lstStyle/>
          <a:p>
            <a:pPr indent="0" marL="0">
              <a:lnSpc>
                <a:spcPct val="105000"/>
              </a:lnSpc>
              <a:buNone/>
            </a:pPr>
            <a:r>
              <a:rPr lang="en-US" sz="1700" b="1" dirty="0">
                <a:solidFill>
                  <a:srgbClr val="202020"/>
                </a:solidFill>
                <a:latin typeface="Inter 1 Bold" pitchFamily="34" charset="0"/>
                <a:ea typeface="Inter 1 Bold" pitchFamily="34" charset="-122"/>
                <a:cs typeface="Inter 1 Bold" pitchFamily="34" charset="-120"/>
              </a:rPr>
              <a:t>AVE  ·  Tian et al., ECCV 2018  [1]</a:t>
            </a:r>
            <a:endParaRPr lang="en-US" sz="1700" dirty="0"/>
          </a:p>
        </p:txBody>
      </p:sp>
      <p:sp>
        <p:nvSpPr>
          <p:cNvPr id="8" name="Text 5"/>
          <p:cNvSpPr txBox="1"/>
          <p:nvPr/>
        </p:nvSpPr>
        <p:spPr>
          <a:xfrm>
            <a:off x="1394460" y="3977640"/>
            <a:ext cx="4465320" cy="457200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WHAT IT DOES</a:t>
            </a:r>
            <a:endParaRPr lang="en-US" sz="1150" dirty="0"/>
          </a:p>
          <a:p>
            <a:pPr indent="0" marL="0">
              <a:lnSpc>
                <a:spcPct val="112000"/>
              </a:lnSpc>
              <a:spcBef>
                <a:spcPts val="400"/>
              </a:spcBef>
              <a:buNone/>
            </a:pPr>
            <a:r>
              <a:rPr lang="en-US" sz="1800" dirty="0">
                <a:solidFill>
                  <a:srgbClr val="202020"/>
                </a:solidFill>
                <a:latin typeface="Inter 1" pitchFamily="34" charset="0"/>
                <a:ea typeface="Inter 1" pitchFamily="34" charset="-122"/>
                <a:cs typeface="Inter 1" pitchFamily="34" charset="-120"/>
              </a:rPr>
              <a:t>Labels every second of a clip with its event or “background”, and finds where a piece of audio lines up in the video.</a:t>
            </a:r>
            <a:endParaRPr lang="en-US" sz="1150" dirty="0"/>
          </a:p>
          <a:p>
            <a:pPr indent="0" marL="0">
              <a:lnSpc>
                <a:spcPct val="112000"/>
              </a:lnSpc>
              <a:spcBef>
                <a:spcPts val="1800"/>
              </a:spcBef>
              <a:buNone/>
            </a:pPr>
            <a:r>
              <a:rPr lang="en-US" sz="1150" b="1" spc="120" kern="0" dirty="0">
                <a:solidFill>
                  <a:srgbClr val="0097B2"/>
                </a:solidFill>
                <a:latin typeface="Inter 1 Bold" pitchFamily="34" charset="0"/>
                <a:ea typeface="Inter 1 Bold" pitchFamily="34" charset="-122"/>
                <a:cs typeface="Inter 1 Bold" pitchFamily="34" charset="-120"/>
              </a:rPr>
              <a:t>WHAT WE TAKE</a:t>
            </a:r>
            <a:endParaRPr lang="en-US" sz="1150" dirty="0"/>
          </a:p>
          <a:p>
            <a:pPr indent="0" marL="0">
              <a:lnSpc>
                <a:spcPct val="112000"/>
              </a:lnSpc>
              <a:spcBef>
                <a:spcPts val="400"/>
              </a:spcBef>
              <a:buNone/>
            </a:pPr>
            <a:r>
              <a:rPr lang="en-US" sz="1800" dirty="0">
                <a:solidFill>
                  <a:srgbClr val="202020"/>
                </a:solidFill>
                <a:latin typeface="Inter 1" pitchFamily="34" charset="0"/>
                <a:ea typeface="Inter 1" pitchFamily="34" charset="-122"/>
                <a:cs typeface="Inter 1" pitchFamily="34" charset="-120"/>
              </a:rPr>
              <a:t>The AVE dataset and split; the per-second event task (our heads 1 and 2); the finding that audio and video together beat either alone.</a:t>
            </a:r>
            <a:endParaRPr lang="en-US" sz="1150" dirty="0"/>
          </a:p>
        </p:txBody>
      </p:sp>
      <p:sp>
        <p:nvSpPr>
          <p:cNvPr id="9" name="Text 6"/>
          <p:cNvSpPr txBox="1"/>
          <p:nvPr/>
        </p:nvSpPr>
        <p:spPr>
          <a:xfrm>
            <a:off x="6225540" y="5349240"/>
            <a:ext cx="320040" cy="731520"/>
          </a:xfrm>
          <a:prstGeom prst="rect">
            <a:avLst/>
          </a:prstGeom>
          <a:noFill/>
          <a:ln/>
        </p:spPr>
        <p:txBody>
          <a:bodyPr wrap="square" lIns="0" tIns="0" rIns="0" bIns="0" rtlCol="0" anchor="ctr"/>
          <a:lstStyle/>
          <a:p>
            <a:pPr algn="ctr" indent="0" marL="0">
              <a:buNone/>
            </a:pPr>
            <a:r>
              <a:rPr lang="en-US" sz="2600" b="1" dirty="0">
                <a:solidFill>
                  <a:srgbClr val="0097B2"/>
                </a:solidFill>
                <a:latin typeface="Inter 1 Bold" pitchFamily="34" charset="0"/>
                <a:ea typeface="Inter 1 Bold" pitchFamily="34" charset="-122"/>
                <a:cs typeface="Inter 1 Bold" pitchFamily="34" charset="-120"/>
              </a:rPr>
              <a:t>+</a:t>
            </a:r>
            <a:endParaRPr lang="en-US" sz="2600" dirty="0"/>
          </a:p>
        </p:txBody>
      </p:sp>
      <p:sp>
        <p:nvSpPr>
          <p:cNvPr id="10" name="Shape 7"/>
          <p:cNvSpPr/>
          <p:nvPr/>
        </p:nvSpPr>
        <p:spPr>
          <a:xfrm>
            <a:off x="6545580" y="2697480"/>
            <a:ext cx="5196840" cy="6035040"/>
          </a:xfrm>
          <a:prstGeom prst="roundRect">
            <a:avLst>
              <a:gd name="adj" fmla="val 2463"/>
            </a:avLst>
          </a:prstGeom>
          <a:solidFill>
            <a:srgbClr val="EEF1F2"/>
          </a:solidFill>
          <a:ln w="12700">
            <a:solidFill>
              <a:srgbClr val="EEF1F2"/>
            </a:solidFill>
            <a:prstDash val="solid"/>
          </a:ln>
        </p:spPr>
      </p:sp>
      <p:sp>
        <p:nvSpPr>
          <p:cNvPr id="11" name="Text 8"/>
          <p:cNvSpPr txBox="1"/>
          <p:nvPr/>
        </p:nvSpPr>
        <p:spPr>
          <a:xfrm>
            <a:off x="6911340" y="3017520"/>
            <a:ext cx="4465320" cy="777240"/>
          </a:xfrm>
          <a:prstGeom prst="rect">
            <a:avLst/>
          </a:prstGeom>
          <a:noFill/>
          <a:ln/>
        </p:spPr>
        <p:txBody>
          <a:bodyPr wrap="square" lIns="0" tIns="0" rIns="0" bIns="0" rtlCol="0" anchor="t"/>
          <a:lstStyle/>
          <a:p>
            <a:pPr indent="0" marL="0">
              <a:lnSpc>
                <a:spcPct val="105000"/>
              </a:lnSpc>
              <a:buNone/>
            </a:pPr>
            <a:r>
              <a:rPr lang="en-US" sz="1700" b="1" dirty="0">
                <a:solidFill>
                  <a:srgbClr val="202020"/>
                </a:solidFill>
                <a:latin typeface="Inter 1 Bold" pitchFamily="34" charset="0"/>
                <a:ea typeface="Inter 1 Bold" pitchFamily="34" charset="-122"/>
                <a:cs typeface="Inter 1 Bold" pitchFamily="34" charset="-120"/>
              </a:rPr>
              <a:t>Look, Listen and Learn  ·  Arandjelović &amp; Zisserman, ICCV 2017  [6]</a:t>
            </a:r>
            <a:endParaRPr lang="en-US" sz="1700" dirty="0"/>
          </a:p>
        </p:txBody>
      </p:sp>
      <p:sp>
        <p:nvSpPr>
          <p:cNvPr id="12" name="Text 9"/>
          <p:cNvSpPr txBox="1"/>
          <p:nvPr/>
        </p:nvSpPr>
        <p:spPr>
          <a:xfrm>
            <a:off x="6911340" y="3977640"/>
            <a:ext cx="4465320" cy="457200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WHAT IT DOES</a:t>
            </a:r>
            <a:endParaRPr lang="en-US" sz="1150" dirty="0"/>
          </a:p>
          <a:p>
            <a:pPr indent="0" marL="0">
              <a:lnSpc>
                <a:spcPct val="112000"/>
              </a:lnSpc>
              <a:spcBef>
                <a:spcPts val="400"/>
              </a:spcBef>
              <a:buNone/>
            </a:pPr>
            <a:r>
              <a:rPr lang="en-US" sz="1800" dirty="0">
                <a:solidFill>
                  <a:srgbClr val="202020"/>
                </a:solidFill>
                <a:latin typeface="Inter 1" pitchFamily="34" charset="0"/>
                <a:ea typeface="Inter 1" pitchFamily="34" charset="-122"/>
                <a:cs typeface="Inter 1" pitchFamily="34" charset="-120"/>
              </a:rPr>
              <a:t>Learns features by asking “do this frame and this sound come from the same video?”, with audio from random other videos as negatives.</a:t>
            </a:r>
            <a:endParaRPr lang="en-US" sz="1150" dirty="0"/>
          </a:p>
          <a:p>
            <a:pPr indent="0" marL="0">
              <a:lnSpc>
                <a:spcPct val="112000"/>
              </a:lnSpc>
              <a:spcBef>
                <a:spcPts val="1800"/>
              </a:spcBef>
              <a:buNone/>
            </a:pPr>
            <a:r>
              <a:rPr lang="en-US" sz="1150" b="1" spc="120" kern="0" dirty="0">
                <a:solidFill>
                  <a:srgbClr val="0097B2"/>
                </a:solidFill>
                <a:latin typeface="Inter 1 Bold" pitchFamily="34" charset="0"/>
                <a:ea typeface="Inter 1 Bold" pitchFamily="34" charset="-122"/>
                <a:cs typeface="Inter 1 Bold" pitchFamily="34" charset="-120"/>
              </a:rPr>
              <a:t>WHAT WE TAKE</a:t>
            </a:r>
            <a:endParaRPr lang="en-US" sz="1150" dirty="0"/>
          </a:p>
          <a:p>
            <a:pPr indent="0" marL="0">
              <a:lnSpc>
                <a:spcPct val="112000"/>
              </a:lnSpc>
              <a:spcBef>
                <a:spcPts val="400"/>
              </a:spcBef>
              <a:buNone/>
            </a:pPr>
            <a:r>
              <a:rPr lang="en-US" sz="1800" dirty="0">
                <a:solidFill>
                  <a:srgbClr val="202020"/>
                </a:solidFill>
                <a:latin typeface="Inter 1" pitchFamily="34" charset="0"/>
                <a:ea typeface="Inter 1" pitchFamily="34" charset="-122"/>
                <a:cs typeface="Inter 1" pitchFamily="34" charset="-120"/>
              </a:rPr>
              <a:t>The correspondence task (our head 3); swapping audio to build negatives; two encoders joined by a small network.</a:t>
            </a:r>
            <a:endParaRPr lang="en-US" sz="1150" dirty="0"/>
          </a:p>
        </p:txBody>
      </p:sp>
      <p:sp>
        <p:nvSpPr>
          <p:cNvPr id="13" name="Text 10"/>
          <p:cNvSpPr txBox="1"/>
          <p:nvPr/>
        </p:nvSpPr>
        <p:spPr>
          <a:xfrm>
            <a:off x="11742420" y="5349240"/>
            <a:ext cx="320040" cy="731520"/>
          </a:xfrm>
          <a:prstGeom prst="rect">
            <a:avLst/>
          </a:prstGeom>
          <a:noFill/>
          <a:ln/>
        </p:spPr>
        <p:txBody>
          <a:bodyPr wrap="square" lIns="0" tIns="0" rIns="0" bIns="0" rtlCol="0" anchor="ctr"/>
          <a:lstStyle/>
          <a:p>
            <a:pPr algn="ctr" indent="0" marL="0">
              <a:buNone/>
            </a:pPr>
            <a:r>
              <a:rPr lang="en-US" sz="2600" b="1" dirty="0">
                <a:solidFill>
                  <a:srgbClr val="0097B2"/>
                </a:solidFill>
                <a:latin typeface="Inter 1 Bold" pitchFamily="34" charset="0"/>
                <a:ea typeface="Inter 1 Bold" pitchFamily="34" charset="-122"/>
                <a:cs typeface="Inter 1 Bold" pitchFamily="34" charset="-120"/>
              </a:rPr>
              <a:t>+</a:t>
            </a:r>
            <a:endParaRPr lang="en-US" sz="2600" dirty="0"/>
          </a:p>
        </p:txBody>
      </p:sp>
      <p:sp>
        <p:nvSpPr>
          <p:cNvPr id="14" name="Shape 11"/>
          <p:cNvSpPr/>
          <p:nvPr/>
        </p:nvSpPr>
        <p:spPr>
          <a:xfrm>
            <a:off x="12062460" y="2697480"/>
            <a:ext cx="5196840" cy="6035040"/>
          </a:xfrm>
          <a:prstGeom prst="roundRect">
            <a:avLst>
              <a:gd name="adj" fmla="val 2463"/>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5" name="Text 12"/>
          <p:cNvSpPr txBox="1"/>
          <p:nvPr/>
        </p:nvSpPr>
        <p:spPr>
          <a:xfrm>
            <a:off x="12428220" y="3017520"/>
            <a:ext cx="4465320" cy="777240"/>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Inter 1 Bold" pitchFamily="34" charset="0"/>
                <a:ea typeface="Inter 1 Bold" pitchFamily="34" charset="-122"/>
                <a:cs typeface="Inter 1 Bold" pitchFamily="34" charset="-120"/>
              </a:rPr>
              <a:t>AValidate  ·  what we add</a:t>
            </a:r>
            <a:endParaRPr lang="en-US" sz="1700" dirty="0"/>
          </a:p>
        </p:txBody>
      </p:sp>
      <p:sp>
        <p:nvSpPr>
          <p:cNvPr id="16" name="Text 13"/>
          <p:cNvSpPr txBox="1"/>
          <p:nvPr/>
        </p:nvSpPr>
        <p:spPr>
          <a:xfrm>
            <a:off x="12428220" y="3977640"/>
            <a:ext cx="4465320" cy="4572000"/>
          </a:xfrm>
          <a:prstGeom prst="rect">
            <a:avLst/>
          </a:prstGeom>
          <a:noFill/>
          <a:ln/>
        </p:spPr>
        <p:txBody>
          <a:bodyPr wrap="square" lIns="0" tIns="0" rIns="0" bIns="0" rtlCol="0" anchor="t"/>
          <a:lstStyle/>
          <a:p>
            <a:pPr indent="0" marL="0">
              <a:lnSpc>
                <a:spcPct val="112000"/>
              </a:lnSpc>
              <a:buNone/>
            </a:pPr>
            <a:r>
              <a:rPr lang="en-US" sz="1150" b="1" spc="120" kern="0" dirty="0">
                <a:solidFill>
                  <a:srgbClr val="FFFFFF"/>
                </a:solidFill>
                <a:latin typeface="Inter 1 Bold" pitchFamily="34" charset="0"/>
                <a:ea typeface="Inter 1 Bold" pitchFamily="34" charset="-122"/>
                <a:cs typeface="Inter 1 Bold" pitchFamily="34" charset="-120"/>
              </a:rPr>
              <a:t>A VERDICT FOR A USER</a:t>
            </a:r>
            <a:endParaRPr lang="en-US" sz="1150" dirty="0"/>
          </a:p>
          <a:p>
            <a:pPr indent="0" marL="0">
              <a:lnSpc>
                <a:spcPct val="112000"/>
              </a:lnSpc>
              <a:spcBef>
                <a:spcPts val="400"/>
              </a:spcBef>
              <a:buNone/>
            </a:pPr>
            <a:r>
              <a:rPr lang="en-US" sz="1800" dirty="0">
                <a:solidFill>
                  <a:srgbClr val="FFFFFF"/>
                </a:solidFill>
                <a:latin typeface="Inter 1" pitchFamily="34" charset="0"/>
                <a:ea typeface="Inter 1" pitchFamily="34" charset="-122"/>
                <a:cs typeface="Inter 1" pitchFamily="34" charset="-120"/>
              </a:rPr>
              <a:t>Strong, uncertain or mismatch, with calibrated confidence. Neither paper calibrates or allows an uncertain answer.</a:t>
            </a:r>
            <a:endParaRPr lang="en-US" sz="1150" dirty="0"/>
          </a:p>
          <a:p>
            <a:pPr indent="0" marL="0">
              <a:lnSpc>
                <a:spcPct val="112000"/>
              </a:lnSpc>
              <a:spcBef>
                <a:spcPts val="1800"/>
              </a:spcBef>
              <a:buNone/>
            </a:pPr>
            <a:r>
              <a:rPr lang="en-US" sz="1150" b="1" spc="120" kern="0" dirty="0">
                <a:solidFill>
                  <a:srgbClr val="FFFFFF"/>
                </a:solidFill>
                <a:latin typeface="Inter 1 Bold" pitchFamily="34" charset="0"/>
                <a:ea typeface="Inter 1 Bold" pitchFamily="34" charset="-122"/>
                <a:cs typeface="Inter 1 Bold" pitchFamily="34" charset="-120"/>
              </a:rPr>
              <a:t>A STRICTER EVALUATION</a:t>
            </a:r>
            <a:endParaRPr lang="en-US" sz="1150" dirty="0"/>
          </a:p>
          <a:p>
            <a:pPr indent="0" marL="0">
              <a:lnSpc>
                <a:spcPct val="112000"/>
              </a:lnSpc>
              <a:spcBef>
                <a:spcPts val="400"/>
              </a:spcBef>
              <a:buNone/>
            </a:pPr>
            <a:r>
              <a:rPr lang="en-US" sz="1800" dirty="0">
                <a:solidFill>
                  <a:srgbClr val="FFFFFF"/>
                </a:solidFill>
                <a:latin typeface="Inter 1" pitchFamily="34" charset="0"/>
                <a:ea typeface="Inter 1" pitchFamily="34" charset="-122"/>
                <a:cs typeface="Inter 1" pitchFamily="34" charset="-120"/>
              </a:rPr>
              <a:t>Label-agreement baseline; easy, hard and time-shifted negatives scored separately; calibration error measured.</a:t>
            </a:r>
            <a:endParaRPr lang="en-US" sz="1150" dirty="0"/>
          </a:p>
          <a:p>
            <a:pPr indent="0" marL="0">
              <a:lnSpc>
                <a:spcPct val="112000"/>
              </a:lnSpc>
              <a:spcBef>
                <a:spcPts val="1800"/>
              </a:spcBef>
              <a:buNone/>
            </a:pPr>
            <a:r>
              <a:rPr lang="en-US" sz="1150" b="1" spc="120" kern="0" dirty="0">
                <a:solidFill>
                  <a:srgbClr val="FFFFFF"/>
                </a:solidFill>
                <a:latin typeface="Inter 1 Bold" pitchFamily="34" charset="0"/>
                <a:ea typeface="Inter 1 Bold" pitchFamily="34" charset="-122"/>
                <a:cs typeface="Inter 1 Bold" pitchFamily="34" charset="-120"/>
              </a:rPr>
              <a:t>A NEWER, UNIFIED MODEL</a:t>
            </a:r>
            <a:endParaRPr lang="en-US" sz="1150" dirty="0"/>
          </a:p>
          <a:p>
            <a:pPr indent="0" marL="0">
              <a:lnSpc>
                <a:spcPct val="112000"/>
              </a:lnSpc>
              <a:spcBef>
                <a:spcPts val="400"/>
              </a:spcBef>
              <a:buNone/>
            </a:pPr>
            <a:r>
              <a:rPr lang="en-US" sz="1800" dirty="0">
                <a:solidFill>
                  <a:srgbClr val="FFFFFF"/>
                </a:solidFill>
                <a:latin typeface="Inter 1" pitchFamily="34" charset="0"/>
                <a:ea typeface="Inter 1" pitchFamily="34" charset="-122"/>
                <a:cs typeface="Inter 1" pitchFamily="34" charset="-120"/>
              </a:rPr>
              <a:t>Pretrained BEATs and CLIP adapted with LoRA; all three heads in one model, with a working demo.</a:t>
            </a:r>
            <a:endParaRPr lang="en-US" sz="1150" dirty="0"/>
          </a:p>
        </p:txBody>
      </p:sp>
      <p:sp>
        <p:nvSpPr>
          <p:cNvPr id="17" name="Text 14"/>
          <p:cNvSpPr txBox="1"/>
          <p:nvPr/>
        </p:nvSpPr>
        <p:spPr>
          <a:xfrm>
            <a:off x="1028700" y="9006840"/>
            <a:ext cx="16230600" cy="320040"/>
          </a:xfrm>
          <a:prstGeom prst="rect">
            <a:avLst/>
          </a:prstGeom>
          <a:noFill/>
          <a:ln/>
        </p:spPr>
        <p:txBody>
          <a:bodyPr wrap="square" lIns="0" tIns="0" rIns="0" bIns="0" rtlCol="0" anchor="t"/>
          <a:lstStyle/>
          <a:p>
            <a:pPr indent="0" marL="0">
              <a:buNone/>
            </a:pPr>
            <a:r>
              <a:rPr lang="en-US" sz="1250" i="1" dirty="0">
                <a:solidFill>
                  <a:srgbClr val="6B7782"/>
                </a:solidFill>
                <a:latin typeface="Inter 1" pitchFamily="34" charset="0"/>
                <a:ea typeface="Inter 1" pitchFamily="34" charset="-122"/>
                <a:cs typeface="Inter 1" pitchFamily="34" charset="-120"/>
              </a:rPr>
              <a:t>Time-shifted negatives follow earlier synchronisation work [7][8]. All sources are cited in the appendix.</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System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Two branches encode each stream on its own; fusion decides whether they belong together.</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09</a:t>
            </a:r>
            <a:endParaRPr lang="en-US" sz="1050" dirty="0"/>
          </a:p>
        </p:txBody>
      </p:sp>
      <p:sp>
        <p:nvSpPr>
          <p:cNvPr id="6" name="Shape 3"/>
          <p:cNvSpPr/>
          <p:nvPr/>
        </p:nvSpPr>
        <p:spPr>
          <a:xfrm>
            <a:off x="1028700" y="4069080"/>
            <a:ext cx="2057400" cy="2377440"/>
          </a:xfrm>
          <a:prstGeom prst="roundRect">
            <a:avLst>
              <a:gd name="adj" fmla="val 5333"/>
            </a:avLst>
          </a:prstGeom>
          <a:solidFill>
            <a:srgbClr val="EEF1F2"/>
          </a:solidFill>
          <a:ln w="12700">
            <a:solidFill>
              <a:srgbClr val="EEF1F2"/>
            </a:solidFill>
            <a:prstDash val="solid"/>
          </a:ln>
        </p:spPr>
      </p:sp>
      <p:sp>
        <p:nvSpPr>
          <p:cNvPr id="7" name="Text 4"/>
          <p:cNvSpPr txBox="1"/>
          <p:nvPr/>
        </p:nvSpPr>
        <p:spPr>
          <a:xfrm>
            <a:off x="1257300" y="4270248"/>
            <a:ext cx="16002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INPUT</a:t>
            </a:r>
            <a:endParaRPr lang="en-US" sz="1000" dirty="0"/>
          </a:p>
        </p:txBody>
      </p:sp>
      <p:sp>
        <p:nvSpPr>
          <p:cNvPr id="8" name="Text 5"/>
          <p:cNvSpPr txBox="1"/>
          <p:nvPr/>
        </p:nvSpPr>
        <p:spPr>
          <a:xfrm>
            <a:off x="1257300" y="4544568"/>
            <a:ext cx="16002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Video clip</a:t>
            </a:r>
            <a:endParaRPr lang="en-US" sz="1700" dirty="0"/>
          </a:p>
        </p:txBody>
      </p:sp>
      <p:sp>
        <p:nvSpPr>
          <p:cNvPr id="9" name="Text 6"/>
          <p:cNvSpPr txBox="1"/>
          <p:nvPr/>
        </p:nvSpPr>
        <p:spPr>
          <a:xfrm>
            <a:off x="1257300" y="4983480"/>
            <a:ext cx="160020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10 s clip, or a live stream later</a:t>
            </a:r>
            <a:endParaRPr lang="en-US" sz="1400" dirty="0"/>
          </a:p>
        </p:txBody>
      </p:sp>
      <p:sp>
        <p:nvSpPr>
          <p:cNvPr id="10" name="Text 7"/>
          <p:cNvSpPr txBox="1"/>
          <p:nvPr/>
        </p:nvSpPr>
        <p:spPr>
          <a:xfrm>
            <a:off x="1257300" y="5989320"/>
            <a:ext cx="160020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audio + frames</a:t>
            </a:r>
            <a:endParaRPr lang="en-US" sz="1300" dirty="0"/>
          </a:p>
        </p:txBody>
      </p:sp>
      <p:sp>
        <p:nvSpPr>
          <p:cNvPr id="11" name="Shape 8"/>
          <p:cNvSpPr/>
          <p:nvPr/>
        </p:nvSpPr>
        <p:spPr>
          <a:xfrm>
            <a:off x="3515868" y="2697480"/>
            <a:ext cx="2788920" cy="2331720"/>
          </a:xfrm>
          <a:prstGeom prst="roundRect">
            <a:avLst>
              <a:gd name="adj" fmla="val 4706"/>
            </a:avLst>
          </a:prstGeom>
          <a:solidFill>
            <a:srgbClr val="EEF1F2"/>
          </a:solidFill>
          <a:ln w="12700">
            <a:solidFill>
              <a:srgbClr val="EEF1F2"/>
            </a:solidFill>
            <a:prstDash val="solid"/>
          </a:ln>
        </p:spPr>
      </p:sp>
      <p:sp>
        <p:nvSpPr>
          <p:cNvPr id="12" name="Text 9"/>
          <p:cNvSpPr txBox="1"/>
          <p:nvPr/>
        </p:nvSpPr>
        <p:spPr>
          <a:xfrm>
            <a:off x="3744468" y="2898648"/>
            <a:ext cx="233172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AUDIO BRANCH</a:t>
            </a:r>
            <a:endParaRPr lang="en-US" sz="1000" dirty="0"/>
          </a:p>
        </p:txBody>
      </p:sp>
      <p:sp>
        <p:nvSpPr>
          <p:cNvPr id="13" name="Text 10"/>
          <p:cNvSpPr txBox="1"/>
          <p:nvPr/>
        </p:nvSpPr>
        <p:spPr>
          <a:xfrm>
            <a:off x="3744468" y="3172968"/>
            <a:ext cx="233172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Audio encoder</a:t>
            </a:r>
            <a:endParaRPr lang="en-US" sz="1700" dirty="0"/>
          </a:p>
        </p:txBody>
      </p:sp>
      <p:sp>
        <p:nvSpPr>
          <p:cNvPr id="14" name="Text 11"/>
          <p:cNvSpPr txBox="1"/>
          <p:nvPr/>
        </p:nvSpPr>
        <p:spPr>
          <a:xfrm>
            <a:off x="3744468" y="3611880"/>
            <a:ext cx="2331720" cy="91440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Features per one-second segment</a:t>
            </a:r>
            <a:endParaRPr lang="en-US" sz="1400" dirty="0"/>
          </a:p>
        </p:txBody>
      </p:sp>
      <p:sp>
        <p:nvSpPr>
          <p:cNvPr id="15" name="Text 12"/>
          <p:cNvSpPr txBox="1"/>
          <p:nvPr/>
        </p:nvSpPr>
        <p:spPr>
          <a:xfrm>
            <a:off x="3744468" y="4572000"/>
            <a:ext cx="233172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10 × D audio</a:t>
            </a:r>
            <a:endParaRPr lang="en-US" sz="1300" dirty="0"/>
          </a:p>
        </p:txBody>
      </p:sp>
      <p:sp>
        <p:nvSpPr>
          <p:cNvPr id="16" name="Shape 13"/>
          <p:cNvSpPr/>
          <p:nvPr/>
        </p:nvSpPr>
        <p:spPr>
          <a:xfrm>
            <a:off x="3515868" y="5486400"/>
            <a:ext cx="2788920" cy="2331720"/>
          </a:xfrm>
          <a:prstGeom prst="roundRect">
            <a:avLst>
              <a:gd name="adj" fmla="val 4706"/>
            </a:avLst>
          </a:prstGeom>
          <a:solidFill>
            <a:srgbClr val="EEF1F2"/>
          </a:solidFill>
          <a:ln w="12700">
            <a:solidFill>
              <a:srgbClr val="EEF1F2"/>
            </a:solidFill>
            <a:prstDash val="solid"/>
          </a:ln>
        </p:spPr>
      </p:sp>
      <p:sp>
        <p:nvSpPr>
          <p:cNvPr id="17" name="Text 14"/>
          <p:cNvSpPr txBox="1"/>
          <p:nvPr/>
        </p:nvSpPr>
        <p:spPr>
          <a:xfrm>
            <a:off x="3744468" y="5687568"/>
            <a:ext cx="233172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VISUAL BRANCH</a:t>
            </a:r>
            <a:endParaRPr lang="en-US" sz="1000" dirty="0"/>
          </a:p>
        </p:txBody>
      </p:sp>
      <p:sp>
        <p:nvSpPr>
          <p:cNvPr id="18" name="Text 15"/>
          <p:cNvSpPr txBox="1"/>
          <p:nvPr/>
        </p:nvSpPr>
        <p:spPr>
          <a:xfrm>
            <a:off x="3744468" y="5961888"/>
            <a:ext cx="233172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Visual encoder</a:t>
            </a:r>
            <a:endParaRPr lang="en-US" sz="1700" dirty="0"/>
          </a:p>
        </p:txBody>
      </p:sp>
      <p:sp>
        <p:nvSpPr>
          <p:cNvPr id="19" name="Text 16"/>
          <p:cNvSpPr txBox="1"/>
          <p:nvPr/>
        </p:nvSpPr>
        <p:spPr>
          <a:xfrm>
            <a:off x="3744468" y="6400800"/>
            <a:ext cx="2331720" cy="91440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Frames sampled at matching timestamps</a:t>
            </a:r>
            <a:endParaRPr lang="en-US" sz="1400" dirty="0"/>
          </a:p>
        </p:txBody>
      </p:sp>
      <p:sp>
        <p:nvSpPr>
          <p:cNvPr id="20" name="Text 17"/>
          <p:cNvSpPr txBox="1"/>
          <p:nvPr/>
        </p:nvSpPr>
        <p:spPr>
          <a:xfrm>
            <a:off x="3744468" y="7360920"/>
            <a:ext cx="233172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10 × D visual</a:t>
            </a:r>
            <a:endParaRPr lang="en-US" sz="1300" dirty="0"/>
          </a:p>
        </p:txBody>
      </p:sp>
      <p:sp>
        <p:nvSpPr>
          <p:cNvPr id="21" name="Shape 18"/>
          <p:cNvSpPr/>
          <p:nvPr/>
        </p:nvSpPr>
        <p:spPr>
          <a:xfrm>
            <a:off x="6734556" y="4069080"/>
            <a:ext cx="2148840" cy="2377440"/>
          </a:xfrm>
          <a:prstGeom prst="roundRect">
            <a:avLst>
              <a:gd name="adj" fmla="val 5106"/>
            </a:avLst>
          </a:prstGeom>
          <a:solidFill>
            <a:srgbClr val="EEF1F2"/>
          </a:solidFill>
          <a:ln w="12700">
            <a:solidFill>
              <a:srgbClr val="EEF1F2"/>
            </a:solidFill>
            <a:prstDash val="solid"/>
          </a:ln>
        </p:spPr>
      </p:sp>
      <p:sp>
        <p:nvSpPr>
          <p:cNvPr id="22" name="Text 19"/>
          <p:cNvSpPr txBox="1"/>
          <p:nvPr/>
        </p:nvSpPr>
        <p:spPr>
          <a:xfrm>
            <a:off x="6963156" y="4270248"/>
            <a:ext cx="169164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ALIGN</a:t>
            </a:r>
            <a:endParaRPr lang="en-US" sz="1000" dirty="0"/>
          </a:p>
        </p:txBody>
      </p:sp>
      <p:sp>
        <p:nvSpPr>
          <p:cNvPr id="23" name="Text 20"/>
          <p:cNvSpPr txBox="1"/>
          <p:nvPr/>
        </p:nvSpPr>
        <p:spPr>
          <a:xfrm>
            <a:off x="6963156" y="4544568"/>
            <a:ext cx="169164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Alignment</a:t>
            </a:r>
            <a:endParaRPr lang="en-US" sz="1700" dirty="0"/>
          </a:p>
        </p:txBody>
      </p:sp>
      <p:sp>
        <p:nvSpPr>
          <p:cNvPr id="24" name="Text 21"/>
          <p:cNvSpPr txBox="1"/>
          <p:nvPr/>
        </p:nvSpPr>
        <p:spPr>
          <a:xfrm>
            <a:off x="6963156" y="4983480"/>
            <a:ext cx="169164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Pair each second of audio with the same second of video</a:t>
            </a:r>
            <a:endParaRPr lang="en-US" sz="1400" dirty="0"/>
          </a:p>
        </p:txBody>
      </p:sp>
      <p:sp>
        <p:nvSpPr>
          <p:cNvPr id="25" name="Text 22"/>
          <p:cNvSpPr txBox="1"/>
          <p:nvPr/>
        </p:nvSpPr>
        <p:spPr>
          <a:xfrm>
            <a:off x="6963156" y="5989320"/>
            <a:ext cx="169164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aligned pairs</a:t>
            </a:r>
            <a:endParaRPr lang="en-US" sz="1300" dirty="0"/>
          </a:p>
        </p:txBody>
      </p:sp>
      <p:sp>
        <p:nvSpPr>
          <p:cNvPr id="26" name="Shape 23"/>
          <p:cNvSpPr/>
          <p:nvPr/>
        </p:nvSpPr>
        <p:spPr>
          <a:xfrm>
            <a:off x="9313164" y="4069080"/>
            <a:ext cx="2377440" cy="2377440"/>
          </a:xfrm>
          <a:prstGeom prst="roundRect">
            <a:avLst>
              <a:gd name="adj" fmla="val 4615"/>
            </a:avLst>
          </a:prstGeom>
          <a:solidFill>
            <a:srgbClr val="0B4F5E"/>
          </a:solidFill>
          <a:ln w="12700">
            <a:solidFill>
              <a:srgbClr val="0B4F5E"/>
            </a:solidFill>
            <a:prstDash val="solid"/>
          </a:ln>
        </p:spPr>
      </p:sp>
      <p:sp>
        <p:nvSpPr>
          <p:cNvPr id="27" name="Text 24"/>
          <p:cNvSpPr txBox="1"/>
          <p:nvPr/>
        </p:nvSpPr>
        <p:spPr>
          <a:xfrm>
            <a:off x="9541764" y="4270248"/>
            <a:ext cx="1920240" cy="256032"/>
          </a:xfrm>
          <a:prstGeom prst="rect">
            <a:avLst/>
          </a:prstGeom>
          <a:noFill/>
          <a:ln/>
        </p:spPr>
        <p:txBody>
          <a:bodyPr wrap="square" lIns="0" tIns="0" rIns="0" bIns="0" rtlCol="0" anchor="t"/>
          <a:lstStyle/>
          <a:p>
            <a:pPr indent="0" marL="0">
              <a:buNone/>
            </a:pPr>
            <a:r>
              <a:rPr lang="en-US" sz="1000" b="1" spc="120" kern="0" dirty="0">
                <a:solidFill>
                  <a:srgbClr val="86DC52"/>
                </a:solidFill>
                <a:latin typeface="Inter 1 Bold" pitchFamily="34" charset="0"/>
                <a:ea typeface="Inter 1 Bold" pitchFamily="34" charset="-122"/>
                <a:cs typeface="Inter 1 Bold" pitchFamily="34" charset="-120"/>
              </a:rPr>
              <a:t>FUSE</a:t>
            </a:r>
            <a:endParaRPr lang="en-US" sz="1000" dirty="0"/>
          </a:p>
        </p:txBody>
      </p:sp>
      <p:sp>
        <p:nvSpPr>
          <p:cNvPr id="28" name="Text 25"/>
          <p:cNvSpPr txBox="1"/>
          <p:nvPr/>
        </p:nvSpPr>
        <p:spPr>
          <a:xfrm>
            <a:off x="9541764" y="4544568"/>
            <a:ext cx="1920240" cy="41148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Fusion module</a:t>
            </a:r>
            <a:endParaRPr lang="en-US" sz="1700" dirty="0"/>
          </a:p>
        </p:txBody>
      </p:sp>
      <p:sp>
        <p:nvSpPr>
          <p:cNvPr id="29" name="Text 26"/>
          <p:cNvSpPr txBox="1"/>
          <p:nvPr/>
        </p:nvSpPr>
        <p:spPr>
          <a:xfrm>
            <a:off x="9541764" y="4983480"/>
            <a:ext cx="1920240" cy="960120"/>
          </a:xfrm>
          <a:prstGeom prst="rect">
            <a:avLst/>
          </a:prstGeom>
          <a:noFill/>
          <a:ln/>
        </p:spPr>
        <p:txBody>
          <a:bodyPr wrap="square" lIns="0" tIns="0" rIns="0" bIns="0" rtlCol="0" anchor="t"/>
          <a:lstStyle/>
          <a:p>
            <a:pPr indent="0" marL="0">
              <a:lnSpc>
                <a:spcPct val="110000"/>
              </a:lnSpc>
              <a:buNone/>
            </a:pPr>
            <a:r>
              <a:rPr lang="en-US" sz="1400" dirty="0">
                <a:solidFill>
                  <a:srgbClr val="D8F1F4"/>
                </a:solidFill>
                <a:latin typeface="Inter 1" pitchFamily="34" charset="0"/>
                <a:ea typeface="Inter 1" pitchFamily="34" charset="-122"/>
                <a:cs typeface="Inter 1" pitchFamily="34" charset="-120"/>
              </a:rPr>
              <a:t>Combine the aligned embeddings into one representation per second</a:t>
            </a:r>
            <a:endParaRPr lang="en-US" sz="1400" dirty="0"/>
          </a:p>
        </p:txBody>
      </p:sp>
      <p:sp>
        <p:nvSpPr>
          <p:cNvPr id="30" name="Text 27"/>
          <p:cNvSpPr txBox="1"/>
          <p:nvPr/>
        </p:nvSpPr>
        <p:spPr>
          <a:xfrm>
            <a:off x="9541764" y="5989320"/>
            <a:ext cx="1920240" cy="292608"/>
          </a:xfrm>
          <a:prstGeom prst="rect">
            <a:avLst/>
          </a:prstGeom>
          <a:noFill/>
          <a:ln/>
        </p:spPr>
        <p:txBody>
          <a:bodyPr wrap="square" lIns="0" tIns="0" rIns="0" bIns="0" rtlCol="0" anchor="t"/>
          <a:lstStyle/>
          <a:p>
            <a:pPr indent="0" marL="0">
              <a:buNone/>
            </a:pPr>
            <a:r>
              <a:rPr lang="en-US" sz="1300" b="1" dirty="0">
                <a:solidFill>
                  <a:srgbClr val="FFFFFF"/>
                </a:solidFill>
                <a:latin typeface="Inter 1 Semi-Bold" pitchFamily="34" charset="0"/>
                <a:ea typeface="Inter 1 Semi-Bold" pitchFamily="34" charset="-122"/>
                <a:cs typeface="Inter 1 Semi-Bold" pitchFamily="34" charset="-120"/>
              </a:rPr>
              <a:t>→ fused features</a:t>
            </a:r>
            <a:endParaRPr lang="en-US" sz="1300" dirty="0"/>
          </a:p>
        </p:txBody>
      </p:sp>
      <p:sp>
        <p:nvSpPr>
          <p:cNvPr id="31" name="Shape 28"/>
          <p:cNvSpPr/>
          <p:nvPr/>
        </p:nvSpPr>
        <p:spPr>
          <a:xfrm>
            <a:off x="12120372" y="2697480"/>
            <a:ext cx="2743200" cy="1554480"/>
          </a:xfrm>
          <a:prstGeom prst="roundRect">
            <a:avLst>
              <a:gd name="adj" fmla="val 7059"/>
            </a:avLst>
          </a:prstGeom>
          <a:solidFill>
            <a:srgbClr val="EEF1F2"/>
          </a:solidFill>
          <a:ln w="12700">
            <a:solidFill>
              <a:srgbClr val="EEF1F2"/>
            </a:solidFill>
            <a:prstDash val="solid"/>
          </a:ln>
        </p:spPr>
      </p:sp>
      <p:sp>
        <p:nvSpPr>
          <p:cNvPr id="32" name="Text 29"/>
          <p:cNvSpPr txBox="1"/>
          <p:nvPr/>
        </p:nvSpPr>
        <p:spPr>
          <a:xfrm>
            <a:off x="12348972" y="2880360"/>
            <a:ext cx="22860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HEAD 1</a:t>
            </a:r>
            <a:endParaRPr lang="en-US" sz="1000" dirty="0"/>
          </a:p>
        </p:txBody>
      </p:sp>
      <p:sp>
        <p:nvSpPr>
          <p:cNvPr id="33" name="Text 30"/>
          <p:cNvSpPr txBox="1"/>
          <p:nvPr/>
        </p:nvSpPr>
        <p:spPr>
          <a:xfrm>
            <a:off x="12348972" y="3154680"/>
            <a:ext cx="22860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Event class</a:t>
            </a:r>
            <a:endParaRPr lang="en-US" sz="1700" dirty="0"/>
          </a:p>
        </p:txBody>
      </p:sp>
      <p:sp>
        <p:nvSpPr>
          <p:cNvPr id="34" name="Text 31"/>
          <p:cNvSpPr txBox="1"/>
          <p:nvPr/>
        </p:nvSpPr>
        <p:spPr>
          <a:xfrm>
            <a:off x="12348972" y="3630168"/>
            <a:ext cx="2286000" cy="457200"/>
          </a:xfrm>
          <a:prstGeom prst="rect">
            <a:avLst/>
          </a:prstGeom>
          <a:noFill/>
          <a:ln/>
        </p:spPr>
        <p:txBody>
          <a:bodyPr wrap="square" lIns="0" tIns="0" rIns="0" bIns="0" rtlCol="0" anchor="t"/>
          <a:lstStyle/>
          <a:p>
            <a:pPr indent="0" marL="0">
              <a:buNone/>
            </a:pPr>
            <a:r>
              <a:rPr lang="en-US" sz="1400" dirty="0">
                <a:solidFill>
                  <a:srgbClr val="4A5560"/>
                </a:solidFill>
                <a:latin typeface="Inter 1" pitchFamily="34" charset="0"/>
                <a:ea typeface="Inter 1" pitchFamily="34" charset="-122"/>
                <a:cs typeface="Inter 1" pitchFamily="34" charset="-120"/>
              </a:rPr>
              <a:t>which of 28 events</a:t>
            </a:r>
            <a:endParaRPr lang="en-US" sz="1400" dirty="0"/>
          </a:p>
        </p:txBody>
      </p:sp>
      <p:sp>
        <p:nvSpPr>
          <p:cNvPr id="35" name="Shape 32"/>
          <p:cNvSpPr/>
          <p:nvPr/>
        </p:nvSpPr>
        <p:spPr>
          <a:xfrm>
            <a:off x="12120372" y="4480560"/>
            <a:ext cx="2743200" cy="1554480"/>
          </a:xfrm>
          <a:prstGeom prst="roundRect">
            <a:avLst>
              <a:gd name="adj" fmla="val 7059"/>
            </a:avLst>
          </a:prstGeom>
          <a:solidFill>
            <a:srgbClr val="EEF1F2"/>
          </a:solidFill>
          <a:ln w="12700">
            <a:solidFill>
              <a:srgbClr val="EEF1F2"/>
            </a:solidFill>
            <a:prstDash val="solid"/>
          </a:ln>
        </p:spPr>
      </p:sp>
      <p:sp>
        <p:nvSpPr>
          <p:cNvPr id="36" name="Text 33"/>
          <p:cNvSpPr txBox="1"/>
          <p:nvPr/>
        </p:nvSpPr>
        <p:spPr>
          <a:xfrm>
            <a:off x="12348972" y="4663440"/>
            <a:ext cx="22860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HEAD 2</a:t>
            </a:r>
            <a:endParaRPr lang="en-US" sz="1000" dirty="0"/>
          </a:p>
        </p:txBody>
      </p:sp>
      <p:sp>
        <p:nvSpPr>
          <p:cNvPr id="37" name="Text 34"/>
          <p:cNvSpPr txBox="1"/>
          <p:nvPr/>
        </p:nvSpPr>
        <p:spPr>
          <a:xfrm>
            <a:off x="12348972" y="4937760"/>
            <a:ext cx="22860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Per-second presence</a:t>
            </a:r>
            <a:endParaRPr lang="en-US" sz="1700" dirty="0"/>
          </a:p>
        </p:txBody>
      </p:sp>
      <p:sp>
        <p:nvSpPr>
          <p:cNvPr id="38" name="Text 35"/>
          <p:cNvSpPr txBox="1"/>
          <p:nvPr/>
        </p:nvSpPr>
        <p:spPr>
          <a:xfrm>
            <a:off x="12348972" y="5413248"/>
            <a:ext cx="2286000" cy="457200"/>
          </a:xfrm>
          <a:prstGeom prst="rect">
            <a:avLst/>
          </a:prstGeom>
          <a:noFill/>
          <a:ln/>
        </p:spPr>
        <p:txBody>
          <a:bodyPr wrap="square" lIns="0" tIns="0" rIns="0" bIns="0" rtlCol="0" anchor="t"/>
          <a:lstStyle/>
          <a:p>
            <a:pPr indent="0" marL="0">
              <a:buNone/>
            </a:pPr>
            <a:r>
              <a:rPr lang="en-US" sz="1400" dirty="0">
                <a:solidFill>
                  <a:srgbClr val="4A5560"/>
                </a:solidFill>
                <a:latin typeface="Inter 1" pitchFamily="34" charset="0"/>
                <a:ea typeface="Inter 1" pitchFamily="34" charset="-122"/>
                <a:cs typeface="Inter 1" pitchFamily="34" charset="-120"/>
              </a:rPr>
              <a:t>audible and visible, each second</a:t>
            </a:r>
            <a:endParaRPr lang="en-US" sz="1400" dirty="0"/>
          </a:p>
        </p:txBody>
      </p:sp>
      <p:sp>
        <p:nvSpPr>
          <p:cNvPr id="39" name="Shape 36"/>
          <p:cNvSpPr/>
          <p:nvPr/>
        </p:nvSpPr>
        <p:spPr>
          <a:xfrm>
            <a:off x="12120372" y="6263640"/>
            <a:ext cx="2743200" cy="1554480"/>
          </a:xfrm>
          <a:prstGeom prst="roundRect">
            <a:avLst>
              <a:gd name="adj" fmla="val 7059"/>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0" name="Text 37"/>
          <p:cNvSpPr txBox="1"/>
          <p:nvPr/>
        </p:nvSpPr>
        <p:spPr>
          <a:xfrm>
            <a:off x="12348972" y="6446520"/>
            <a:ext cx="2286000" cy="256032"/>
          </a:xfrm>
          <a:prstGeom prst="rect">
            <a:avLst/>
          </a:prstGeom>
          <a:noFill/>
          <a:ln/>
        </p:spPr>
        <p:txBody>
          <a:bodyPr wrap="square" lIns="0" tIns="0" rIns="0" bIns="0" rtlCol="0" anchor="t"/>
          <a:lstStyle/>
          <a:p>
            <a:pPr indent="0" marL="0">
              <a:buNone/>
            </a:pPr>
            <a:r>
              <a:rPr lang="en-US" sz="1000" b="1" spc="120" kern="0" dirty="0">
                <a:solidFill>
                  <a:srgbClr val="FFFFFF"/>
                </a:solidFill>
                <a:latin typeface="Inter 1 Bold" pitchFamily="34" charset="0"/>
                <a:ea typeface="Inter 1 Bold" pitchFamily="34" charset="-122"/>
                <a:cs typeface="Inter 1 Bold" pitchFamily="34" charset="-120"/>
              </a:rPr>
              <a:t>HEAD 3</a:t>
            </a:r>
            <a:endParaRPr lang="en-US" sz="1000" dirty="0"/>
          </a:p>
        </p:txBody>
      </p:sp>
      <p:sp>
        <p:nvSpPr>
          <p:cNvPr id="41" name="Text 38"/>
          <p:cNvSpPr txBox="1"/>
          <p:nvPr/>
        </p:nvSpPr>
        <p:spPr>
          <a:xfrm>
            <a:off x="12348972" y="6720840"/>
            <a:ext cx="2286000" cy="41148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Correspondence</a:t>
            </a:r>
            <a:endParaRPr lang="en-US" sz="1700" dirty="0"/>
          </a:p>
        </p:txBody>
      </p:sp>
      <p:sp>
        <p:nvSpPr>
          <p:cNvPr id="42" name="Text 39"/>
          <p:cNvSpPr txBox="1"/>
          <p:nvPr/>
        </p:nvSpPr>
        <p:spPr>
          <a:xfrm>
            <a:off x="12348972" y="7196328"/>
            <a:ext cx="2286000" cy="457200"/>
          </a:xfrm>
          <a:prstGeom prst="rect">
            <a:avLst/>
          </a:prstGeom>
          <a:noFill/>
          <a:ln/>
        </p:spPr>
        <p:txBody>
          <a:bodyPr wrap="square" lIns="0" tIns="0" rIns="0" bIns="0" rtlCol="0" anchor="t"/>
          <a:lstStyle/>
          <a:p>
            <a:pPr indent="0" marL="0">
              <a:buNone/>
            </a:pPr>
            <a:r>
              <a:rPr lang="en-US" sz="1400" dirty="0">
                <a:solidFill>
                  <a:srgbClr val="FFFFFF"/>
                </a:solidFill>
                <a:latin typeface="Inter 1" pitchFamily="34" charset="0"/>
                <a:ea typeface="Inter 1" pitchFamily="34" charset="-122"/>
                <a:cs typeface="Inter 1" pitchFamily="34" charset="-120"/>
              </a:rPr>
              <a:t>match score, 0 to 1</a:t>
            </a:r>
            <a:endParaRPr lang="en-US" sz="1400" dirty="0"/>
          </a:p>
        </p:txBody>
      </p:sp>
      <p:sp>
        <p:nvSpPr>
          <p:cNvPr id="43" name="Shape 40"/>
          <p:cNvSpPr/>
          <p:nvPr/>
        </p:nvSpPr>
        <p:spPr>
          <a:xfrm>
            <a:off x="15293340" y="4069080"/>
            <a:ext cx="2286000" cy="2377440"/>
          </a:xfrm>
          <a:prstGeom prst="roundRect">
            <a:avLst>
              <a:gd name="adj" fmla="val 4800"/>
            </a:avLst>
          </a:prstGeom>
          <a:solidFill>
            <a:srgbClr val="EEF1F2"/>
          </a:solidFill>
          <a:ln w="12700">
            <a:solidFill>
              <a:srgbClr val="EEF1F2"/>
            </a:solidFill>
            <a:prstDash val="solid"/>
          </a:ln>
        </p:spPr>
      </p:sp>
      <p:sp>
        <p:nvSpPr>
          <p:cNvPr id="44" name="Text 41"/>
          <p:cNvSpPr txBox="1"/>
          <p:nvPr/>
        </p:nvSpPr>
        <p:spPr>
          <a:xfrm>
            <a:off x="15521940" y="4270248"/>
            <a:ext cx="18288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OUTPUT</a:t>
            </a:r>
            <a:endParaRPr lang="en-US" sz="1000" dirty="0"/>
          </a:p>
        </p:txBody>
      </p:sp>
      <p:sp>
        <p:nvSpPr>
          <p:cNvPr id="45" name="Text 42"/>
          <p:cNvSpPr txBox="1"/>
          <p:nvPr/>
        </p:nvSpPr>
        <p:spPr>
          <a:xfrm>
            <a:off x="15521940" y="4544568"/>
            <a:ext cx="18288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Demo interface</a:t>
            </a:r>
            <a:endParaRPr lang="en-US" sz="1700" dirty="0"/>
          </a:p>
        </p:txBody>
      </p:sp>
      <p:sp>
        <p:nvSpPr>
          <p:cNvPr id="46" name="Text 43"/>
          <p:cNvSpPr txBox="1"/>
          <p:nvPr/>
        </p:nvSpPr>
        <p:spPr>
          <a:xfrm>
            <a:off x="15521940" y="4983480"/>
            <a:ext cx="182880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Result, confidence bands and a per-second timeline</a:t>
            </a:r>
            <a:endParaRPr lang="en-US" sz="1400" dirty="0"/>
          </a:p>
        </p:txBody>
      </p:sp>
      <p:sp>
        <p:nvSpPr>
          <p:cNvPr id="47" name="Shape 44"/>
          <p:cNvSpPr/>
          <p:nvPr/>
        </p:nvSpPr>
        <p:spPr>
          <a:xfrm>
            <a:off x="3086100" y="5257800"/>
            <a:ext cx="214884" cy="0"/>
          </a:xfrm>
          <a:prstGeom prst="line">
            <a:avLst/>
          </a:prstGeom>
          <a:noFill/>
          <a:ln w="25400">
            <a:solidFill>
              <a:srgbClr val="0097B2"/>
            </a:solidFill>
            <a:prstDash val="solid"/>
          </a:ln>
        </p:spPr>
      </p:sp>
      <p:sp>
        <p:nvSpPr>
          <p:cNvPr id="48" name="Shape 45"/>
          <p:cNvSpPr/>
          <p:nvPr/>
        </p:nvSpPr>
        <p:spPr>
          <a:xfrm>
            <a:off x="3300984" y="3863340"/>
            <a:ext cx="0" cy="2788920"/>
          </a:xfrm>
          <a:prstGeom prst="line">
            <a:avLst/>
          </a:prstGeom>
          <a:noFill/>
          <a:ln w="25400">
            <a:solidFill>
              <a:srgbClr val="0097B2"/>
            </a:solidFill>
            <a:prstDash val="solid"/>
          </a:ln>
        </p:spPr>
      </p:sp>
      <p:sp>
        <p:nvSpPr>
          <p:cNvPr id="49" name="Shape 46"/>
          <p:cNvSpPr/>
          <p:nvPr/>
        </p:nvSpPr>
        <p:spPr>
          <a:xfrm>
            <a:off x="3300984" y="3863340"/>
            <a:ext cx="196596" cy="0"/>
          </a:xfrm>
          <a:prstGeom prst="line">
            <a:avLst/>
          </a:prstGeom>
          <a:noFill/>
          <a:ln w="25400">
            <a:solidFill>
              <a:srgbClr val="0097B2"/>
            </a:solidFill>
            <a:prstDash val="solid"/>
            <a:tailEnd type="triangle"/>
          </a:ln>
        </p:spPr>
      </p:sp>
      <p:sp>
        <p:nvSpPr>
          <p:cNvPr id="50" name="Shape 47"/>
          <p:cNvSpPr/>
          <p:nvPr/>
        </p:nvSpPr>
        <p:spPr>
          <a:xfrm>
            <a:off x="3300984" y="6652260"/>
            <a:ext cx="196596" cy="0"/>
          </a:xfrm>
          <a:prstGeom prst="line">
            <a:avLst/>
          </a:prstGeom>
          <a:noFill/>
          <a:ln w="25400">
            <a:solidFill>
              <a:srgbClr val="0097B2"/>
            </a:solidFill>
            <a:prstDash val="solid"/>
            <a:tailEnd type="triangle"/>
          </a:ln>
        </p:spPr>
      </p:sp>
      <p:sp>
        <p:nvSpPr>
          <p:cNvPr id="51" name="Shape 48"/>
          <p:cNvSpPr/>
          <p:nvPr/>
        </p:nvSpPr>
        <p:spPr>
          <a:xfrm>
            <a:off x="6304788" y="3863340"/>
            <a:ext cx="214884" cy="0"/>
          </a:xfrm>
          <a:prstGeom prst="line">
            <a:avLst/>
          </a:prstGeom>
          <a:noFill/>
          <a:ln w="25400">
            <a:solidFill>
              <a:srgbClr val="0097B2"/>
            </a:solidFill>
            <a:prstDash val="solid"/>
          </a:ln>
        </p:spPr>
      </p:sp>
      <p:sp>
        <p:nvSpPr>
          <p:cNvPr id="52" name="Shape 49"/>
          <p:cNvSpPr/>
          <p:nvPr/>
        </p:nvSpPr>
        <p:spPr>
          <a:xfrm>
            <a:off x="6304788" y="6652260"/>
            <a:ext cx="214884" cy="0"/>
          </a:xfrm>
          <a:prstGeom prst="line">
            <a:avLst/>
          </a:prstGeom>
          <a:noFill/>
          <a:ln w="25400">
            <a:solidFill>
              <a:srgbClr val="0097B2"/>
            </a:solidFill>
            <a:prstDash val="solid"/>
          </a:ln>
        </p:spPr>
      </p:sp>
      <p:sp>
        <p:nvSpPr>
          <p:cNvPr id="53" name="Shape 50"/>
          <p:cNvSpPr/>
          <p:nvPr/>
        </p:nvSpPr>
        <p:spPr>
          <a:xfrm>
            <a:off x="6519672" y="3863340"/>
            <a:ext cx="0" cy="2788920"/>
          </a:xfrm>
          <a:prstGeom prst="line">
            <a:avLst/>
          </a:prstGeom>
          <a:noFill/>
          <a:ln w="25400">
            <a:solidFill>
              <a:srgbClr val="0097B2"/>
            </a:solidFill>
            <a:prstDash val="solid"/>
          </a:ln>
        </p:spPr>
      </p:sp>
      <p:sp>
        <p:nvSpPr>
          <p:cNvPr id="54" name="Shape 51"/>
          <p:cNvSpPr/>
          <p:nvPr/>
        </p:nvSpPr>
        <p:spPr>
          <a:xfrm>
            <a:off x="6519672" y="5257800"/>
            <a:ext cx="196596" cy="0"/>
          </a:xfrm>
          <a:prstGeom prst="line">
            <a:avLst/>
          </a:prstGeom>
          <a:noFill/>
          <a:ln w="25400">
            <a:solidFill>
              <a:srgbClr val="0097B2"/>
            </a:solidFill>
            <a:prstDash val="solid"/>
            <a:tailEnd type="triangle"/>
          </a:ln>
        </p:spPr>
      </p:sp>
      <p:sp>
        <p:nvSpPr>
          <p:cNvPr id="55" name="Shape 52"/>
          <p:cNvSpPr/>
          <p:nvPr/>
        </p:nvSpPr>
        <p:spPr>
          <a:xfrm>
            <a:off x="8883396" y="5257800"/>
            <a:ext cx="411480" cy="0"/>
          </a:xfrm>
          <a:prstGeom prst="line">
            <a:avLst/>
          </a:prstGeom>
          <a:noFill/>
          <a:ln w="25400">
            <a:solidFill>
              <a:srgbClr val="0097B2"/>
            </a:solidFill>
            <a:prstDash val="solid"/>
            <a:tailEnd type="triangle"/>
          </a:ln>
        </p:spPr>
      </p:sp>
      <p:sp>
        <p:nvSpPr>
          <p:cNvPr id="56" name="Shape 53"/>
          <p:cNvSpPr/>
          <p:nvPr/>
        </p:nvSpPr>
        <p:spPr>
          <a:xfrm>
            <a:off x="11690604" y="5257800"/>
            <a:ext cx="214884" cy="0"/>
          </a:xfrm>
          <a:prstGeom prst="line">
            <a:avLst/>
          </a:prstGeom>
          <a:noFill/>
          <a:ln w="25400">
            <a:solidFill>
              <a:srgbClr val="0097B2"/>
            </a:solidFill>
            <a:prstDash val="solid"/>
          </a:ln>
        </p:spPr>
      </p:sp>
      <p:sp>
        <p:nvSpPr>
          <p:cNvPr id="57" name="Shape 54"/>
          <p:cNvSpPr/>
          <p:nvPr/>
        </p:nvSpPr>
        <p:spPr>
          <a:xfrm>
            <a:off x="11905488" y="3474720"/>
            <a:ext cx="0" cy="3566160"/>
          </a:xfrm>
          <a:prstGeom prst="line">
            <a:avLst/>
          </a:prstGeom>
          <a:noFill/>
          <a:ln w="25400">
            <a:solidFill>
              <a:srgbClr val="0097B2"/>
            </a:solidFill>
            <a:prstDash val="solid"/>
          </a:ln>
        </p:spPr>
      </p:sp>
      <p:sp>
        <p:nvSpPr>
          <p:cNvPr id="58" name="Shape 55"/>
          <p:cNvSpPr/>
          <p:nvPr/>
        </p:nvSpPr>
        <p:spPr>
          <a:xfrm>
            <a:off x="11905488" y="3474720"/>
            <a:ext cx="196596" cy="0"/>
          </a:xfrm>
          <a:prstGeom prst="line">
            <a:avLst/>
          </a:prstGeom>
          <a:noFill/>
          <a:ln w="25400">
            <a:solidFill>
              <a:srgbClr val="0097B2"/>
            </a:solidFill>
            <a:prstDash val="solid"/>
            <a:tailEnd type="triangle"/>
          </a:ln>
        </p:spPr>
      </p:sp>
      <p:sp>
        <p:nvSpPr>
          <p:cNvPr id="59" name="Shape 56"/>
          <p:cNvSpPr/>
          <p:nvPr/>
        </p:nvSpPr>
        <p:spPr>
          <a:xfrm>
            <a:off x="11905488" y="5257800"/>
            <a:ext cx="196596" cy="0"/>
          </a:xfrm>
          <a:prstGeom prst="line">
            <a:avLst/>
          </a:prstGeom>
          <a:noFill/>
          <a:ln w="25400">
            <a:solidFill>
              <a:srgbClr val="0097B2"/>
            </a:solidFill>
            <a:prstDash val="solid"/>
            <a:tailEnd type="triangle"/>
          </a:ln>
        </p:spPr>
      </p:sp>
      <p:sp>
        <p:nvSpPr>
          <p:cNvPr id="60" name="Shape 57"/>
          <p:cNvSpPr/>
          <p:nvPr/>
        </p:nvSpPr>
        <p:spPr>
          <a:xfrm>
            <a:off x="11905488" y="7040880"/>
            <a:ext cx="196596" cy="0"/>
          </a:xfrm>
          <a:prstGeom prst="line">
            <a:avLst/>
          </a:prstGeom>
          <a:noFill/>
          <a:ln w="25400">
            <a:solidFill>
              <a:srgbClr val="0097B2"/>
            </a:solidFill>
            <a:prstDash val="solid"/>
            <a:tailEnd type="triangle"/>
          </a:ln>
        </p:spPr>
      </p:sp>
      <p:sp>
        <p:nvSpPr>
          <p:cNvPr id="61" name="Shape 58"/>
          <p:cNvSpPr/>
          <p:nvPr/>
        </p:nvSpPr>
        <p:spPr>
          <a:xfrm>
            <a:off x="14863572" y="3474720"/>
            <a:ext cx="214884" cy="0"/>
          </a:xfrm>
          <a:prstGeom prst="line">
            <a:avLst/>
          </a:prstGeom>
          <a:noFill/>
          <a:ln w="25400">
            <a:solidFill>
              <a:srgbClr val="0097B2"/>
            </a:solidFill>
            <a:prstDash val="solid"/>
          </a:ln>
        </p:spPr>
      </p:sp>
      <p:sp>
        <p:nvSpPr>
          <p:cNvPr id="62" name="Shape 59"/>
          <p:cNvSpPr/>
          <p:nvPr/>
        </p:nvSpPr>
        <p:spPr>
          <a:xfrm>
            <a:off x="14863572" y="5257800"/>
            <a:ext cx="214884" cy="0"/>
          </a:xfrm>
          <a:prstGeom prst="line">
            <a:avLst/>
          </a:prstGeom>
          <a:noFill/>
          <a:ln w="25400">
            <a:solidFill>
              <a:srgbClr val="0097B2"/>
            </a:solidFill>
            <a:prstDash val="solid"/>
          </a:ln>
        </p:spPr>
      </p:sp>
      <p:sp>
        <p:nvSpPr>
          <p:cNvPr id="63" name="Shape 60"/>
          <p:cNvSpPr/>
          <p:nvPr/>
        </p:nvSpPr>
        <p:spPr>
          <a:xfrm>
            <a:off x="14863572" y="7040880"/>
            <a:ext cx="214884" cy="0"/>
          </a:xfrm>
          <a:prstGeom prst="line">
            <a:avLst/>
          </a:prstGeom>
          <a:noFill/>
          <a:ln w="25400">
            <a:solidFill>
              <a:srgbClr val="0097B2"/>
            </a:solidFill>
            <a:prstDash val="solid"/>
          </a:ln>
        </p:spPr>
      </p:sp>
      <p:sp>
        <p:nvSpPr>
          <p:cNvPr id="64" name="Shape 61"/>
          <p:cNvSpPr/>
          <p:nvPr/>
        </p:nvSpPr>
        <p:spPr>
          <a:xfrm>
            <a:off x="15078456" y="3474720"/>
            <a:ext cx="0" cy="3566160"/>
          </a:xfrm>
          <a:prstGeom prst="line">
            <a:avLst/>
          </a:prstGeom>
          <a:noFill/>
          <a:ln w="25400">
            <a:solidFill>
              <a:srgbClr val="0097B2"/>
            </a:solidFill>
            <a:prstDash val="solid"/>
          </a:ln>
        </p:spPr>
      </p:sp>
      <p:sp>
        <p:nvSpPr>
          <p:cNvPr id="65" name="Shape 62"/>
          <p:cNvSpPr/>
          <p:nvPr/>
        </p:nvSpPr>
        <p:spPr>
          <a:xfrm>
            <a:off x="15078456" y="5257800"/>
            <a:ext cx="196596" cy="0"/>
          </a:xfrm>
          <a:prstGeom prst="line">
            <a:avLst/>
          </a:prstGeom>
          <a:noFill/>
          <a:ln w="25400">
            <a:solidFill>
              <a:srgbClr val="0097B2"/>
            </a:solidFill>
            <a:prstDash val="solid"/>
            <a:tailEnd type="triangle"/>
          </a:ln>
        </p:spPr>
      </p:sp>
      <p:sp>
        <p:nvSpPr>
          <p:cNvPr id="66" name="Shape 63"/>
          <p:cNvSpPr/>
          <p:nvPr/>
        </p:nvSpPr>
        <p:spPr>
          <a:xfrm>
            <a:off x="9313164" y="6858000"/>
            <a:ext cx="2377440" cy="868680"/>
          </a:xfrm>
          <a:prstGeom prst="roundRect">
            <a:avLst>
              <a:gd name="adj" fmla="val 12632"/>
            </a:avLst>
          </a:prstGeom>
          <a:solidFill>
            <a:srgbClr val="FFFFFF"/>
          </a:solidFill>
          <a:ln w="15875">
            <a:solidFill>
              <a:srgbClr val="6B4FA0"/>
            </a:solidFill>
            <a:prstDash val="dash"/>
          </a:ln>
        </p:spPr>
      </p:sp>
      <p:sp>
        <p:nvSpPr>
          <p:cNvPr id="67" name="Shape 64"/>
          <p:cNvSpPr/>
          <p:nvPr/>
        </p:nvSpPr>
        <p:spPr>
          <a:xfrm>
            <a:off x="10501884" y="6446520"/>
            <a:ext cx="0" cy="393192"/>
          </a:xfrm>
          <a:prstGeom prst="line">
            <a:avLst/>
          </a:prstGeom>
          <a:noFill/>
          <a:ln w="25400">
            <a:solidFill>
              <a:srgbClr val="6B4FA0"/>
            </a:solidFill>
            <a:prstDash val="dash"/>
            <a:tailEnd type="triangle"/>
          </a:ln>
        </p:spPr>
      </p:sp>
      <p:sp>
        <p:nvSpPr>
          <p:cNvPr id="68" name="Text 65"/>
          <p:cNvSpPr txBox="1"/>
          <p:nvPr/>
        </p:nvSpPr>
        <p:spPr>
          <a:xfrm>
            <a:off x="9541764" y="6986016"/>
            <a:ext cx="1920240" cy="640080"/>
          </a:xfrm>
          <a:prstGeom prst="rect">
            <a:avLst/>
          </a:prstGeom>
          <a:noFill/>
          <a:ln/>
        </p:spPr>
        <p:txBody>
          <a:bodyPr wrap="square" lIns="0" tIns="0" rIns="0" bIns="0" rtlCol="0" anchor="t"/>
          <a:lstStyle/>
          <a:p>
            <a:pPr indent="0" marL="0">
              <a:buNone/>
            </a:pPr>
            <a:r>
              <a:rPr lang="en-US" sz="1000" b="1" spc="120" kern="0" dirty="0">
                <a:solidFill>
                  <a:srgbClr val="6B4FA0"/>
                </a:solidFill>
                <a:latin typeface="Inter 1 Bold" pitchFamily="34" charset="0"/>
                <a:ea typeface="Inter 1 Bold" pitchFamily="34" charset="-122"/>
                <a:cs typeface="Inter 1 Bold" pitchFamily="34" charset="-120"/>
              </a:rPr>
              <a:t>OPTIONAL</a:t>
            </a:r>
            <a:endParaRPr lang="en-US" sz="1000" dirty="0"/>
          </a:p>
          <a:p>
            <a:pPr indent="0" marL="0">
              <a:buNone/>
            </a:pPr>
            <a:r>
              <a:rPr lang="en-US" sz="1300" b="1" dirty="0">
                <a:solidFill>
                  <a:srgbClr val="202020"/>
                </a:solidFill>
                <a:latin typeface="Inter 1 Semi-Bold" pitchFamily="34" charset="0"/>
                <a:ea typeface="Inter 1 Semi-Bold" pitchFamily="34" charset="-122"/>
                <a:cs typeface="Inter 1 Semi-Bold" pitchFamily="34" charset="-120"/>
              </a:rPr>
              <a:t>Cross-modal attention</a:t>
            </a:r>
            <a:endParaRPr lang="en-US" sz="1000" dirty="0"/>
          </a:p>
        </p:txBody>
      </p:sp>
      <p:sp>
        <p:nvSpPr>
          <p:cNvPr id="69" name="Shape 66"/>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sp>
      <p:sp>
        <p:nvSpPr>
          <p:cNvPr id="70" name="Text 67"/>
          <p:cNvSpPr txBox="1"/>
          <p:nvPr/>
        </p:nvSpPr>
        <p:spPr>
          <a:xfrm>
            <a:off x="1440180" y="8458200"/>
            <a:ext cx="15407640" cy="868680"/>
          </a:xfrm>
          <a:prstGeom prst="rect">
            <a:avLst/>
          </a:prstGeom>
          <a:noFill/>
          <a:ln/>
        </p:spPr>
        <p:txBody>
          <a:bodyPr wrap="square" lIns="0" tIns="0" rIns="0" bIns="0" rtlCol="0" anchor="ctr"/>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Shared interface:  </a:t>
            </a:r>
            <a:pPr indent="0" marL="0">
              <a:buNone/>
            </a:pPr>
            <a:r>
              <a:rPr lang="en-US" sz="1550" dirty="0">
                <a:solidFill>
                  <a:srgbClr val="202020"/>
                </a:solidFill>
                <a:latin typeface="Inter 1" pitchFamily="34" charset="0"/>
                <a:ea typeface="Inter 1" pitchFamily="34" charset="-122"/>
                <a:cs typeface="Inter 1" pitchFamily="34" charset="-120"/>
              </a:rPr>
              <a:t>both branches emit one embedding per second on the same timestamps, keyed by clip ID. Each branch can be swapped or improved without touching the rest.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ML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Techniques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Each part starts with a simple baseline, so every improvement can be measured against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10</a:t>
            </a:r>
            <a:endParaRPr lang="en-US" sz="1050" dirty="0"/>
          </a:p>
        </p:txBody>
      </p:sp>
      <p:sp>
        <p:nvSpPr>
          <p:cNvPr id="6" name="Shape 3"/>
          <p:cNvSpPr/>
          <p:nvPr/>
        </p:nvSpPr>
        <p:spPr>
          <a:xfrm>
            <a:off x="1028700" y="2697480"/>
            <a:ext cx="3851910" cy="635508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audio-white.png">    </p:cNvPr>
          <p:cNvPicPr>
            <a:picLocks noChangeAspect="1"/>
          </p:cNvPicPr>
          <p:nvPr/>
        </p:nvPicPr>
        <p:blipFill>
          <a:blip r:embed="rId2"/>
          <a:stretch>
            <a:fillRect/>
          </a:stretch>
        </p:blipFill>
        <p:spPr>
          <a:xfrm>
            <a:off x="1485900" y="3154680"/>
            <a:ext cx="292608" cy="292608"/>
          </a:xfrm>
          <a:prstGeom prst="rect">
            <a:avLst/>
          </a:prstGeom>
        </p:spPr>
      </p:pic>
      <p:sp>
        <p:nvSpPr>
          <p:cNvPr id="9" name="Text 5"/>
          <p:cNvSpPr txBox="1"/>
          <p:nvPr/>
        </p:nvSpPr>
        <p:spPr>
          <a:xfrm>
            <a:off x="208026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Audio branch</a:t>
            </a:r>
            <a:endParaRPr lang="en-US" sz="2000" dirty="0"/>
          </a:p>
        </p:txBody>
      </p:sp>
      <p:sp>
        <p:nvSpPr>
          <p:cNvPr id="10" name="Text 6"/>
          <p:cNvSpPr txBox="1"/>
          <p:nvPr/>
        </p:nvSpPr>
        <p:spPr>
          <a:xfrm>
            <a:off x="134874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BASELINE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Log-Mel spectrogram with a small CNN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CANDIDATE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audio encoder, e.g. BEATs [4], adapted with LoRA</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audio embedding and event evidence per second</a:t>
            </a:r>
            <a:endParaRPr lang="en-US" sz="1150" dirty="0"/>
          </a:p>
        </p:txBody>
      </p:sp>
      <p:sp>
        <p:nvSpPr>
          <p:cNvPr id="11" name="Shape 7"/>
          <p:cNvSpPr/>
          <p:nvPr/>
        </p:nvSpPr>
        <p:spPr>
          <a:xfrm>
            <a:off x="5154930" y="2697480"/>
            <a:ext cx="3851910" cy="6355080"/>
          </a:xfrm>
          <a:prstGeom prst="roundRect">
            <a:avLst>
              <a:gd name="adj" fmla="val 3323"/>
            </a:avLst>
          </a:prstGeom>
          <a:solidFill>
            <a:srgbClr val="EEF1F2"/>
          </a:solidFill>
          <a:ln w="12700">
            <a:solidFill>
              <a:srgbClr val="EEF1F2"/>
            </a:solidFill>
            <a:prstDash val="solid"/>
          </a:ln>
        </p:spPr>
      </p:sp>
      <p:sp>
        <p:nvSpPr>
          <p:cNvPr id="12" name="Shape 8"/>
          <p:cNvSpPr/>
          <p:nvPr/>
        </p:nvSpPr>
        <p:spPr>
          <a:xfrm>
            <a:off x="547497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3" name="Image 2" descr="/private/tmp/claude-501/-Users-ghanashyamrkp-AI-Apps/d936947f-11c3-48a0-9610-6ecad037576d/scratchpad/deck/ic/eye-white.png">    </p:cNvPr>
          <p:cNvPicPr>
            <a:picLocks noChangeAspect="1"/>
          </p:cNvPicPr>
          <p:nvPr/>
        </p:nvPicPr>
        <p:blipFill>
          <a:blip r:embed="rId3"/>
          <a:stretch>
            <a:fillRect/>
          </a:stretch>
        </p:blipFill>
        <p:spPr>
          <a:xfrm>
            <a:off x="5612130" y="3154680"/>
            <a:ext cx="292608" cy="292608"/>
          </a:xfrm>
          <a:prstGeom prst="rect">
            <a:avLst/>
          </a:prstGeom>
        </p:spPr>
      </p:pic>
      <p:sp>
        <p:nvSpPr>
          <p:cNvPr id="14" name="Text 9"/>
          <p:cNvSpPr txBox="1"/>
          <p:nvPr/>
        </p:nvSpPr>
        <p:spPr>
          <a:xfrm>
            <a:off x="620649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Visual branch</a:t>
            </a:r>
            <a:endParaRPr lang="en-US" sz="2000" dirty="0"/>
          </a:p>
        </p:txBody>
      </p:sp>
      <p:sp>
        <p:nvSpPr>
          <p:cNvPr id="15" name="Text 10"/>
          <p:cNvSpPr txBox="1"/>
          <p:nvPr/>
        </p:nvSpPr>
        <p:spPr>
          <a:xfrm>
            <a:off x="547497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BASELINE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Frame features from a pretrained image CNN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CANDIDATE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vision-language encoder, e.g. CLIP ViT-B/16 [5], adapted with LoRA</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visual embedding per second</a:t>
            </a:r>
            <a:endParaRPr lang="en-US" sz="1150" dirty="0"/>
          </a:p>
        </p:txBody>
      </p:sp>
      <p:sp>
        <p:nvSpPr>
          <p:cNvPr id="16" name="Shape 11"/>
          <p:cNvSpPr/>
          <p:nvPr/>
        </p:nvSpPr>
        <p:spPr>
          <a:xfrm>
            <a:off x="9281160" y="2697480"/>
            <a:ext cx="3851910" cy="6355080"/>
          </a:xfrm>
          <a:prstGeom prst="roundRect">
            <a:avLst>
              <a:gd name="adj" fmla="val 3323"/>
            </a:avLst>
          </a:prstGeom>
          <a:solidFill>
            <a:srgbClr val="EEF1F2"/>
          </a:solidFill>
          <a:ln w="12700">
            <a:solidFill>
              <a:srgbClr val="EEF1F2"/>
            </a:solidFill>
            <a:prstDash val="solid"/>
          </a:ln>
        </p:spPr>
      </p:sp>
      <p:sp>
        <p:nvSpPr>
          <p:cNvPr id="17" name="Shape 12"/>
          <p:cNvSpPr/>
          <p:nvPr/>
        </p:nvSpPr>
        <p:spPr>
          <a:xfrm>
            <a:off x="960120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8" name="Image 3" descr="/private/tmp/claude-501/-Users-ghanashyamrkp-AI-Apps/d936947f-11c3-48a0-9610-6ecad037576d/scratchpad/deck/ic/link-white.png">    </p:cNvPr>
          <p:cNvPicPr>
            <a:picLocks noChangeAspect="1"/>
          </p:cNvPicPr>
          <p:nvPr/>
        </p:nvPicPr>
        <p:blipFill>
          <a:blip r:embed="rId4"/>
          <a:stretch>
            <a:fillRect/>
          </a:stretch>
        </p:blipFill>
        <p:spPr>
          <a:xfrm>
            <a:off x="9738360" y="3154680"/>
            <a:ext cx="292608" cy="292608"/>
          </a:xfrm>
          <a:prstGeom prst="rect">
            <a:avLst/>
          </a:prstGeom>
        </p:spPr>
      </p:pic>
      <p:sp>
        <p:nvSpPr>
          <p:cNvPr id="19" name="Text 13"/>
          <p:cNvSpPr txBox="1"/>
          <p:nvPr/>
        </p:nvSpPr>
        <p:spPr>
          <a:xfrm>
            <a:off x="1033272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Fusion</a:t>
            </a:r>
            <a:endParaRPr lang="en-US" sz="2000" dirty="0"/>
          </a:p>
        </p:txBody>
      </p:sp>
      <p:sp>
        <p:nvSpPr>
          <p:cNvPr id="20" name="Text 14"/>
          <p:cNvSpPr txBox="1"/>
          <p:nvPr/>
        </p:nvSpPr>
        <p:spPr>
          <a:xfrm>
            <a:off x="960120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FIRST VERSION</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Concatenate aligned embeddings, then an MLP (late fusion)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UPGRADE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Cross-modal attention, where each stream attends to the other</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fused representation per second</a:t>
            </a:r>
            <a:endParaRPr lang="en-US" sz="1150" dirty="0"/>
          </a:p>
        </p:txBody>
      </p:sp>
      <p:sp>
        <p:nvSpPr>
          <p:cNvPr id="21" name="Shape 15"/>
          <p:cNvSpPr/>
          <p:nvPr/>
        </p:nvSpPr>
        <p:spPr>
          <a:xfrm>
            <a:off x="13407390" y="2697480"/>
            <a:ext cx="3851910" cy="6355080"/>
          </a:xfrm>
          <a:prstGeom prst="roundRect">
            <a:avLst>
              <a:gd name="adj" fmla="val 3323"/>
            </a:avLst>
          </a:prstGeom>
          <a:solidFill>
            <a:srgbClr val="EEF1F2"/>
          </a:solidFill>
          <a:ln w="12700">
            <a:solidFill>
              <a:srgbClr val="EEF1F2"/>
            </a:solidFill>
            <a:prstDash val="solid"/>
          </a:ln>
        </p:spPr>
      </p:sp>
      <p:sp>
        <p:nvSpPr>
          <p:cNvPr id="22" name="Shape 16"/>
          <p:cNvSpPr/>
          <p:nvPr/>
        </p:nvSpPr>
        <p:spPr>
          <a:xfrm>
            <a:off x="1372743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3" name="Image 4" descr="/private/tmp/claude-501/-Users-ghanashyamrkp-AI-Apps/d936947f-11c3-48a0-9610-6ecad037576d/scratchpad/deck/ic/target-white.png">    </p:cNvPr>
          <p:cNvPicPr>
            <a:picLocks noChangeAspect="1"/>
          </p:cNvPicPr>
          <p:nvPr/>
        </p:nvPicPr>
        <p:blipFill>
          <a:blip r:embed="rId5"/>
          <a:stretch>
            <a:fillRect/>
          </a:stretch>
        </p:blipFill>
        <p:spPr>
          <a:xfrm>
            <a:off x="13864590" y="3154680"/>
            <a:ext cx="292608" cy="292608"/>
          </a:xfrm>
          <a:prstGeom prst="rect">
            <a:avLst/>
          </a:prstGeom>
        </p:spPr>
      </p:pic>
      <p:sp>
        <p:nvSpPr>
          <p:cNvPr id="24" name="Text 17"/>
          <p:cNvSpPr txBox="1"/>
          <p:nvPr/>
        </p:nvSpPr>
        <p:spPr>
          <a:xfrm>
            <a:off x="1445895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Prediction heads</a:t>
            </a:r>
            <a:endParaRPr lang="en-US" sz="2000" dirty="0"/>
          </a:p>
        </p:txBody>
      </p:sp>
      <p:sp>
        <p:nvSpPr>
          <p:cNvPr id="25" name="Text 18"/>
          <p:cNvSpPr txBox="1"/>
          <p:nvPr/>
        </p:nvSpPr>
        <p:spPr>
          <a:xfrm>
            <a:off x="1372743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EVENT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Softmax over 28 categories</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PRESENCE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Per-second audible-and-visible classifier</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CORRESPONDENCE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Match score, calibrated, then banded into Strong, Weak/Uncertain or Mismatch using thresholds chosen on validation data</a:t>
            </a:r>
            <a:endParaRPr lang="en-US" sz="1150" dirty="0"/>
          </a:p>
        </p:txBody>
      </p:sp>
      <p:sp>
        <p:nvSpPr>
          <p:cNvPr id="26" name="Text 19"/>
          <p:cNvSpPr txBox="1"/>
          <p:nvPr/>
        </p:nvSpPr>
        <p:spPr>
          <a:xfrm>
            <a:off x="1028700" y="9235440"/>
            <a:ext cx="16230600" cy="320040"/>
          </a:xfrm>
          <a:prstGeom prst="rect">
            <a:avLst/>
          </a:prstGeom>
          <a:noFill/>
          <a:ln/>
        </p:spPr>
        <p:txBody>
          <a:bodyPr wrap="square" lIns="0" tIns="0" rIns="0" bIns="0" rtlCol="0" anchor="t"/>
          <a:lstStyle/>
          <a:p>
            <a:pPr indent="0" marL="0">
              <a:buNone/>
            </a:pPr>
            <a:r>
              <a:rPr lang="en-US" sz="1200" i="1" dirty="0">
                <a:solidFill>
                  <a:srgbClr val="6B7782"/>
                </a:solidFill>
                <a:latin typeface="Inter 1" pitchFamily="34" charset="0"/>
                <a:ea typeface="Inter 1" pitchFamily="34" charset="-122"/>
                <a:cs typeface="Inter 1" pitchFamily="34" charset="-120"/>
              </a:rPr>
              <a:t>Named models are indicative. Final choices depend on what the experiments show.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Evaluation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Plan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Five experiments, fixed before any model is trained. Each answers one question.</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11</a:t>
            </a:r>
            <a:endParaRPr lang="en-US" sz="1050" dirty="0"/>
          </a:p>
        </p:txBody>
      </p:sp>
      <p:sp>
        <p:nvSpPr>
          <p:cNvPr id="6" name="Shape 3"/>
          <p:cNvSpPr/>
          <p:nvPr/>
        </p:nvSpPr>
        <p:spPr>
          <a:xfrm>
            <a:off x="1028700" y="2651760"/>
            <a:ext cx="16230600" cy="502920"/>
          </a:xfrm>
          <a:prstGeom prst="roundRect">
            <a:avLst>
              <a:gd name="adj" fmla="val 14545"/>
            </a:avLst>
          </a:prstGeom>
          <a:solidFill>
            <a:srgbClr val="0E5C70"/>
          </a:solidFill>
          <a:ln w="12700">
            <a:solidFill>
              <a:srgbClr val="0E5C70"/>
            </a:solidFill>
            <a:prstDash val="solid"/>
          </a:ln>
        </p:spPr>
      </p:sp>
      <p:sp>
        <p:nvSpPr>
          <p:cNvPr id="7" name="Text 4"/>
          <p:cNvSpPr txBox="1"/>
          <p:nvPr/>
        </p:nvSpPr>
        <p:spPr>
          <a:xfrm>
            <a:off x="1257300" y="2651760"/>
            <a:ext cx="36576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a:t>
            </a:r>
            <a:endParaRPr lang="en-US" sz="1100" dirty="0"/>
          </a:p>
        </p:txBody>
      </p:sp>
      <p:sp>
        <p:nvSpPr>
          <p:cNvPr id="8" name="Text 5"/>
          <p:cNvSpPr txBox="1"/>
          <p:nvPr/>
        </p:nvSpPr>
        <p:spPr>
          <a:xfrm>
            <a:off x="1897380" y="2651760"/>
            <a:ext cx="310896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EXPERIMENT</a:t>
            </a:r>
            <a:endParaRPr lang="en-US" sz="1100" dirty="0"/>
          </a:p>
        </p:txBody>
      </p:sp>
      <p:sp>
        <p:nvSpPr>
          <p:cNvPr id="9" name="Text 6"/>
          <p:cNvSpPr txBox="1"/>
          <p:nvPr/>
        </p:nvSpPr>
        <p:spPr>
          <a:xfrm>
            <a:off x="5280660" y="2651760"/>
            <a:ext cx="393192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QUESTION IT ANSWERS</a:t>
            </a:r>
            <a:endParaRPr lang="en-US" sz="1100" dirty="0"/>
          </a:p>
        </p:txBody>
      </p:sp>
      <p:sp>
        <p:nvSpPr>
          <p:cNvPr id="10" name="Text 7"/>
          <p:cNvSpPr txBox="1"/>
          <p:nvPr/>
        </p:nvSpPr>
        <p:spPr>
          <a:xfrm>
            <a:off x="9486900" y="2651760"/>
            <a:ext cx="406908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COMPARISON</a:t>
            </a:r>
            <a:endParaRPr lang="en-US" sz="1100" dirty="0"/>
          </a:p>
        </p:txBody>
      </p:sp>
      <p:sp>
        <p:nvSpPr>
          <p:cNvPr id="11" name="Text 8"/>
          <p:cNvSpPr txBox="1"/>
          <p:nvPr/>
        </p:nvSpPr>
        <p:spPr>
          <a:xfrm>
            <a:off x="13830300" y="2651760"/>
            <a:ext cx="338328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MEASURES</a:t>
            </a:r>
            <a:endParaRPr lang="en-US" sz="1100" dirty="0"/>
          </a:p>
        </p:txBody>
      </p:sp>
      <p:sp>
        <p:nvSpPr>
          <p:cNvPr id="12" name="Shape 9"/>
          <p:cNvSpPr/>
          <p:nvPr/>
        </p:nvSpPr>
        <p:spPr>
          <a:xfrm>
            <a:off x="1028700" y="3227832"/>
            <a:ext cx="16230600" cy="960120"/>
          </a:xfrm>
          <a:prstGeom prst="roundRect">
            <a:avLst>
              <a:gd name="adj" fmla="val 7619"/>
            </a:avLst>
          </a:prstGeom>
          <a:solidFill>
            <a:srgbClr val="EEF1F2"/>
          </a:solidFill>
          <a:ln w="12700">
            <a:solidFill>
              <a:srgbClr val="EEF1F2"/>
            </a:solidFill>
            <a:prstDash val="solid"/>
          </a:ln>
        </p:spPr>
      </p:sp>
      <p:sp>
        <p:nvSpPr>
          <p:cNvPr id="13" name="Text 10"/>
          <p:cNvSpPr txBox="1"/>
          <p:nvPr/>
        </p:nvSpPr>
        <p:spPr>
          <a:xfrm>
            <a:off x="1257300" y="3227832"/>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1</a:t>
            </a:r>
            <a:endParaRPr lang="en-US" sz="2200" dirty="0"/>
          </a:p>
        </p:txBody>
      </p:sp>
      <p:sp>
        <p:nvSpPr>
          <p:cNvPr id="14" name="Text 11"/>
          <p:cNvSpPr txBox="1"/>
          <p:nvPr/>
        </p:nvSpPr>
        <p:spPr>
          <a:xfrm>
            <a:off x="1897380" y="3227832"/>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Unimodal event recognition</a:t>
            </a:r>
            <a:endParaRPr lang="en-US" sz="1700" dirty="0"/>
          </a:p>
        </p:txBody>
      </p:sp>
      <p:sp>
        <p:nvSpPr>
          <p:cNvPr id="15" name="Text 12"/>
          <p:cNvSpPr txBox="1"/>
          <p:nvPr/>
        </p:nvSpPr>
        <p:spPr>
          <a:xfrm>
            <a:off x="5280660" y="3227832"/>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each branch recognise the event on its own?</a:t>
            </a:r>
            <a:endParaRPr lang="en-US" sz="1550" dirty="0"/>
          </a:p>
        </p:txBody>
      </p:sp>
      <p:sp>
        <p:nvSpPr>
          <p:cNvPr id="16" name="Text 13"/>
          <p:cNvSpPr txBox="1"/>
          <p:nvPr/>
        </p:nvSpPr>
        <p:spPr>
          <a:xfrm>
            <a:off x="9486900" y="3227832"/>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Lightweight baseline vs. pretrained / adapted encoders</a:t>
            </a:r>
            <a:endParaRPr lang="en-US" sz="1550" dirty="0"/>
          </a:p>
        </p:txBody>
      </p:sp>
      <p:sp>
        <p:nvSpPr>
          <p:cNvPr id="17" name="Text 14"/>
          <p:cNvSpPr txBox="1"/>
          <p:nvPr/>
        </p:nvSpPr>
        <p:spPr>
          <a:xfrm>
            <a:off x="13830300" y="3227832"/>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Accuracy, Macro-F1, confusion matrix</a:t>
            </a:r>
            <a:endParaRPr lang="en-US" sz="1550" dirty="0"/>
          </a:p>
        </p:txBody>
      </p:sp>
      <p:sp>
        <p:nvSpPr>
          <p:cNvPr id="18" name="Shape 15"/>
          <p:cNvSpPr/>
          <p:nvPr/>
        </p:nvSpPr>
        <p:spPr>
          <a:xfrm>
            <a:off x="1028700" y="4242816"/>
            <a:ext cx="16230600" cy="960120"/>
          </a:xfrm>
          <a:prstGeom prst="roundRect">
            <a:avLst>
              <a:gd name="adj" fmla="val 7619"/>
            </a:avLst>
          </a:prstGeom>
          <a:solidFill>
            <a:srgbClr val="E3F4F6"/>
          </a:solidFill>
          <a:ln w="12700">
            <a:solidFill>
              <a:srgbClr val="E3F4F6"/>
            </a:solidFill>
            <a:prstDash val="solid"/>
          </a:ln>
        </p:spPr>
      </p:sp>
      <p:sp>
        <p:nvSpPr>
          <p:cNvPr id="19" name="Text 16"/>
          <p:cNvSpPr txBox="1"/>
          <p:nvPr/>
        </p:nvSpPr>
        <p:spPr>
          <a:xfrm>
            <a:off x="1257300" y="4242816"/>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2</a:t>
            </a:r>
            <a:endParaRPr lang="en-US" sz="2200" dirty="0"/>
          </a:p>
        </p:txBody>
      </p:sp>
      <p:sp>
        <p:nvSpPr>
          <p:cNvPr id="20" name="Text 17"/>
          <p:cNvSpPr txBox="1"/>
          <p:nvPr/>
        </p:nvSpPr>
        <p:spPr>
          <a:xfrm>
            <a:off x="1897380" y="4242816"/>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Audio-visual correspondence</a:t>
            </a:r>
            <a:endParaRPr lang="en-US" sz="1700" dirty="0"/>
          </a:p>
        </p:txBody>
      </p:sp>
      <p:sp>
        <p:nvSpPr>
          <p:cNvPr id="21" name="Text 18"/>
          <p:cNvSpPr txBox="1"/>
          <p:nvPr/>
        </p:nvSpPr>
        <p:spPr>
          <a:xfrm>
            <a:off x="5280660" y="4242816"/>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fusion add anything over two separate classifiers?</a:t>
            </a:r>
            <a:endParaRPr lang="en-US" sz="1550" dirty="0"/>
          </a:p>
        </p:txBody>
      </p:sp>
      <p:sp>
        <p:nvSpPr>
          <p:cNvPr id="22" name="Text 19"/>
          <p:cNvSpPr txBox="1"/>
          <p:nvPr/>
        </p:nvSpPr>
        <p:spPr>
          <a:xfrm>
            <a:off x="9486900" y="4242816"/>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Label-agreement baseline vs. learned fusion (simple vs. attention)</a:t>
            </a:r>
            <a:endParaRPr lang="en-US" sz="1550" dirty="0"/>
          </a:p>
        </p:txBody>
      </p:sp>
      <p:sp>
        <p:nvSpPr>
          <p:cNvPr id="23" name="Text 20"/>
          <p:cNvSpPr txBox="1"/>
          <p:nvPr/>
        </p:nvSpPr>
        <p:spPr>
          <a:xfrm>
            <a:off x="13830300" y="4242816"/>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ROC-AUC, PR-AUC, F1 at a validation-selected threshold</a:t>
            </a:r>
            <a:endParaRPr lang="en-US" sz="1550" dirty="0"/>
          </a:p>
        </p:txBody>
      </p:sp>
      <p:sp>
        <p:nvSpPr>
          <p:cNvPr id="24" name="Shape 21"/>
          <p:cNvSpPr/>
          <p:nvPr/>
        </p:nvSpPr>
        <p:spPr>
          <a:xfrm>
            <a:off x="1028700" y="5257800"/>
            <a:ext cx="16230600" cy="960120"/>
          </a:xfrm>
          <a:prstGeom prst="roundRect">
            <a:avLst>
              <a:gd name="adj" fmla="val 7619"/>
            </a:avLst>
          </a:prstGeom>
          <a:solidFill>
            <a:srgbClr val="EEF1F2"/>
          </a:solidFill>
          <a:ln w="12700">
            <a:solidFill>
              <a:srgbClr val="EEF1F2"/>
            </a:solidFill>
            <a:prstDash val="solid"/>
          </a:ln>
        </p:spPr>
      </p:sp>
      <p:sp>
        <p:nvSpPr>
          <p:cNvPr id="25" name="Text 22"/>
          <p:cNvSpPr txBox="1"/>
          <p:nvPr/>
        </p:nvSpPr>
        <p:spPr>
          <a:xfrm>
            <a:off x="1257300" y="5257800"/>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3</a:t>
            </a:r>
            <a:endParaRPr lang="en-US" sz="2200" dirty="0"/>
          </a:p>
        </p:txBody>
      </p:sp>
      <p:sp>
        <p:nvSpPr>
          <p:cNvPr id="26" name="Text 23"/>
          <p:cNvSpPr txBox="1"/>
          <p:nvPr/>
        </p:nvSpPr>
        <p:spPr>
          <a:xfrm>
            <a:off x="1897380" y="5257800"/>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Negative difficulty</a:t>
            </a:r>
            <a:endParaRPr lang="en-US" sz="1700" dirty="0"/>
          </a:p>
        </p:txBody>
      </p:sp>
      <p:sp>
        <p:nvSpPr>
          <p:cNvPr id="27" name="Text 24"/>
          <p:cNvSpPr txBox="1"/>
          <p:nvPr/>
        </p:nvSpPr>
        <p:spPr>
          <a:xfrm>
            <a:off x="5280660" y="5257800"/>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it still work when the mismatch is subtle?</a:t>
            </a:r>
            <a:endParaRPr lang="en-US" sz="1550" dirty="0"/>
          </a:p>
        </p:txBody>
      </p:sp>
      <p:sp>
        <p:nvSpPr>
          <p:cNvPr id="28" name="Text 25"/>
          <p:cNvSpPr txBox="1"/>
          <p:nvPr/>
        </p:nvSpPr>
        <p:spPr>
          <a:xfrm>
            <a:off x="9486900" y="5257800"/>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Easy vs. hard (similar-category, time-shifted) negatives</a:t>
            </a:r>
            <a:endParaRPr lang="en-US" sz="1550" dirty="0"/>
          </a:p>
        </p:txBody>
      </p:sp>
      <p:sp>
        <p:nvSpPr>
          <p:cNvPr id="29" name="Text 26"/>
          <p:cNvSpPr txBox="1"/>
          <p:nvPr/>
        </p:nvSpPr>
        <p:spPr>
          <a:xfrm>
            <a:off x="13830300" y="5257800"/>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ROC-AUC per negative type</a:t>
            </a:r>
            <a:endParaRPr lang="en-US" sz="1550" dirty="0"/>
          </a:p>
        </p:txBody>
      </p:sp>
      <p:sp>
        <p:nvSpPr>
          <p:cNvPr id="30" name="Shape 27"/>
          <p:cNvSpPr/>
          <p:nvPr/>
        </p:nvSpPr>
        <p:spPr>
          <a:xfrm>
            <a:off x="1028700" y="6272784"/>
            <a:ext cx="16230600" cy="960120"/>
          </a:xfrm>
          <a:prstGeom prst="roundRect">
            <a:avLst>
              <a:gd name="adj" fmla="val 7619"/>
            </a:avLst>
          </a:prstGeom>
          <a:solidFill>
            <a:srgbClr val="EEF1F2"/>
          </a:solidFill>
          <a:ln w="12700">
            <a:solidFill>
              <a:srgbClr val="EEF1F2"/>
            </a:solidFill>
            <a:prstDash val="solid"/>
          </a:ln>
        </p:spPr>
      </p:sp>
      <p:sp>
        <p:nvSpPr>
          <p:cNvPr id="31" name="Text 28"/>
          <p:cNvSpPr txBox="1"/>
          <p:nvPr/>
        </p:nvSpPr>
        <p:spPr>
          <a:xfrm>
            <a:off x="1257300" y="6272784"/>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4</a:t>
            </a:r>
            <a:endParaRPr lang="en-US" sz="2200" dirty="0"/>
          </a:p>
        </p:txBody>
      </p:sp>
      <p:sp>
        <p:nvSpPr>
          <p:cNvPr id="32" name="Text 29"/>
          <p:cNvSpPr txBox="1"/>
          <p:nvPr/>
        </p:nvSpPr>
        <p:spPr>
          <a:xfrm>
            <a:off x="1897380" y="6272784"/>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Temporal presence</a:t>
            </a:r>
            <a:endParaRPr lang="en-US" sz="1700" dirty="0"/>
          </a:p>
        </p:txBody>
      </p:sp>
      <p:sp>
        <p:nvSpPr>
          <p:cNvPr id="33" name="Text 30"/>
          <p:cNvSpPr txBox="1"/>
          <p:nvPr/>
        </p:nvSpPr>
        <p:spPr>
          <a:xfrm>
            <a:off x="5280660" y="6272784"/>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it find the right seconds?</a:t>
            </a:r>
            <a:endParaRPr lang="en-US" sz="1550" dirty="0"/>
          </a:p>
        </p:txBody>
      </p:sp>
      <p:sp>
        <p:nvSpPr>
          <p:cNvPr id="34" name="Text 31"/>
          <p:cNvSpPr txBox="1"/>
          <p:nvPr/>
        </p:nvSpPr>
        <p:spPr>
          <a:xfrm>
            <a:off x="9486900" y="6272784"/>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Per-second predictions vs. AVE event / background labels</a:t>
            </a:r>
            <a:endParaRPr lang="en-US" sz="1550" dirty="0"/>
          </a:p>
        </p:txBody>
      </p:sp>
      <p:sp>
        <p:nvSpPr>
          <p:cNvPr id="35" name="Text 32"/>
          <p:cNvSpPr txBox="1"/>
          <p:nvPr/>
        </p:nvSpPr>
        <p:spPr>
          <a:xfrm>
            <a:off x="13830300" y="6272784"/>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Per-second F1</a:t>
            </a:r>
            <a:endParaRPr lang="en-US" sz="1550" dirty="0"/>
          </a:p>
        </p:txBody>
      </p:sp>
      <p:sp>
        <p:nvSpPr>
          <p:cNvPr id="36" name="Shape 33"/>
          <p:cNvSpPr/>
          <p:nvPr/>
        </p:nvSpPr>
        <p:spPr>
          <a:xfrm>
            <a:off x="1028700" y="7287768"/>
            <a:ext cx="16230600" cy="960120"/>
          </a:xfrm>
          <a:prstGeom prst="roundRect">
            <a:avLst>
              <a:gd name="adj" fmla="val 7619"/>
            </a:avLst>
          </a:prstGeom>
          <a:solidFill>
            <a:srgbClr val="EEF1F2"/>
          </a:solidFill>
          <a:ln w="12700">
            <a:solidFill>
              <a:srgbClr val="EEF1F2"/>
            </a:solidFill>
            <a:prstDash val="solid"/>
          </a:ln>
        </p:spPr>
      </p:sp>
      <p:sp>
        <p:nvSpPr>
          <p:cNvPr id="37" name="Text 34"/>
          <p:cNvSpPr txBox="1"/>
          <p:nvPr/>
        </p:nvSpPr>
        <p:spPr>
          <a:xfrm>
            <a:off x="1257300" y="7287768"/>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5</a:t>
            </a:r>
            <a:endParaRPr lang="en-US" sz="2200" dirty="0"/>
          </a:p>
        </p:txBody>
      </p:sp>
      <p:sp>
        <p:nvSpPr>
          <p:cNvPr id="38" name="Text 35"/>
          <p:cNvSpPr txBox="1"/>
          <p:nvPr/>
        </p:nvSpPr>
        <p:spPr>
          <a:xfrm>
            <a:off x="1897380" y="7287768"/>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Confidence reliability</a:t>
            </a:r>
            <a:endParaRPr lang="en-US" sz="1700" dirty="0"/>
          </a:p>
        </p:txBody>
      </p:sp>
      <p:sp>
        <p:nvSpPr>
          <p:cNvPr id="39" name="Text 36"/>
          <p:cNvSpPr txBox="1"/>
          <p:nvPr/>
        </p:nvSpPr>
        <p:spPr>
          <a:xfrm>
            <a:off x="5280660" y="7287768"/>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Can the confidence be trusted?</a:t>
            </a:r>
            <a:endParaRPr lang="en-US" sz="1550" dirty="0"/>
          </a:p>
        </p:txBody>
      </p:sp>
      <p:sp>
        <p:nvSpPr>
          <p:cNvPr id="40" name="Text 37"/>
          <p:cNvSpPr txBox="1"/>
          <p:nvPr/>
        </p:nvSpPr>
        <p:spPr>
          <a:xfrm>
            <a:off x="9486900" y="7287768"/>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Raw vs. calibrated correspondence scores</a:t>
            </a:r>
            <a:endParaRPr lang="en-US" sz="1550" dirty="0"/>
          </a:p>
        </p:txBody>
      </p:sp>
      <p:sp>
        <p:nvSpPr>
          <p:cNvPr id="41" name="Text 38"/>
          <p:cNvSpPr txBox="1"/>
          <p:nvPr/>
        </p:nvSpPr>
        <p:spPr>
          <a:xfrm>
            <a:off x="13830300" y="7287768"/>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Expected Calibration Error, reliability diagram</a:t>
            </a:r>
            <a:endParaRPr lang="en-US" sz="1550" dirty="0"/>
          </a:p>
        </p:txBody>
      </p:sp>
      <p:sp>
        <p:nvSpPr>
          <p:cNvPr id="42" name="Text 39"/>
          <p:cNvSpPr txBox="1"/>
          <p:nvPr/>
        </p:nvSpPr>
        <p:spPr>
          <a:xfrm>
            <a:off x="1028700" y="8485632"/>
            <a:ext cx="16230600" cy="365760"/>
          </a:xfrm>
          <a:prstGeom prst="rect">
            <a:avLst/>
          </a:prstGeom>
          <a:noFill/>
          <a:ln/>
        </p:spPr>
        <p:txBody>
          <a:bodyPr wrap="square" lIns="0" tIns="0" rIns="0" bIns="0" rtlCol="0" anchor="t"/>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Scenario tests   </a:t>
            </a:r>
            <a:pPr indent="0" marL="0">
              <a:buNone/>
            </a:pPr>
            <a:r>
              <a:rPr lang="en-US" sz="1550" dirty="0">
                <a:solidFill>
                  <a:srgbClr val="202020"/>
                </a:solidFill>
                <a:latin typeface="Inter 1" pitchFamily="34" charset="0"/>
                <a:ea typeface="Inter 1" pitchFamily="34" charset="-122"/>
                <a:cs typeface="Inter 1" pitchFamily="34" charset="-120"/>
              </a:rPr>
              <a:t>dog + bark   ·   car + horn   ·   dog + siren   ·   person + dog bark</a:t>
            </a:r>
            <a:pPr indent="0" marL="0">
              <a:buNone/>
            </a:pPr>
            <a:r>
              <a:rPr lang="en-US" sz="1550" b="1" dirty="0">
                <a:solidFill>
                  <a:srgbClr val="0E5C70"/>
                </a:solidFill>
                <a:latin typeface="Inter 1 Bold" pitchFamily="34" charset="0"/>
                <a:ea typeface="Inter 1 Bold" pitchFamily="34" charset="-122"/>
                <a:cs typeface="Inter 1 Bold" pitchFamily="34" charset="-120"/>
              </a:rPr>
              <a:t>        Robustness   </a:t>
            </a:r>
            <a:pPr indent="0" marL="0">
              <a:buNone/>
            </a:pPr>
            <a:r>
              <a:rPr lang="en-US" sz="1550" dirty="0">
                <a:solidFill>
                  <a:srgbClr val="202020"/>
                </a:solidFill>
                <a:latin typeface="Inter 1" pitchFamily="34" charset="0"/>
                <a:ea typeface="Inter 1" pitchFamily="34" charset="-122"/>
                <a:cs typeface="Inter 1" pitchFamily="34" charset="-120"/>
              </a:rPr>
              <a:t>score drop as volume, noise and occlusion vary</a:t>
            </a:r>
            <a:endParaRPr lang="en-US" sz="1550" dirty="0"/>
          </a:p>
        </p:txBody>
      </p:sp>
      <p:sp>
        <p:nvSpPr>
          <p:cNvPr id="43" name="Shape 40"/>
          <p:cNvSpPr/>
          <p:nvPr/>
        </p:nvSpPr>
        <p:spPr>
          <a:xfrm>
            <a:off x="1028700" y="9034272"/>
            <a:ext cx="16230600" cy="658368"/>
          </a:xfrm>
          <a:prstGeom prst="roundRect">
            <a:avLst>
              <a:gd name="adj" fmla="val 19444"/>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4" name="Text 41"/>
          <p:cNvSpPr txBox="1"/>
          <p:nvPr/>
        </p:nvSpPr>
        <p:spPr>
          <a:xfrm>
            <a:off x="1440180" y="9034272"/>
            <a:ext cx="15407640" cy="658368"/>
          </a:xfrm>
          <a:prstGeom prst="rect">
            <a:avLst/>
          </a:prstGeom>
          <a:noFill/>
          <a:ln/>
        </p:spPr>
        <p:txBody>
          <a:bodyPr wrap="square" lIns="0" tIns="0" rIns="0" bIns="0" rtlCol="0" anchor="ctr"/>
          <a:lstStyle/>
          <a:p>
            <a:pPr indent="0" marL="0">
              <a:buNone/>
            </a:pPr>
            <a:r>
              <a:rPr lang="en-US" sz="1700" b="1" dirty="0">
                <a:solidFill>
                  <a:srgbClr val="FFFFFF"/>
                </a:solidFill>
                <a:latin typeface="Inter 1 Bold" pitchFamily="34" charset="0"/>
                <a:ea typeface="Inter 1 Bold" pitchFamily="34" charset="-122"/>
                <a:cs typeface="Inter 1 Bold" pitchFamily="34" charset="-120"/>
              </a:rPr>
              <a:t>Headline result:  </a:t>
            </a:r>
            <a:pPr indent="0" marL="0">
              <a:buNone/>
            </a:pPr>
            <a:r>
              <a:rPr lang="en-US" sz="1700" dirty="0">
                <a:solidFill>
                  <a:srgbClr val="FFFFFF"/>
                </a:solidFill>
                <a:latin typeface="Inter 1" pitchFamily="34" charset="0"/>
                <a:ea typeface="Inter 1" pitchFamily="34" charset="-122"/>
                <a:cs typeface="Inter 1" pitchFamily="34" charset="-120"/>
              </a:rPr>
              <a:t>correspondence ROC-AUC on hard negatives, compared with the label-agreement baseline.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What the User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Sees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One clip in. The event, a decision with confidence, and the seconds that support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12</a:t>
            </a:r>
            <a:endParaRPr lang="en-US" sz="1050" dirty="0"/>
          </a:p>
        </p:txBody>
      </p:sp>
      <p:sp>
        <p:nvSpPr>
          <p:cNvPr id="6" name="Shape 3"/>
          <p:cNvSpPr/>
          <p:nvPr/>
        </p:nvSpPr>
        <p:spPr>
          <a:xfrm>
            <a:off x="1028700" y="2697480"/>
            <a:ext cx="6766560" cy="3977640"/>
          </a:xfrm>
          <a:prstGeom prst="roundRect">
            <a:avLst>
              <a:gd name="adj" fmla="val 2759"/>
            </a:avLst>
          </a:prstGeom>
          <a:solidFill>
            <a:srgbClr val="0B4F5E"/>
          </a:solidFill>
          <a:ln w="12700">
            <a:solidFill>
              <a:srgbClr val="0B4F5E"/>
            </a:solidFill>
            <a:prstDash val="solid"/>
          </a:ln>
        </p:spPr>
      </p:sp>
      <p:pic>
        <p:nvPicPr>
          <p:cNvPr id="7" name="Image 1" descr="/private/tmp/claude-501/-Users-ghanashyamrkp-AI-Apps/d936947f-11c3-48a0-9610-6ecad037576d/scratchpad/deck/ic/dog-white.png">    </p:cNvPr>
          <p:cNvPicPr>
            <a:picLocks noChangeAspect="1"/>
          </p:cNvPicPr>
          <p:nvPr/>
        </p:nvPicPr>
        <p:blipFill>
          <a:blip r:embed="rId2"/>
          <a:stretch>
            <a:fillRect/>
          </a:stretch>
        </p:blipFill>
        <p:spPr>
          <a:xfrm>
            <a:off x="3680460" y="3977640"/>
            <a:ext cx="1097280" cy="1097280"/>
          </a:xfrm>
          <a:prstGeom prst="rect">
            <a:avLst/>
          </a:prstGeom>
        </p:spPr>
      </p:pic>
      <p:sp>
        <p:nvSpPr>
          <p:cNvPr id="8" name="Shape 4"/>
          <p:cNvSpPr/>
          <p:nvPr/>
        </p:nvSpPr>
        <p:spPr>
          <a:xfrm>
            <a:off x="4091940" y="5394960"/>
            <a:ext cx="502920" cy="502920"/>
          </a:xfrm>
          <a:prstGeom prst="ellipse">
            <a:avLst/>
          </a:prstGeom>
          <a:solidFill>
            <a:srgbClr val="FFFFFF">
              <a:alpha val="85000"/>
            </a:srgbClr>
          </a:solidFill>
          <a:ln w="12700">
            <a:solidFill>
              <a:srgbClr val="FFFFFF"/>
            </a:solidFill>
            <a:prstDash val="solid"/>
          </a:ln>
        </p:spPr>
      </p:sp>
      <p:pic>
        <p:nvPicPr>
          <p:cNvPr id="9" name="Image 2" descr="/private/tmp/claude-501/-Users-ghanashyamrkp-AI-Apps/d936947f-11c3-48a0-9610-6ecad037576d/scratchpad/deck/ic/play-deep.png">    </p:cNvPr>
          <p:cNvPicPr>
            <a:picLocks noChangeAspect="1"/>
          </p:cNvPicPr>
          <p:nvPr/>
        </p:nvPicPr>
        <p:blipFill>
          <a:blip r:embed="rId3"/>
          <a:stretch>
            <a:fillRect/>
          </a:stretch>
        </p:blipFill>
        <p:spPr>
          <a:xfrm>
            <a:off x="4256532" y="5541264"/>
            <a:ext cx="219456" cy="219456"/>
          </a:xfrm>
          <a:prstGeom prst="rect">
            <a:avLst/>
          </a:prstGeom>
        </p:spPr>
      </p:pic>
      <p:sp>
        <p:nvSpPr>
          <p:cNvPr id="10" name="Text 5"/>
          <p:cNvSpPr txBox="1"/>
          <p:nvPr/>
        </p:nvSpPr>
        <p:spPr>
          <a:xfrm>
            <a:off x="1348740" y="6217920"/>
            <a:ext cx="5486400" cy="320040"/>
          </a:xfrm>
          <a:prstGeom prst="rect">
            <a:avLst/>
          </a:prstGeom>
          <a:noFill/>
          <a:ln/>
        </p:spPr>
        <p:txBody>
          <a:bodyPr wrap="square" lIns="0" tIns="0" rIns="0" bIns="0" rtlCol="0" anchor="t"/>
          <a:lstStyle/>
          <a:p>
            <a:pPr indent="0" marL="0">
              <a:buNone/>
            </a:pPr>
            <a:r>
              <a:rPr lang="en-US" sz="1250" dirty="0">
                <a:solidFill>
                  <a:srgbClr val="A9D8DF"/>
                </a:solidFill>
                <a:latin typeface="Inter 1" pitchFamily="34" charset="0"/>
                <a:ea typeface="Inter 1" pitchFamily="34" charset="-122"/>
                <a:cs typeface="Inter 1" pitchFamily="34" charset="-120"/>
              </a:rPr>
              <a:t>input_clip.mp4   ·   10 s</a:t>
            </a:r>
            <a:endParaRPr lang="en-US" sz="1250" dirty="0"/>
          </a:p>
        </p:txBody>
      </p:sp>
      <p:sp>
        <p:nvSpPr>
          <p:cNvPr id="11" name="Shape 6"/>
          <p:cNvSpPr/>
          <p:nvPr/>
        </p:nvSpPr>
        <p:spPr>
          <a:xfrm>
            <a:off x="8161020" y="2697480"/>
            <a:ext cx="9098280" cy="3977640"/>
          </a:xfrm>
          <a:prstGeom prst="roundRect">
            <a:avLst>
              <a:gd name="adj" fmla="val 3218"/>
            </a:avLst>
          </a:prstGeom>
          <a:solidFill>
            <a:srgbClr val="EEF1F2"/>
          </a:solidFill>
          <a:ln w="12700">
            <a:solidFill>
              <a:srgbClr val="EEF1F2"/>
            </a:solidFill>
            <a:prstDash val="solid"/>
          </a:ln>
        </p:spPr>
      </p:sp>
      <p:sp>
        <p:nvSpPr>
          <p:cNvPr id="12" name="Text 7"/>
          <p:cNvSpPr txBox="1"/>
          <p:nvPr/>
        </p:nvSpPr>
        <p:spPr>
          <a:xfrm>
            <a:off x="8572500" y="3017520"/>
            <a:ext cx="274320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DECISION</a:t>
            </a:r>
            <a:endParaRPr lang="en-US" sz="1100" dirty="0"/>
          </a:p>
        </p:txBody>
      </p:sp>
      <p:sp>
        <p:nvSpPr>
          <p:cNvPr id="13" name="Shape 8"/>
          <p:cNvSpPr/>
          <p:nvPr/>
        </p:nvSpPr>
        <p:spPr>
          <a:xfrm>
            <a:off x="8572500" y="3383280"/>
            <a:ext cx="2926080" cy="51206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8572500" y="3383280"/>
            <a:ext cx="292608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nter 1 Bold" pitchFamily="34" charset="0"/>
                <a:ea typeface="Inter 1 Bold" pitchFamily="34" charset="-122"/>
                <a:cs typeface="Inter 1 Bold" pitchFamily="34" charset="-120"/>
              </a:rPr>
              <a:t>STRONG MATCH</a:t>
            </a:r>
            <a:endParaRPr lang="en-US" sz="1600" dirty="0"/>
          </a:p>
        </p:txBody>
      </p:sp>
      <p:sp>
        <p:nvSpPr>
          <p:cNvPr id="15" name="Text 10"/>
          <p:cNvSpPr txBox="1"/>
          <p:nvPr/>
        </p:nvSpPr>
        <p:spPr>
          <a:xfrm>
            <a:off x="8572500" y="4069080"/>
            <a:ext cx="5486400" cy="914400"/>
          </a:xfrm>
          <a:prstGeom prst="rect">
            <a:avLst/>
          </a:prstGeom>
          <a:noFill/>
          <a:ln/>
        </p:spPr>
        <p:txBody>
          <a:bodyPr wrap="square" lIns="0" tIns="0" rIns="0" bIns="0" rtlCol="0" anchor="ctr"/>
          <a:lstStyle/>
          <a:p>
            <a:pPr indent="0" marL="0">
              <a:buNone/>
            </a:pPr>
            <a:r>
              <a:rPr lang="en-US" sz="5400" b="1" dirty="0">
                <a:solidFill>
                  <a:srgbClr val="202020"/>
                </a:solidFill>
                <a:latin typeface="Inter 1 Bold" pitchFamily="34" charset="0"/>
                <a:ea typeface="Inter 1 Bold" pitchFamily="34" charset="-122"/>
                <a:cs typeface="Inter 1 Bold" pitchFamily="34" charset="-120"/>
              </a:rPr>
              <a:t>0.91</a:t>
            </a:r>
            <a:pPr indent="0" marL="0">
              <a:buNone/>
            </a:pPr>
            <a:r>
              <a:rPr lang="en-US" sz="1500" dirty="0">
                <a:solidFill>
                  <a:srgbClr val="4A5560"/>
                </a:solidFill>
                <a:latin typeface="Inter 1" pitchFamily="34" charset="0"/>
                <a:ea typeface="Inter 1" pitchFamily="34" charset="-122"/>
                <a:cs typeface="Inter 1" pitchFamily="34" charset="-120"/>
              </a:rPr>
              <a:t>  correspondence</a:t>
            </a:r>
            <a:endParaRPr lang="en-US" sz="5400" dirty="0"/>
          </a:p>
        </p:txBody>
      </p:sp>
      <p:sp>
        <p:nvSpPr>
          <p:cNvPr id="16" name="Text 11"/>
          <p:cNvSpPr txBox="1"/>
          <p:nvPr/>
        </p:nvSpPr>
        <p:spPr>
          <a:xfrm>
            <a:off x="8572500" y="5120640"/>
            <a:ext cx="4572000" cy="365760"/>
          </a:xfrm>
          <a:prstGeom prst="rect">
            <a:avLst/>
          </a:prstGeom>
          <a:noFill/>
          <a:ln/>
        </p:spPr>
        <p:txBody>
          <a:bodyPr wrap="square" lIns="0" tIns="0" rIns="0" bIns="0" rtlCol="0" anchor="t"/>
          <a:lstStyle/>
          <a:p>
            <a:pPr indent="0" marL="0">
              <a:buNone/>
            </a:pPr>
            <a:r>
              <a:rPr lang="en-US" sz="1600" b="1" dirty="0">
                <a:solidFill>
                  <a:srgbClr val="0E5C70"/>
                </a:solidFill>
                <a:latin typeface="Inter 1 Bold" pitchFamily="34" charset="0"/>
                <a:ea typeface="Inter 1 Bold" pitchFamily="34" charset="-122"/>
                <a:cs typeface="Inter 1 Bold" pitchFamily="34" charset="-120"/>
              </a:rPr>
              <a:t>Event   </a:t>
            </a:r>
            <a:pPr indent="0" marL="0">
              <a:buNone/>
            </a:pPr>
            <a:r>
              <a:rPr lang="en-US" sz="1600" dirty="0">
                <a:solidFill>
                  <a:srgbClr val="202020"/>
                </a:solidFill>
                <a:latin typeface="Inter 1" pitchFamily="34" charset="0"/>
                <a:ea typeface="Inter 1" pitchFamily="34" charset="-122"/>
                <a:cs typeface="Inter 1" pitchFamily="34" charset="-120"/>
              </a:rPr>
              <a:t>Dog bark  (0.88)</a:t>
            </a:r>
            <a:endParaRPr lang="en-US" sz="1600" dirty="0"/>
          </a:p>
        </p:txBody>
      </p:sp>
      <p:sp>
        <p:nvSpPr>
          <p:cNvPr id="17" name="Text 12"/>
          <p:cNvSpPr txBox="1"/>
          <p:nvPr/>
        </p:nvSpPr>
        <p:spPr>
          <a:xfrm>
            <a:off x="13555980" y="3017520"/>
            <a:ext cx="329184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CONFIDENCE BANDS</a:t>
            </a:r>
            <a:endParaRPr lang="en-US" sz="1100" dirty="0"/>
          </a:p>
        </p:txBody>
      </p:sp>
      <p:sp>
        <p:nvSpPr>
          <p:cNvPr id="18" name="Shape 13"/>
          <p:cNvSpPr/>
          <p:nvPr/>
        </p:nvSpPr>
        <p:spPr>
          <a:xfrm>
            <a:off x="13555980" y="3401568"/>
            <a:ext cx="329184" cy="329184"/>
          </a:xfrm>
          <a:prstGeom prst="roundRect">
            <a:avLst>
              <a:gd name="adj" fmla="val 2222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4"/>
          <p:cNvSpPr txBox="1"/>
          <p:nvPr/>
        </p:nvSpPr>
        <p:spPr>
          <a:xfrm>
            <a:off x="14058900" y="3346704"/>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Strong match</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score ≥ upper threshold</a:t>
            </a:r>
            <a:endParaRPr lang="en-US" sz="1600" dirty="0"/>
          </a:p>
        </p:txBody>
      </p:sp>
      <p:sp>
        <p:nvSpPr>
          <p:cNvPr id="20" name="Shape 15"/>
          <p:cNvSpPr/>
          <p:nvPr/>
        </p:nvSpPr>
        <p:spPr>
          <a:xfrm>
            <a:off x="13555980" y="4114800"/>
            <a:ext cx="329184" cy="329184"/>
          </a:xfrm>
          <a:prstGeom prst="roundRect">
            <a:avLst>
              <a:gd name="adj" fmla="val 22222"/>
            </a:avLst>
          </a:prstGeom>
          <a:solidFill>
            <a:srgbClr val="B57A0E"/>
          </a:solidFill>
          <a:ln w="12700">
            <a:solidFill>
              <a:srgbClr val="B57A0E"/>
            </a:solidFill>
            <a:prstDash val="solid"/>
          </a:ln>
        </p:spPr>
      </p:sp>
      <p:sp>
        <p:nvSpPr>
          <p:cNvPr id="21" name="Text 16"/>
          <p:cNvSpPr txBox="1"/>
          <p:nvPr/>
        </p:nvSpPr>
        <p:spPr>
          <a:xfrm>
            <a:off x="14058900" y="4059936"/>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Weak / Uncertain</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between the thresholds</a:t>
            </a:r>
            <a:endParaRPr lang="en-US" sz="1600" dirty="0"/>
          </a:p>
        </p:txBody>
      </p:sp>
      <p:sp>
        <p:nvSpPr>
          <p:cNvPr id="22" name="Shape 17"/>
          <p:cNvSpPr/>
          <p:nvPr/>
        </p:nvSpPr>
        <p:spPr>
          <a:xfrm>
            <a:off x="13555980" y="4828032"/>
            <a:ext cx="329184" cy="329184"/>
          </a:xfrm>
          <a:prstGeom prst="roundRect">
            <a:avLst>
              <a:gd name="adj" fmla="val 22222"/>
            </a:avLst>
          </a:prstGeom>
          <a:solidFill>
            <a:srgbClr val="C2410C"/>
          </a:solidFill>
          <a:ln w="12700">
            <a:solidFill>
              <a:srgbClr val="C2410C"/>
            </a:solidFill>
            <a:prstDash val="solid"/>
          </a:ln>
        </p:spPr>
      </p:sp>
      <p:sp>
        <p:nvSpPr>
          <p:cNvPr id="23" name="Text 18"/>
          <p:cNvSpPr txBox="1"/>
          <p:nvPr/>
        </p:nvSpPr>
        <p:spPr>
          <a:xfrm>
            <a:off x="14058900" y="4773168"/>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Mismatch</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score &lt; lower threshold</a:t>
            </a:r>
            <a:endParaRPr lang="en-US" sz="1600" dirty="0"/>
          </a:p>
        </p:txBody>
      </p:sp>
      <p:sp>
        <p:nvSpPr>
          <p:cNvPr id="24" name="Text 19"/>
          <p:cNvSpPr txBox="1"/>
          <p:nvPr/>
        </p:nvSpPr>
        <p:spPr>
          <a:xfrm>
            <a:off x="13555980" y="5669280"/>
            <a:ext cx="3291840" cy="457200"/>
          </a:xfrm>
          <a:prstGeom prst="rect">
            <a:avLst/>
          </a:prstGeom>
          <a:noFill/>
          <a:ln/>
        </p:spPr>
        <p:txBody>
          <a:bodyPr wrap="square" lIns="0" tIns="0" rIns="0" bIns="0" rtlCol="0" anchor="t"/>
          <a:lstStyle/>
          <a:p>
            <a:pPr indent="0" marL="0">
              <a:buNone/>
            </a:pPr>
            <a:r>
              <a:rPr lang="en-US" sz="1200" i="1" dirty="0">
                <a:solidFill>
                  <a:srgbClr val="6B7782"/>
                </a:solidFill>
                <a:latin typeface="Inter 1" pitchFamily="34" charset="0"/>
                <a:ea typeface="Inter 1" pitchFamily="34" charset="-122"/>
                <a:cs typeface="Inter 1" pitchFamily="34" charset="-120"/>
              </a:rPr>
              <a:t>Thresholds are chosen on validation data.</a:t>
            </a:r>
            <a:endParaRPr lang="en-US" sz="1200" dirty="0"/>
          </a:p>
        </p:txBody>
      </p:sp>
      <p:sp>
        <p:nvSpPr>
          <p:cNvPr id="25" name="Shape 20"/>
          <p:cNvSpPr/>
          <p:nvPr/>
        </p:nvSpPr>
        <p:spPr>
          <a:xfrm>
            <a:off x="1028700" y="6995160"/>
            <a:ext cx="16230600" cy="2331720"/>
          </a:xfrm>
          <a:prstGeom prst="roundRect">
            <a:avLst>
              <a:gd name="adj" fmla="val 5490"/>
            </a:avLst>
          </a:prstGeom>
          <a:solidFill>
            <a:srgbClr val="EEF1F2"/>
          </a:solidFill>
          <a:ln w="12700">
            <a:solidFill>
              <a:srgbClr val="EEF1F2"/>
            </a:solidFill>
            <a:prstDash val="solid"/>
          </a:ln>
        </p:spPr>
      </p:sp>
      <p:sp>
        <p:nvSpPr>
          <p:cNvPr id="26" name="Text 21"/>
          <p:cNvSpPr txBox="1"/>
          <p:nvPr/>
        </p:nvSpPr>
        <p:spPr>
          <a:xfrm>
            <a:off x="1440180" y="7223760"/>
            <a:ext cx="457200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PER-SECOND EVIDENCE</a:t>
            </a:r>
            <a:endParaRPr lang="en-US" sz="1100" dirty="0"/>
          </a:p>
        </p:txBody>
      </p:sp>
      <p:sp>
        <p:nvSpPr>
          <p:cNvPr id="27" name="Text 22"/>
          <p:cNvSpPr txBox="1"/>
          <p:nvPr/>
        </p:nvSpPr>
        <p:spPr>
          <a:xfrm>
            <a:off x="1440180" y="7635240"/>
            <a:ext cx="2743200" cy="384048"/>
          </a:xfrm>
          <a:prstGeom prst="rect">
            <a:avLst/>
          </a:prstGeom>
          <a:noFill/>
          <a:ln/>
        </p:spPr>
        <p:txBody>
          <a:bodyPr wrap="square" lIns="0" tIns="0" rIns="0" bIns="0" rtlCol="0" anchor="ctr"/>
          <a:lstStyle/>
          <a:p>
            <a:pPr indent="0" marL="0">
              <a:buNone/>
            </a:pPr>
            <a:r>
              <a:rPr lang="en-US" sz="1350" dirty="0">
                <a:solidFill>
                  <a:srgbClr val="202020"/>
                </a:solidFill>
                <a:latin typeface="Inter 1" pitchFamily="34" charset="0"/>
                <a:ea typeface="Inter 1" pitchFamily="34" charset="-122"/>
                <a:cs typeface="Inter 1" pitchFamily="34" charset="-120"/>
              </a:rPr>
              <a:t>Audio: bark</a:t>
            </a:r>
            <a:endParaRPr lang="en-US" sz="1350" dirty="0"/>
          </a:p>
        </p:txBody>
      </p:sp>
      <p:sp>
        <p:nvSpPr>
          <p:cNvPr id="28" name="Shape 23"/>
          <p:cNvSpPr/>
          <p:nvPr/>
        </p:nvSpPr>
        <p:spPr>
          <a:xfrm>
            <a:off x="4357116" y="7671816"/>
            <a:ext cx="1179576" cy="329184"/>
          </a:xfrm>
          <a:prstGeom prst="roundRect">
            <a:avLst>
              <a:gd name="adj" fmla="val 16667"/>
            </a:avLst>
          </a:prstGeom>
          <a:solidFill>
            <a:srgbClr val="FFFFFF"/>
          </a:solidFill>
          <a:ln w="15875">
            <a:solidFill>
              <a:srgbClr val="D6E0E4"/>
            </a:solidFill>
            <a:prstDash val="solid"/>
          </a:ln>
        </p:spPr>
      </p:sp>
      <p:sp>
        <p:nvSpPr>
          <p:cNvPr id="29" name="Shape 24"/>
          <p:cNvSpPr/>
          <p:nvPr/>
        </p:nvSpPr>
        <p:spPr>
          <a:xfrm>
            <a:off x="5609844" y="7671816"/>
            <a:ext cx="1179576" cy="329184"/>
          </a:xfrm>
          <a:prstGeom prst="roundRect">
            <a:avLst>
              <a:gd name="adj" fmla="val 16667"/>
            </a:avLst>
          </a:prstGeom>
          <a:solidFill>
            <a:srgbClr val="0097B2"/>
          </a:solidFill>
          <a:ln w="12700">
            <a:solidFill>
              <a:srgbClr val="0097B2"/>
            </a:solidFill>
            <a:prstDash val="solid"/>
          </a:ln>
        </p:spPr>
      </p:sp>
      <p:sp>
        <p:nvSpPr>
          <p:cNvPr id="30" name="Shape 25"/>
          <p:cNvSpPr/>
          <p:nvPr/>
        </p:nvSpPr>
        <p:spPr>
          <a:xfrm>
            <a:off x="6862572" y="7671816"/>
            <a:ext cx="1179576" cy="329184"/>
          </a:xfrm>
          <a:prstGeom prst="roundRect">
            <a:avLst>
              <a:gd name="adj" fmla="val 16667"/>
            </a:avLst>
          </a:prstGeom>
          <a:solidFill>
            <a:srgbClr val="0097B2"/>
          </a:solidFill>
          <a:ln w="12700">
            <a:solidFill>
              <a:srgbClr val="0097B2"/>
            </a:solidFill>
            <a:prstDash val="solid"/>
          </a:ln>
        </p:spPr>
      </p:sp>
      <p:sp>
        <p:nvSpPr>
          <p:cNvPr id="31" name="Shape 26"/>
          <p:cNvSpPr/>
          <p:nvPr/>
        </p:nvSpPr>
        <p:spPr>
          <a:xfrm>
            <a:off x="8115300" y="7671816"/>
            <a:ext cx="1179576" cy="329184"/>
          </a:xfrm>
          <a:prstGeom prst="roundRect">
            <a:avLst>
              <a:gd name="adj" fmla="val 16667"/>
            </a:avLst>
          </a:prstGeom>
          <a:solidFill>
            <a:srgbClr val="0097B2"/>
          </a:solidFill>
          <a:ln w="12700">
            <a:solidFill>
              <a:srgbClr val="0097B2"/>
            </a:solidFill>
            <a:prstDash val="solid"/>
          </a:ln>
        </p:spPr>
      </p:sp>
      <p:sp>
        <p:nvSpPr>
          <p:cNvPr id="32" name="Shape 27"/>
          <p:cNvSpPr/>
          <p:nvPr/>
        </p:nvSpPr>
        <p:spPr>
          <a:xfrm>
            <a:off x="9368028" y="7671816"/>
            <a:ext cx="1179576" cy="329184"/>
          </a:xfrm>
          <a:prstGeom prst="roundRect">
            <a:avLst>
              <a:gd name="adj" fmla="val 16667"/>
            </a:avLst>
          </a:prstGeom>
          <a:solidFill>
            <a:srgbClr val="FFFFFF"/>
          </a:solidFill>
          <a:ln w="15875">
            <a:solidFill>
              <a:srgbClr val="D6E0E4"/>
            </a:solidFill>
            <a:prstDash val="solid"/>
          </a:ln>
        </p:spPr>
      </p:sp>
      <p:sp>
        <p:nvSpPr>
          <p:cNvPr id="33" name="Shape 28"/>
          <p:cNvSpPr/>
          <p:nvPr/>
        </p:nvSpPr>
        <p:spPr>
          <a:xfrm>
            <a:off x="10620756" y="7671816"/>
            <a:ext cx="1179576" cy="329184"/>
          </a:xfrm>
          <a:prstGeom prst="roundRect">
            <a:avLst>
              <a:gd name="adj" fmla="val 16667"/>
            </a:avLst>
          </a:prstGeom>
          <a:solidFill>
            <a:srgbClr val="0097B2"/>
          </a:solidFill>
          <a:ln w="12700">
            <a:solidFill>
              <a:srgbClr val="0097B2"/>
            </a:solidFill>
            <a:prstDash val="solid"/>
          </a:ln>
        </p:spPr>
      </p:sp>
      <p:sp>
        <p:nvSpPr>
          <p:cNvPr id="34" name="Shape 29"/>
          <p:cNvSpPr/>
          <p:nvPr/>
        </p:nvSpPr>
        <p:spPr>
          <a:xfrm>
            <a:off x="11873484" y="7671816"/>
            <a:ext cx="1179576" cy="329184"/>
          </a:xfrm>
          <a:prstGeom prst="roundRect">
            <a:avLst>
              <a:gd name="adj" fmla="val 16667"/>
            </a:avLst>
          </a:prstGeom>
          <a:solidFill>
            <a:srgbClr val="0097B2"/>
          </a:solidFill>
          <a:ln w="12700">
            <a:solidFill>
              <a:srgbClr val="0097B2"/>
            </a:solidFill>
            <a:prstDash val="solid"/>
          </a:ln>
        </p:spPr>
      </p:sp>
      <p:sp>
        <p:nvSpPr>
          <p:cNvPr id="35" name="Shape 30"/>
          <p:cNvSpPr/>
          <p:nvPr/>
        </p:nvSpPr>
        <p:spPr>
          <a:xfrm>
            <a:off x="13126212" y="7671816"/>
            <a:ext cx="1179576" cy="329184"/>
          </a:xfrm>
          <a:prstGeom prst="roundRect">
            <a:avLst>
              <a:gd name="adj" fmla="val 16667"/>
            </a:avLst>
          </a:prstGeom>
          <a:solidFill>
            <a:srgbClr val="0097B2"/>
          </a:solidFill>
          <a:ln w="12700">
            <a:solidFill>
              <a:srgbClr val="0097B2"/>
            </a:solidFill>
            <a:prstDash val="solid"/>
          </a:ln>
        </p:spPr>
      </p:sp>
      <p:sp>
        <p:nvSpPr>
          <p:cNvPr id="36" name="Shape 31"/>
          <p:cNvSpPr/>
          <p:nvPr/>
        </p:nvSpPr>
        <p:spPr>
          <a:xfrm>
            <a:off x="14378940" y="7671816"/>
            <a:ext cx="1179576" cy="329184"/>
          </a:xfrm>
          <a:prstGeom prst="roundRect">
            <a:avLst>
              <a:gd name="adj" fmla="val 16667"/>
            </a:avLst>
          </a:prstGeom>
          <a:solidFill>
            <a:srgbClr val="0097B2"/>
          </a:solidFill>
          <a:ln w="12700">
            <a:solidFill>
              <a:srgbClr val="0097B2"/>
            </a:solidFill>
            <a:prstDash val="solid"/>
          </a:ln>
        </p:spPr>
      </p:sp>
      <p:sp>
        <p:nvSpPr>
          <p:cNvPr id="37" name="Shape 32"/>
          <p:cNvSpPr/>
          <p:nvPr/>
        </p:nvSpPr>
        <p:spPr>
          <a:xfrm>
            <a:off x="15631668" y="7671816"/>
            <a:ext cx="1179576" cy="329184"/>
          </a:xfrm>
          <a:prstGeom prst="roundRect">
            <a:avLst>
              <a:gd name="adj" fmla="val 16667"/>
            </a:avLst>
          </a:prstGeom>
          <a:solidFill>
            <a:srgbClr val="FFFFFF"/>
          </a:solidFill>
          <a:ln w="15875">
            <a:solidFill>
              <a:srgbClr val="D6E0E4"/>
            </a:solidFill>
            <a:prstDash val="solid"/>
          </a:ln>
        </p:spPr>
      </p:sp>
      <p:sp>
        <p:nvSpPr>
          <p:cNvPr id="38" name="Text 33"/>
          <p:cNvSpPr txBox="1"/>
          <p:nvPr/>
        </p:nvSpPr>
        <p:spPr>
          <a:xfrm>
            <a:off x="1440180" y="8138160"/>
            <a:ext cx="2743200" cy="384048"/>
          </a:xfrm>
          <a:prstGeom prst="rect">
            <a:avLst/>
          </a:prstGeom>
          <a:noFill/>
          <a:ln/>
        </p:spPr>
        <p:txBody>
          <a:bodyPr wrap="square" lIns="0" tIns="0" rIns="0" bIns="0" rtlCol="0" anchor="ctr"/>
          <a:lstStyle/>
          <a:p>
            <a:pPr indent="0" marL="0">
              <a:buNone/>
            </a:pPr>
            <a:r>
              <a:rPr lang="en-US" sz="1350" dirty="0">
                <a:solidFill>
                  <a:srgbClr val="202020"/>
                </a:solidFill>
                <a:latin typeface="Inter 1" pitchFamily="34" charset="0"/>
                <a:ea typeface="Inter 1" pitchFamily="34" charset="-122"/>
                <a:cs typeface="Inter 1" pitchFamily="34" charset="-120"/>
              </a:rPr>
              <a:t>Visual: dog</a:t>
            </a:r>
            <a:endParaRPr lang="en-US" sz="1350" dirty="0"/>
          </a:p>
        </p:txBody>
      </p:sp>
      <p:sp>
        <p:nvSpPr>
          <p:cNvPr id="39" name="Shape 34"/>
          <p:cNvSpPr/>
          <p:nvPr/>
        </p:nvSpPr>
        <p:spPr>
          <a:xfrm>
            <a:off x="4357116" y="8174736"/>
            <a:ext cx="1179576" cy="329184"/>
          </a:xfrm>
          <a:prstGeom prst="roundRect">
            <a:avLst>
              <a:gd name="adj" fmla="val 16667"/>
            </a:avLst>
          </a:prstGeom>
          <a:solidFill>
            <a:srgbClr val="0097B2"/>
          </a:solidFill>
          <a:ln w="12700">
            <a:solidFill>
              <a:srgbClr val="0097B2"/>
            </a:solidFill>
            <a:prstDash val="solid"/>
          </a:ln>
        </p:spPr>
      </p:sp>
      <p:sp>
        <p:nvSpPr>
          <p:cNvPr id="40" name="Shape 35"/>
          <p:cNvSpPr/>
          <p:nvPr/>
        </p:nvSpPr>
        <p:spPr>
          <a:xfrm>
            <a:off x="5609844" y="8174736"/>
            <a:ext cx="1179576" cy="329184"/>
          </a:xfrm>
          <a:prstGeom prst="roundRect">
            <a:avLst>
              <a:gd name="adj" fmla="val 16667"/>
            </a:avLst>
          </a:prstGeom>
          <a:solidFill>
            <a:srgbClr val="0097B2"/>
          </a:solidFill>
          <a:ln w="12700">
            <a:solidFill>
              <a:srgbClr val="0097B2"/>
            </a:solidFill>
            <a:prstDash val="solid"/>
          </a:ln>
        </p:spPr>
      </p:sp>
      <p:sp>
        <p:nvSpPr>
          <p:cNvPr id="41" name="Shape 36"/>
          <p:cNvSpPr/>
          <p:nvPr/>
        </p:nvSpPr>
        <p:spPr>
          <a:xfrm>
            <a:off x="6862572" y="8174736"/>
            <a:ext cx="1179576" cy="329184"/>
          </a:xfrm>
          <a:prstGeom prst="roundRect">
            <a:avLst>
              <a:gd name="adj" fmla="val 16667"/>
            </a:avLst>
          </a:prstGeom>
          <a:solidFill>
            <a:srgbClr val="0097B2"/>
          </a:solidFill>
          <a:ln w="12700">
            <a:solidFill>
              <a:srgbClr val="0097B2"/>
            </a:solidFill>
            <a:prstDash val="solid"/>
          </a:ln>
        </p:spPr>
      </p:sp>
      <p:sp>
        <p:nvSpPr>
          <p:cNvPr id="42" name="Shape 37"/>
          <p:cNvSpPr/>
          <p:nvPr/>
        </p:nvSpPr>
        <p:spPr>
          <a:xfrm>
            <a:off x="8115300" y="8174736"/>
            <a:ext cx="1179576" cy="329184"/>
          </a:xfrm>
          <a:prstGeom prst="roundRect">
            <a:avLst>
              <a:gd name="adj" fmla="val 16667"/>
            </a:avLst>
          </a:prstGeom>
          <a:solidFill>
            <a:srgbClr val="0097B2"/>
          </a:solidFill>
          <a:ln w="12700">
            <a:solidFill>
              <a:srgbClr val="0097B2"/>
            </a:solidFill>
            <a:prstDash val="solid"/>
          </a:ln>
        </p:spPr>
      </p:sp>
      <p:sp>
        <p:nvSpPr>
          <p:cNvPr id="43" name="Shape 38"/>
          <p:cNvSpPr/>
          <p:nvPr/>
        </p:nvSpPr>
        <p:spPr>
          <a:xfrm>
            <a:off x="9368028" y="8174736"/>
            <a:ext cx="1179576" cy="329184"/>
          </a:xfrm>
          <a:prstGeom prst="roundRect">
            <a:avLst>
              <a:gd name="adj" fmla="val 16667"/>
            </a:avLst>
          </a:prstGeom>
          <a:solidFill>
            <a:srgbClr val="0097B2"/>
          </a:solidFill>
          <a:ln w="12700">
            <a:solidFill>
              <a:srgbClr val="0097B2"/>
            </a:solidFill>
            <a:prstDash val="solid"/>
          </a:ln>
        </p:spPr>
      </p:sp>
      <p:sp>
        <p:nvSpPr>
          <p:cNvPr id="44" name="Shape 39"/>
          <p:cNvSpPr/>
          <p:nvPr/>
        </p:nvSpPr>
        <p:spPr>
          <a:xfrm>
            <a:off x="10620756" y="8174736"/>
            <a:ext cx="1179576" cy="329184"/>
          </a:xfrm>
          <a:prstGeom prst="roundRect">
            <a:avLst>
              <a:gd name="adj" fmla="val 16667"/>
            </a:avLst>
          </a:prstGeom>
          <a:solidFill>
            <a:srgbClr val="0097B2"/>
          </a:solidFill>
          <a:ln w="12700">
            <a:solidFill>
              <a:srgbClr val="0097B2"/>
            </a:solidFill>
            <a:prstDash val="solid"/>
          </a:ln>
        </p:spPr>
      </p:sp>
      <p:sp>
        <p:nvSpPr>
          <p:cNvPr id="45" name="Shape 40"/>
          <p:cNvSpPr/>
          <p:nvPr/>
        </p:nvSpPr>
        <p:spPr>
          <a:xfrm>
            <a:off x="11873484" y="8174736"/>
            <a:ext cx="1179576" cy="329184"/>
          </a:xfrm>
          <a:prstGeom prst="roundRect">
            <a:avLst>
              <a:gd name="adj" fmla="val 16667"/>
            </a:avLst>
          </a:prstGeom>
          <a:solidFill>
            <a:srgbClr val="0097B2"/>
          </a:solidFill>
          <a:ln w="12700">
            <a:solidFill>
              <a:srgbClr val="0097B2"/>
            </a:solidFill>
            <a:prstDash val="solid"/>
          </a:ln>
        </p:spPr>
      </p:sp>
      <p:sp>
        <p:nvSpPr>
          <p:cNvPr id="46" name="Shape 41"/>
          <p:cNvSpPr/>
          <p:nvPr/>
        </p:nvSpPr>
        <p:spPr>
          <a:xfrm>
            <a:off x="13126212" y="8174736"/>
            <a:ext cx="1179576" cy="329184"/>
          </a:xfrm>
          <a:prstGeom prst="roundRect">
            <a:avLst>
              <a:gd name="adj" fmla="val 16667"/>
            </a:avLst>
          </a:prstGeom>
          <a:solidFill>
            <a:srgbClr val="0097B2"/>
          </a:solidFill>
          <a:ln w="12700">
            <a:solidFill>
              <a:srgbClr val="0097B2"/>
            </a:solidFill>
            <a:prstDash val="solid"/>
          </a:ln>
        </p:spPr>
      </p:sp>
      <p:sp>
        <p:nvSpPr>
          <p:cNvPr id="47" name="Shape 42"/>
          <p:cNvSpPr/>
          <p:nvPr/>
        </p:nvSpPr>
        <p:spPr>
          <a:xfrm>
            <a:off x="14378940" y="8174736"/>
            <a:ext cx="1179576" cy="329184"/>
          </a:xfrm>
          <a:prstGeom prst="roundRect">
            <a:avLst>
              <a:gd name="adj" fmla="val 16667"/>
            </a:avLst>
          </a:prstGeom>
          <a:solidFill>
            <a:srgbClr val="0097B2"/>
          </a:solidFill>
          <a:ln w="12700">
            <a:solidFill>
              <a:srgbClr val="0097B2"/>
            </a:solidFill>
            <a:prstDash val="solid"/>
          </a:ln>
        </p:spPr>
      </p:sp>
      <p:sp>
        <p:nvSpPr>
          <p:cNvPr id="48" name="Shape 43"/>
          <p:cNvSpPr/>
          <p:nvPr/>
        </p:nvSpPr>
        <p:spPr>
          <a:xfrm>
            <a:off x="15631668" y="8174736"/>
            <a:ext cx="1179576" cy="329184"/>
          </a:xfrm>
          <a:prstGeom prst="roundRect">
            <a:avLst>
              <a:gd name="adj" fmla="val 16667"/>
            </a:avLst>
          </a:prstGeom>
          <a:solidFill>
            <a:srgbClr val="0097B2"/>
          </a:solidFill>
          <a:ln w="12700">
            <a:solidFill>
              <a:srgbClr val="0097B2"/>
            </a:solidFill>
            <a:prstDash val="solid"/>
          </a:ln>
        </p:spPr>
      </p:sp>
      <p:sp>
        <p:nvSpPr>
          <p:cNvPr id="49" name="Text 44"/>
          <p:cNvSpPr txBox="1"/>
          <p:nvPr/>
        </p:nvSpPr>
        <p:spPr>
          <a:xfrm>
            <a:off x="1440180" y="8641080"/>
            <a:ext cx="2743200" cy="384048"/>
          </a:xfrm>
          <a:prstGeom prst="rect">
            <a:avLst/>
          </a:prstGeom>
          <a:noFill/>
          <a:ln/>
        </p:spPr>
        <p:txBody>
          <a:bodyPr wrap="square" lIns="0" tIns="0" rIns="0" bIns="0" rtlCol="0" anchor="ctr"/>
          <a:lstStyle/>
          <a:p>
            <a:pPr indent="0" marL="0">
              <a:buNone/>
            </a:pPr>
            <a:r>
              <a:rPr lang="en-US" sz="1350" b="1" dirty="0">
                <a:solidFill>
                  <a:srgbClr val="202020"/>
                </a:solidFill>
                <a:latin typeface="Inter 1 Bold" pitchFamily="34" charset="0"/>
                <a:ea typeface="Inter 1 Bold" pitchFamily="34" charset="-122"/>
                <a:cs typeface="Inter 1 Bold" pitchFamily="34" charset="-120"/>
              </a:rPr>
              <a:t>Audible &amp; visible</a:t>
            </a:r>
            <a:endParaRPr lang="en-US" sz="1350" dirty="0"/>
          </a:p>
        </p:txBody>
      </p:sp>
      <p:sp>
        <p:nvSpPr>
          <p:cNvPr id="50" name="Shape 45"/>
          <p:cNvSpPr/>
          <p:nvPr/>
        </p:nvSpPr>
        <p:spPr>
          <a:xfrm>
            <a:off x="4357116" y="8677656"/>
            <a:ext cx="1179576" cy="329184"/>
          </a:xfrm>
          <a:prstGeom prst="roundRect">
            <a:avLst>
              <a:gd name="adj" fmla="val 16667"/>
            </a:avLst>
          </a:prstGeom>
          <a:solidFill>
            <a:srgbClr val="FFFFFF"/>
          </a:solidFill>
          <a:ln w="15875">
            <a:solidFill>
              <a:srgbClr val="D6E0E4"/>
            </a:solidFill>
            <a:prstDash val="solid"/>
          </a:ln>
        </p:spPr>
      </p:sp>
      <p:sp>
        <p:nvSpPr>
          <p:cNvPr id="51" name="Shape 46"/>
          <p:cNvSpPr/>
          <p:nvPr/>
        </p:nvSpPr>
        <p:spPr>
          <a:xfrm>
            <a:off x="560984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2" name="Shape 47"/>
          <p:cNvSpPr/>
          <p:nvPr/>
        </p:nvSpPr>
        <p:spPr>
          <a:xfrm>
            <a:off x="686257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3" name="Shape 48"/>
          <p:cNvSpPr/>
          <p:nvPr/>
        </p:nvSpPr>
        <p:spPr>
          <a:xfrm>
            <a:off x="811530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4" name="Shape 49"/>
          <p:cNvSpPr/>
          <p:nvPr/>
        </p:nvSpPr>
        <p:spPr>
          <a:xfrm>
            <a:off x="9368028" y="8677656"/>
            <a:ext cx="1179576" cy="329184"/>
          </a:xfrm>
          <a:prstGeom prst="roundRect">
            <a:avLst>
              <a:gd name="adj" fmla="val 16667"/>
            </a:avLst>
          </a:prstGeom>
          <a:solidFill>
            <a:srgbClr val="FFFFFF"/>
          </a:solidFill>
          <a:ln w="15875">
            <a:solidFill>
              <a:srgbClr val="D6E0E4"/>
            </a:solidFill>
            <a:prstDash val="solid"/>
          </a:ln>
        </p:spPr>
      </p:sp>
      <p:sp>
        <p:nvSpPr>
          <p:cNvPr id="55" name="Shape 50"/>
          <p:cNvSpPr/>
          <p:nvPr/>
        </p:nvSpPr>
        <p:spPr>
          <a:xfrm>
            <a:off x="10620756"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6" name="Shape 51"/>
          <p:cNvSpPr/>
          <p:nvPr/>
        </p:nvSpPr>
        <p:spPr>
          <a:xfrm>
            <a:off x="1187348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7" name="Shape 52"/>
          <p:cNvSpPr/>
          <p:nvPr/>
        </p:nvSpPr>
        <p:spPr>
          <a:xfrm>
            <a:off x="1312621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8" name="Shape 53"/>
          <p:cNvSpPr/>
          <p:nvPr/>
        </p:nvSpPr>
        <p:spPr>
          <a:xfrm>
            <a:off x="1437894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9" name="Shape 54"/>
          <p:cNvSpPr/>
          <p:nvPr/>
        </p:nvSpPr>
        <p:spPr>
          <a:xfrm>
            <a:off x="15631668" y="8677656"/>
            <a:ext cx="1179576" cy="329184"/>
          </a:xfrm>
          <a:prstGeom prst="roundRect">
            <a:avLst>
              <a:gd name="adj" fmla="val 16667"/>
            </a:avLst>
          </a:prstGeom>
          <a:solidFill>
            <a:srgbClr val="FFFFFF"/>
          </a:solidFill>
          <a:ln w="15875">
            <a:solidFill>
              <a:srgbClr val="D6E0E4"/>
            </a:solidFill>
            <a:prstDash val="solid"/>
          </a:ln>
        </p:spPr>
      </p:sp>
      <p:sp>
        <p:nvSpPr>
          <p:cNvPr id="60" name="Text 55"/>
          <p:cNvSpPr txBox="1"/>
          <p:nvPr/>
        </p:nvSpPr>
        <p:spPr>
          <a:xfrm>
            <a:off x="4320540"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0s</a:t>
            </a:r>
            <a:endParaRPr lang="en-US" sz="1000" dirty="0"/>
          </a:p>
        </p:txBody>
      </p:sp>
      <p:sp>
        <p:nvSpPr>
          <p:cNvPr id="61" name="Text 56"/>
          <p:cNvSpPr txBox="1"/>
          <p:nvPr/>
        </p:nvSpPr>
        <p:spPr>
          <a:xfrm>
            <a:off x="5573268"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1s</a:t>
            </a:r>
            <a:endParaRPr lang="en-US" sz="1000" dirty="0"/>
          </a:p>
        </p:txBody>
      </p:sp>
      <p:sp>
        <p:nvSpPr>
          <p:cNvPr id="62" name="Text 57"/>
          <p:cNvSpPr txBox="1"/>
          <p:nvPr/>
        </p:nvSpPr>
        <p:spPr>
          <a:xfrm>
            <a:off x="6825996"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2s</a:t>
            </a:r>
            <a:endParaRPr lang="en-US" sz="1000" dirty="0"/>
          </a:p>
        </p:txBody>
      </p:sp>
      <p:sp>
        <p:nvSpPr>
          <p:cNvPr id="63" name="Text 58"/>
          <p:cNvSpPr txBox="1"/>
          <p:nvPr/>
        </p:nvSpPr>
        <p:spPr>
          <a:xfrm>
            <a:off x="8078724"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3s</a:t>
            </a:r>
            <a:endParaRPr lang="en-US" sz="1000" dirty="0"/>
          </a:p>
        </p:txBody>
      </p:sp>
      <p:sp>
        <p:nvSpPr>
          <p:cNvPr id="64" name="Text 59"/>
          <p:cNvSpPr txBox="1"/>
          <p:nvPr/>
        </p:nvSpPr>
        <p:spPr>
          <a:xfrm>
            <a:off x="9331452"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4s</a:t>
            </a:r>
            <a:endParaRPr lang="en-US" sz="1000" dirty="0"/>
          </a:p>
        </p:txBody>
      </p:sp>
      <p:sp>
        <p:nvSpPr>
          <p:cNvPr id="65" name="Text 60"/>
          <p:cNvSpPr txBox="1"/>
          <p:nvPr/>
        </p:nvSpPr>
        <p:spPr>
          <a:xfrm>
            <a:off x="10584180"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5s</a:t>
            </a:r>
            <a:endParaRPr lang="en-US" sz="1000" dirty="0"/>
          </a:p>
        </p:txBody>
      </p:sp>
      <p:sp>
        <p:nvSpPr>
          <p:cNvPr id="66" name="Text 61"/>
          <p:cNvSpPr txBox="1"/>
          <p:nvPr/>
        </p:nvSpPr>
        <p:spPr>
          <a:xfrm>
            <a:off x="11836908"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6s</a:t>
            </a:r>
            <a:endParaRPr lang="en-US" sz="1000" dirty="0"/>
          </a:p>
        </p:txBody>
      </p:sp>
      <p:sp>
        <p:nvSpPr>
          <p:cNvPr id="67" name="Text 62"/>
          <p:cNvSpPr txBox="1"/>
          <p:nvPr/>
        </p:nvSpPr>
        <p:spPr>
          <a:xfrm>
            <a:off x="13089636"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7s</a:t>
            </a:r>
            <a:endParaRPr lang="en-US" sz="1000" dirty="0"/>
          </a:p>
        </p:txBody>
      </p:sp>
      <p:sp>
        <p:nvSpPr>
          <p:cNvPr id="68" name="Text 63"/>
          <p:cNvSpPr txBox="1"/>
          <p:nvPr/>
        </p:nvSpPr>
        <p:spPr>
          <a:xfrm>
            <a:off x="14342364"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8s</a:t>
            </a:r>
            <a:endParaRPr lang="en-US" sz="1000" dirty="0"/>
          </a:p>
        </p:txBody>
      </p:sp>
      <p:sp>
        <p:nvSpPr>
          <p:cNvPr id="69" name="Text 64"/>
          <p:cNvSpPr txBox="1"/>
          <p:nvPr/>
        </p:nvSpPr>
        <p:spPr>
          <a:xfrm>
            <a:off x="15595092"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9s</a:t>
            </a:r>
            <a:endParaRPr lang="en-US" sz="1000" dirty="0"/>
          </a:p>
        </p:txBody>
      </p:sp>
      <p:sp>
        <p:nvSpPr>
          <p:cNvPr id="70" name="Text 65"/>
          <p:cNvSpPr txBox="1"/>
          <p:nvPr/>
        </p:nvSpPr>
        <p:spPr>
          <a:xfrm>
            <a:off x="1028700" y="9418320"/>
            <a:ext cx="7315200" cy="274320"/>
          </a:xfrm>
          <a:prstGeom prst="rect">
            <a:avLst/>
          </a:prstGeom>
          <a:noFill/>
          <a:ln/>
        </p:spPr>
        <p:txBody>
          <a:bodyPr wrap="square" lIns="0" tIns="0" rIns="0" bIns="0" rtlCol="0" anchor="t"/>
          <a:lstStyle/>
          <a:p>
            <a:pPr indent="0" marL="0">
              <a:buNone/>
            </a:pPr>
            <a:r>
              <a:rPr lang="en-US" sz="1150" i="1" dirty="0">
                <a:solidFill>
                  <a:srgbClr val="6B7782"/>
                </a:solidFill>
                <a:latin typeface="Inter 1" pitchFamily="34" charset="0"/>
                <a:ea typeface="Inter 1" pitchFamily="34" charset="-122"/>
                <a:cs typeface="Inter 1" pitchFamily="34" charset="-120"/>
              </a:rPr>
              <a:t>Illustrative mock-up. No results yet.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Progress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So Far</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Design and planning are complete. Build starts with data and baselines.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13</a:t>
            </a:r>
            <a:endParaRPr lang="en-US" sz="1050" dirty="0"/>
          </a:p>
        </p:txBody>
      </p:sp>
      <p:sp>
        <p:nvSpPr>
          <p:cNvPr id="6" name="Shape 3"/>
          <p:cNvSpPr/>
          <p:nvPr/>
        </p:nvSpPr>
        <p:spPr>
          <a:xfrm>
            <a:off x="1028700" y="2697480"/>
            <a:ext cx="7955280" cy="6583680"/>
          </a:xfrm>
          <a:prstGeom prst="roundRect">
            <a:avLst>
              <a:gd name="adj" fmla="val 1944"/>
            </a:avLst>
          </a:prstGeom>
          <a:solidFill>
            <a:srgbClr val="EEF1F2"/>
          </a:solidFill>
          <a:ln w="12700">
            <a:solidFill>
              <a:srgbClr val="EEF1F2"/>
            </a:solidFill>
            <a:prstDash val="solid"/>
          </a:ln>
        </p:spPr>
      </p:sp>
      <p:sp>
        <p:nvSpPr>
          <p:cNvPr id="7" name="Shape 4"/>
          <p:cNvSpPr/>
          <p:nvPr/>
        </p:nvSpPr>
        <p:spPr>
          <a:xfrm>
            <a:off x="1394460" y="3017520"/>
            <a:ext cx="201168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94460" y="3017520"/>
            <a:ext cx="201168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DONE</a:t>
            </a:r>
            <a:endParaRPr lang="en-US" sz="1300" dirty="0"/>
          </a:p>
        </p:txBody>
      </p:sp>
      <p:pic>
        <p:nvPicPr>
          <p:cNvPr id="9" name="Image 1" descr="/private/tmp/claude-501/-Users-ghanashyamrkp-AI-Apps/d936947f-11c3-48a0-9610-6ecad037576d/scratchpad/deck/ic/check-teal.png">    </p:cNvPr>
          <p:cNvPicPr>
            <a:picLocks noChangeAspect="1"/>
          </p:cNvPicPr>
          <p:nvPr/>
        </p:nvPicPr>
        <p:blipFill>
          <a:blip r:embed="rId2"/>
          <a:stretch>
            <a:fillRect/>
          </a:stretch>
        </p:blipFill>
        <p:spPr>
          <a:xfrm>
            <a:off x="1440180" y="3794760"/>
            <a:ext cx="274320" cy="274320"/>
          </a:xfrm>
          <a:prstGeom prst="rect">
            <a:avLst/>
          </a:prstGeom>
        </p:spPr>
      </p:pic>
      <p:sp>
        <p:nvSpPr>
          <p:cNvPr id="10" name="Text 6"/>
          <p:cNvSpPr txBox="1"/>
          <p:nvPr/>
        </p:nvSpPr>
        <p:spPr>
          <a:xfrm>
            <a:off x="1897380" y="3749040"/>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Problem and research question defined</a:t>
            </a:r>
            <a:endParaRPr lang="en-US" sz="1800" dirty="0"/>
          </a:p>
        </p:txBody>
      </p:sp>
      <p:pic>
        <p:nvPicPr>
          <p:cNvPr id="11" name="Image 2" descr="/private/tmp/claude-501/-Users-ghanashyamrkp-AI-Apps/d936947f-11c3-48a0-9610-6ecad037576d/scratchpad/deck/ic/check-teal.png">    </p:cNvPr>
          <p:cNvPicPr>
            <a:picLocks noChangeAspect="1"/>
          </p:cNvPicPr>
          <p:nvPr/>
        </p:nvPicPr>
        <p:blipFill>
          <a:blip r:embed="rId3"/>
          <a:stretch>
            <a:fillRect/>
          </a:stretch>
        </p:blipFill>
        <p:spPr>
          <a:xfrm>
            <a:off x="1440180" y="4690872"/>
            <a:ext cx="274320" cy="274320"/>
          </a:xfrm>
          <a:prstGeom prst="rect">
            <a:avLst/>
          </a:prstGeom>
        </p:spPr>
      </p:pic>
      <p:sp>
        <p:nvSpPr>
          <p:cNvPr id="12" name="Text 7"/>
          <p:cNvSpPr txBox="1"/>
          <p:nvPr/>
        </p:nvSpPr>
        <p:spPr>
          <a:xfrm>
            <a:off x="1897380" y="4645152"/>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AVE selected as the primary dataset; optional sources identified</a:t>
            </a:r>
            <a:endParaRPr lang="en-US" sz="1800" dirty="0"/>
          </a:p>
        </p:txBody>
      </p:sp>
      <p:pic>
        <p:nvPicPr>
          <p:cNvPr id="13" name="Image 3" descr="/private/tmp/claude-501/-Users-ghanashyamrkp-AI-Apps/d936947f-11c3-48a0-9610-6ecad037576d/scratchpad/deck/ic/check-teal.png">    </p:cNvPr>
          <p:cNvPicPr>
            <a:picLocks noChangeAspect="1"/>
          </p:cNvPicPr>
          <p:nvPr/>
        </p:nvPicPr>
        <p:blipFill>
          <a:blip r:embed="rId4"/>
          <a:stretch>
            <a:fillRect/>
          </a:stretch>
        </p:blipFill>
        <p:spPr>
          <a:xfrm>
            <a:off x="1440180" y="5586984"/>
            <a:ext cx="274320" cy="274320"/>
          </a:xfrm>
          <a:prstGeom prst="rect">
            <a:avLst/>
          </a:prstGeom>
        </p:spPr>
      </p:pic>
      <p:sp>
        <p:nvSpPr>
          <p:cNvPr id="14" name="Text 8"/>
          <p:cNvSpPr txBox="1"/>
          <p:nvPr/>
        </p:nvSpPr>
        <p:spPr>
          <a:xfrm>
            <a:off x="1897380" y="5541264"/>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System design and prediction heads agreed</a:t>
            </a:r>
            <a:endParaRPr lang="en-US" sz="1800" dirty="0"/>
          </a:p>
        </p:txBody>
      </p:sp>
      <p:pic>
        <p:nvPicPr>
          <p:cNvPr id="15" name="Image 4" descr="/private/tmp/claude-501/-Users-ghanashyamrkp-AI-Apps/d936947f-11c3-48a0-9610-6ecad037576d/scratchpad/deck/ic/check-teal.png">    </p:cNvPr>
          <p:cNvPicPr>
            <a:picLocks noChangeAspect="1"/>
          </p:cNvPicPr>
          <p:nvPr/>
        </p:nvPicPr>
        <p:blipFill>
          <a:blip r:embed="rId5"/>
          <a:stretch>
            <a:fillRect/>
          </a:stretch>
        </p:blipFill>
        <p:spPr>
          <a:xfrm>
            <a:off x="1440180" y="6483096"/>
            <a:ext cx="274320" cy="274320"/>
          </a:xfrm>
          <a:prstGeom prst="rect">
            <a:avLst/>
          </a:prstGeom>
        </p:spPr>
      </p:pic>
      <p:sp>
        <p:nvSpPr>
          <p:cNvPr id="16" name="Text 9"/>
          <p:cNvSpPr txBox="1"/>
          <p:nvPr/>
        </p:nvSpPr>
        <p:spPr>
          <a:xfrm>
            <a:off x="1897380" y="6437376"/>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Evaluation plan fixed, including the label-agreement baseline and hard negatives</a:t>
            </a:r>
            <a:endParaRPr lang="en-US" sz="1800" dirty="0"/>
          </a:p>
        </p:txBody>
      </p:sp>
      <p:pic>
        <p:nvPicPr>
          <p:cNvPr id="17" name="Image 5" descr="/private/tmp/claude-501/-Users-ghanashyamrkp-AI-Apps/d936947f-11c3-48a0-9610-6ecad037576d/scratchpad/deck/ic/check-teal.png">    </p:cNvPr>
          <p:cNvPicPr>
            <a:picLocks noChangeAspect="1"/>
          </p:cNvPicPr>
          <p:nvPr/>
        </p:nvPicPr>
        <p:blipFill>
          <a:blip r:embed="rId6"/>
          <a:stretch>
            <a:fillRect/>
          </a:stretch>
        </p:blipFill>
        <p:spPr>
          <a:xfrm>
            <a:off x="1440180" y="7379208"/>
            <a:ext cx="274320" cy="274320"/>
          </a:xfrm>
          <a:prstGeom prst="rect">
            <a:avLst/>
          </a:prstGeom>
        </p:spPr>
      </p:pic>
      <p:sp>
        <p:nvSpPr>
          <p:cNvPr id="18" name="Text 10"/>
          <p:cNvSpPr txBox="1"/>
          <p:nvPr/>
        </p:nvSpPr>
        <p:spPr>
          <a:xfrm>
            <a:off x="1897380" y="7333488"/>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Proposal submitted on 30 Sep</a:t>
            </a:r>
            <a:endParaRPr lang="en-US" sz="1800" dirty="0"/>
          </a:p>
        </p:txBody>
      </p:sp>
      <p:pic>
        <p:nvPicPr>
          <p:cNvPr id="19" name="Image 6" descr="/private/tmp/claude-501/-Users-ghanashyamrkp-AI-Apps/d936947f-11c3-48a0-9610-6ecad037576d/scratchpad/deck/ic/check-teal.png">    </p:cNvPr>
          <p:cNvPicPr>
            <a:picLocks noChangeAspect="1"/>
          </p:cNvPicPr>
          <p:nvPr/>
        </p:nvPicPr>
        <p:blipFill>
          <a:blip r:embed="rId7"/>
          <a:stretch>
            <a:fillRect/>
          </a:stretch>
        </p:blipFill>
        <p:spPr>
          <a:xfrm>
            <a:off x="1440180" y="8275320"/>
            <a:ext cx="274320" cy="274320"/>
          </a:xfrm>
          <a:prstGeom prst="rect">
            <a:avLst/>
          </a:prstGeom>
        </p:spPr>
      </p:pic>
      <p:sp>
        <p:nvSpPr>
          <p:cNvPr id="20" name="Text 11"/>
          <p:cNvSpPr txBox="1"/>
          <p:nvPr/>
        </p:nvSpPr>
        <p:spPr>
          <a:xfrm>
            <a:off x="1897380" y="8229600"/>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Shared GitHub repository set up; work split by modality, each member owning data and model</a:t>
            </a:r>
            <a:endParaRPr lang="en-US" sz="1800" dirty="0"/>
          </a:p>
        </p:txBody>
      </p:sp>
      <p:sp>
        <p:nvSpPr>
          <p:cNvPr id="21" name="Shape 12"/>
          <p:cNvSpPr/>
          <p:nvPr/>
        </p:nvSpPr>
        <p:spPr>
          <a:xfrm>
            <a:off x="9304020" y="2697480"/>
            <a:ext cx="7955280" cy="6583680"/>
          </a:xfrm>
          <a:prstGeom prst="roundRect">
            <a:avLst>
              <a:gd name="adj" fmla="val 1944"/>
            </a:avLst>
          </a:prstGeom>
          <a:solidFill>
            <a:srgbClr val="E3F4F6"/>
          </a:solidFill>
          <a:ln w="12700">
            <a:solidFill>
              <a:srgbClr val="E3F4F6"/>
            </a:solidFill>
            <a:prstDash val="solid"/>
          </a:ln>
        </p:spPr>
      </p:sp>
      <p:sp>
        <p:nvSpPr>
          <p:cNvPr id="22" name="Shape 13"/>
          <p:cNvSpPr/>
          <p:nvPr/>
        </p:nvSpPr>
        <p:spPr>
          <a:xfrm>
            <a:off x="9669780" y="3017520"/>
            <a:ext cx="2011680" cy="420624"/>
          </a:xfrm>
          <a:prstGeom prst="roundRect">
            <a:avLst>
              <a:gd name="adj" fmla="val 50000"/>
            </a:avLst>
          </a:prstGeom>
          <a:solidFill>
            <a:srgbClr val="0097B2"/>
          </a:solidFill>
          <a:ln w="12700">
            <a:solidFill>
              <a:srgbClr val="0097B2"/>
            </a:solidFill>
            <a:prstDash val="solid"/>
          </a:ln>
        </p:spPr>
      </p:sp>
      <p:sp>
        <p:nvSpPr>
          <p:cNvPr id="23" name="Text 14"/>
          <p:cNvSpPr txBox="1"/>
          <p:nvPr/>
        </p:nvSpPr>
        <p:spPr>
          <a:xfrm>
            <a:off x="9669780" y="3017520"/>
            <a:ext cx="201168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NEXT</a:t>
            </a:r>
            <a:endParaRPr lang="en-US" sz="1300" dirty="0"/>
          </a:p>
        </p:txBody>
      </p:sp>
      <p:sp>
        <p:nvSpPr>
          <p:cNvPr id="24" name="Shape 15"/>
          <p:cNvSpPr/>
          <p:nvPr/>
        </p:nvSpPr>
        <p:spPr>
          <a:xfrm>
            <a:off x="9669780" y="3749040"/>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5" name="Text 16"/>
          <p:cNvSpPr txBox="1"/>
          <p:nvPr/>
        </p:nvSpPr>
        <p:spPr>
          <a:xfrm>
            <a:off x="9669780" y="3749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1</a:t>
            </a:r>
            <a:endParaRPr lang="en-US" sz="1400" dirty="0"/>
          </a:p>
        </p:txBody>
      </p:sp>
      <p:sp>
        <p:nvSpPr>
          <p:cNvPr id="26" name="Text 17"/>
          <p:cNvSpPr txBox="1"/>
          <p:nvPr/>
        </p:nvSpPr>
        <p:spPr>
          <a:xfrm>
            <a:off x="10264140" y="3712464"/>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Data</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Download AVE, extract audio and frames, map per-second labels</a:t>
            </a:r>
            <a:endParaRPr lang="en-US" sz="1800" dirty="0"/>
          </a:p>
        </p:txBody>
      </p:sp>
      <p:sp>
        <p:nvSpPr>
          <p:cNvPr id="27" name="Shape 18"/>
          <p:cNvSpPr/>
          <p:nvPr/>
        </p:nvSpPr>
        <p:spPr>
          <a:xfrm>
            <a:off x="9669780" y="4828032"/>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8" name="Text 19"/>
          <p:cNvSpPr txBox="1"/>
          <p:nvPr/>
        </p:nvSpPr>
        <p:spPr>
          <a:xfrm>
            <a:off x="9669780" y="48280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2</a:t>
            </a:r>
            <a:endParaRPr lang="en-US" sz="1400" dirty="0"/>
          </a:p>
        </p:txBody>
      </p:sp>
      <p:sp>
        <p:nvSpPr>
          <p:cNvPr id="29" name="Text 20"/>
          <p:cNvSpPr txBox="1"/>
          <p:nvPr/>
        </p:nvSpPr>
        <p:spPr>
          <a:xfrm>
            <a:off x="10264140" y="4791456"/>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Baselines</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Spectrogram CNN for audio; image-CNN features for video</a:t>
            </a:r>
            <a:endParaRPr lang="en-US" sz="1800" dirty="0"/>
          </a:p>
        </p:txBody>
      </p:sp>
      <p:sp>
        <p:nvSpPr>
          <p:cNvPr id="30" name="Shape 21"/>
          <p:cNvSpPr/>
          <p:nvPr/>
        </p:nvSpPr>
        <p:spPr>
          <a:xfrm>
            <a:off x="9669780" y="5907024"/>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1" name="Text 22"/>
          <p:cNvSpPr txBox="1"/>
          <p:nvPr/>
        </p:nvSpPr>
        <p:spPr>
          <a:xfrm>
            <a:off x="9669780" y="5907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3</a:t>
            </a:r>
            <a:endParaRPr lang="en-US" sz="1400" dirty="0"/>
          </a:p>
        </p:txBody>
      </p:sp>
      <p:sp>
        <p:nvSpPr>
          <p:cNvPr id="32" name="Text 23"/>
          <p:cNvSpPr txBox="1"/>
          <p:nvPr/>
        </p:nvSpPr>
        <p:spPr>
          <a:xfrm>
            <a:off x="10264140" y="5870448"/>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Pairs &amp; harness</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Pair generator and a shared evaluation script</a:t>
            </a:r>
            <a:endParaRPr lang="en-US" sz="1800" dirty="0"/>
          </a:p>
        </p:txBody>
      </p:sp>
      <p:sp>
        <p:nvSpPr>
          <p:cNvPr id="33" name="Shape 24"/>
          <p:cNvSpPr/>
          <p:nvPr/>
        </p:nvSpPr>
        <p:spPr>
          <a:xfrm>
            <a:off x="9669780" y="6986016"/>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4" name="Text 25"/>
          <p:cNvSpPr txBox="1"/>
          <p:nvPr/>
        </p:nvSpPr>
        <p:spPr>
          <a:xfrm>
            <a:off x="9669780" y="6986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4</a:t>
            </a:r>
            <a:endParaRPr lang="en-US" sz="1400" dirty="0"/>
          </a:p>
        </p:txBody>
      </p:sp>
      <p:sp>
        <p:nvSpPr>
          <p:cNvPr id="35" name="Text 26"/>
          <p:cNvSpPr txBox="1"/>
          <p:nvPr/>
        </p:nvSpPr>
        <p:spPr>
          <a:xfrm>
            <a:off x="10264140" y="6949440"/>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Fusion v1</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Late fusion with the three heads</a:t>
            </a:r>
            <a:endParaRPr lang="en-US" sz="1800" dirty="0"/>
          </a:p>
        </p:txBody>
      </p:sp>
      <p:sp>
        <p:nvSpPr>
          <p:cNvPr id="36" name="Shape 27"/>
          <p:cNvSpPr/>
          <p:nvPr/>
        </p:nvSpPr>
        <p:spPr>
          <a:xfrm>
            <a:off x="9669780" y="8065008"/>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28"/>
          <p:cNvSpPr txBox="1"/>
          <p:nvPr/>
        </p:nvSpPr>
        <p:spPr>
          <a:xfrm>
            <a:off x="9669780" y="8065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5</a:t>
            </a:r>
            <a:endParaRPr lang="en-US" sz="1400" dirty="0"/>
          </a:p>
        </p:txBody>
      </p:sp>
      <p:sp>
        <p:nvSpPr>
          <p:cNvPr id="38" name="Text 29"/>
          <p:cNvSpPr txBox="1"/>
          <p:nvPr/>
        </p:nvSpPr>
        <p:spPr>
          <a:xfrm>
            <a:off x="10264140" y="8028432"/>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Demo</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First end-to-end run on a single clip</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Team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Roles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Each member owns one slice from raw data to model output. Integration is shared.</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14</a:t>
            </a:r>
            <a:endParaRPr lang="en-US" sz="1050" dirty="0"/>
          </a:p>
        </p:txBody>
      </p:sp>
      <p:sp>
        <p:nvSpPr>
          <p:cNvPr id="6" name="Shape 3"/>
          <p:cNvSpPr/>
          <p:nvPr/>
        </p:nvSpPr>
        <p:spPr>
          <a:xfrm>
            <a:off x="1028700" y="2697480"/>
            <a:ext cx="5196840" cy="5212080"/>
          </a:xfrm>
          <a:prstGeom prst="roundRect">
            <a:avLst>
              <a:gd name="adj" fmla="val 2463"/>
            </a:avLst>
          </a:prstGeom>
          <a:solidFill>
            <a:srgbClr val="EEF1F2"/>
          </a:solidFill>
          <a:ln w="12700">
            <a:solidFill>
              <a:srgbClr val="EEF1F2"/>
            </a:solidFill>
            <a:prstDash val="solid"/>
          </a:ln>
        </p:spPr>
      </p:sp>
      <p:sp>
        <p:nvSpPr>
          <p:cNvPr id="7" name="Text 4"/>
          <p:cNvSpPr txBox="1"/>
          <p:nvPr/>
        </p:nvSpPr>
        <p:spPr>
          <a:xfrm>
            <a:off x="139446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9446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Ghanashyam</a:t>
            </a:r>
            <a:endParaRPr lang="en-US" sz="2400" dirty="0"/>
          </a:p>
        </p:txBody>
      </p:sp>
      <p:sp>
        <p:nvSpPr>
          <p:cNvPr id="9" name="Shape 6"/>
          <p:cNvSpPr/>
          <p:nvPr/>
        </p:nvSpPr>
        <p:spPr>
          <a:xfrm>
            <a:off x="139446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0" name="Text 7"/>
          <p:cNvSpPr txBox="1"/>
          <p:nvPr/>
        </p:nvSpPr>
        <p:spPr>
          <a:xfrm>
            <a:off x="139446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Audio</a:t>
            </a:r>
            <a:endParaRPr lang="en-US" sz="1350" dirty="0"/>
          </a:p>
        </p:txBody>
      </p:sp>
      <p:sp>
        <p:nvSpPr>
          <p:cNvPr id="11" name="Text 8"/>
          <p:cNvSpPr txBox="1"/>
          <p:nvPr/>
        </p:nvSpPr>
        <p:spPr>
          <a:xfrm>
            <a:off x="139446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extraction and preprocessing; per-second audio labels</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baseline and pretrained encoder; audio experiments</a:t>
            </a:r>
            <a:endParaRPr lang="en-US" sz="1050" dirty="0"/>
          </a:p>
        </p:txBody>
      </p:sp>
      <p:sp>
        <p:nvSpPr>
          <p:cNvPr id="12" name="Shape 9"/>
          <p:cNvSpPr/>
          <p:nvPr/>
        </p:nvSpPr>
        <p:spPr>
          <a:xfrm>
            <a:off x="6545580" y="2697480"/>
            <a:ext cx="5196840" cy="5212080"/>
          </a:xfrm>
          <a:prstGeom prst="roundRect">
            <a:avLst>
              <a:gd name="adj" fmla="val 2463"/>
            </a:avLst>
          </a:prstGeom>
          <a:solidFill>
            <a:srgbClr val="EEF1F2"/>
          </a:solidFill>
          <a:ln w="12700">
            <a:solidFill>
              <a:srgbClr val="EEF1F2"/>
            </a:solidFill>
            <a:prstDash val="solid"/>
          </a:ln>
        </p:spPr>
      </p:sp>
      <p:sp>
        <p:nvSpPr>
          <p:cNvPr id="13" name="Text 10"/>
          <p:cNvSpPr txBox="1"/>
          <p:nvPr/>
        </p:nvSpPr>
        <p:spPr>
          <a:xfrm>
            <a:off x="691134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4" name="Text 11"/>
          <p:cNvSpPr txBox="1"/>
          <p:nvPr/>
        </p:nvSpPr>
        <p:spPr>
          <a:xfrm>
            <a:off x="691134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Swaraj</a:t>
            </a:r>
            <a:endParaRPr lang="en-US" sz="2400" dirty="0"/>
          </a:p>
        </p:txBody>
      </p:sp>
      <p:sp>
        <p:nvSpPr>
          <p:cNvPr id="15" name="Shape 12"/>
          <p:cNvSpPr/>
          <p:nvPr/>
        </p:nvSpPr>
        <p:spPr>
          <a:xfrm>
            <a:off x="691134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6" name="Text 13"/>
          <p:cNvSpPr txBox="1"/>
          <p:nvPr/>
        </p:nvSpPr>
        <p:spPr>
          <a:xfrm>
            <a:off x="691134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Vision</a:t>
            </a:r>
            <a:endParaRPr lang="en-US" sz="1350" dirty="0"/>
          </a:p>
        </p:txBody>
      </p:sp>
      <p:sp>
        <p:nvSpPr>
          <p:cNvPr id="17" name="Text 14"/>
          <p:cNvSpPr txBox="1"/>
          <p:nvPr/>
        </p:nvSpPr>
        <p:spPr>
          <a:xfrm>
            <a:off x="691134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Frame extraction and sampling at aligned timestamps</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Visual baseline and pretrained encoder; robustness tests; demo</a:t>
            </a:r>
            <a:endParaRPr lang="en-US" sz="1050" dirty="0"/>
          </a:p>
        </p:txBody>
      </p:sp>
      <p:sp>
        <p:nvSpPr>
          <p:cNvPr id="18" name="Shape 15"/>
          <p:cNvSpPr/>
          <p:nvPr/>
        </p:nvSpPr>
        <p:spPr>
          <a:xfrm>
            <a:off x="12062460" y="2697480"/>
            <a:ext cx="5196840" cy="5212080"/>
          </a:xfrm>
          <a:prstGeom prst="roundRect">
            <a:avLst>
              <a:gd name="adj" fmla="val 2463"/>
            </a:avLst>
          </a:prstGeom>
          <a:solidFill>
            <a:srgbClr val="EEF1F2"/>
          </a:solidFill>
          <a:ln w="12700">
            <a:solidFill>
              <a:srgbClr val="EEF1F2"/>
            </a:solidFill>
            <a:prstDash val="solid"/>
          </a:ln>
        </p:spPr>
      </p:sp>
      <p:sp>
        <p:nvSpPr>
          <p:cNvPr id="19" name="Text 16"/>
          <p:cNvSpPr txBox="1"/>
          <p:nvPr/>
        </p:nvSpPr>
        <p:spPr>
          <a:xfrm>
            <a:off x="1242822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20" name="Text 17"/>
          <p:cNvSpPr txBox="1"/>
          <p:nvPr/>
        </p:nvSpPr>
        <p:spPr>
          <a:xfrm>
            <a:off x="1242822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Venkat</a:t>
            </a:r>
            <a:endParaRPr lang="en-US" sz="2400" dirty="0"/>
          </a:p>
        </p:txBody>
      </p:sp>
      <p:sp>
        <p:nvSpPr>
          <p:cNvPr id="21" name="Shape 18"/>
          <p:cNvSpPr/>
          <p:nvPr/>
        </p:nvSpPr>
        <p:spPr>
          <a:xfrm>
            <a:off x="1242822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2" name="Text 19"/>
          <p:cNvSpPr txBox="1"/>
          <p:nvPr/>
        </p:nvSpPr>
        <p:spPr>
          <a:xfrm>
            <a:off x="1242822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Fusion &amp; verification</a:t>
            </a:r>
            <a:endParaRPr lang="en-US" sz="1350" dirty="0"/>
          </a:p>
        </p:txBody>
      </p:sp>
      <p:sp>
        <p:nvSpPr>
          <p:cNvPr id="23" name="Text 20"/>
          <p:cNvSpPr txBox="1"/>
          <p:nvPr/>
        </p:nvSpPr>
        <p:spPr>
          <a:xfrm>
            <a:off x="1242822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Pair generation; evaluation and calibration data</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Fusion, correspondence scoring, calibration; final integration</a:t>
            </a:r>
            <a:endParaRPr lang="en-US" sz="1050" dirty="0"/>
          </a:p>
        </p:txBody>
      </p:sp>
      <p:sp>
        <p:nvSpPr>
          <p:cNvPr id="24" name="Shape 21"/>
          <p:cNvSpPr/>
          <p:nvPr/>
        </p:nvSpPr>
        <p:spPr>
          <a:xfrm>
            <a:off x="1028700" y="8229600"/>
            <a:ext cx="16230600" cy="1097280"/>
          </a:xfrm>
          <a:prstGeom prst="roundRect">
            <a:avLst>
              <a:gd name="adj" fmla="val 11667"/>
            </a:avLst>
          </a:prstGeom>
          <a:solidFill>
            <a:srgbClr val="E3F4F6"/>
          </a:solidFill>
          <a:ln w="12700">
            <a:solidFill>
              <a:srgbClr val="E3F4F6"/>
            </a:solidFill>
            <a:prstDash val="solid"/>
          </a:ln>
        </p:spPr>
      </p:sp>
      <p:sp>
        <p:nvSpPr>
          <p:cNvPr id="25" name="Text 22"/>
          <p:cNvSpPr txBox="1"/>
          <p:nvPr/>
        </p:nvSpPr>
        <p:spPr>
          <a:xfrm>
            <a:off x="1440180" y="8229600"/>
            <a:ext cx="15407640" cy="1097280"/>
          </a:xfrm>
          <a:prstGeom prst="rect">
            <a:avLst/>
          </a:prstGeom>
          <a:noFill/>
          <a:ln/>
        </p:spPr>
        <p:txBody>
          <a:bodyPr wrap="square" lIns="0" tIns="0" rIns="0" bIns="0" rtlCol="0" anchor="ctr"/>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Shared by all three:  </a:t>
            </a:r>
            <a:pPr indent="0" marL="0">
              <a:buNone/>
            </a:pPr>
            <a:r>
              <a:rPr lang="en-US" sz="1550" dirty="0">
                <a:solidFill>
                  <a:srgbClr val="202020"/>
                </a:solidFill>
                <a:latin typeface="Inter 1" pitchFamily="34" charset="0"/>
                <a:ea typeface="Inter 1" pitchFamily="34" charset="-122"/>
                <a:cs typeface="Inter 1" pitchFamily="34" charset="-120"/>
              </a:rPr>
              <a:t>integration, end-to-end evaluation, and one inference function. A video goes in; the event, confidence values, per-second evidence and match score come out.</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3291840"/>
            <a:ext cx="16230600" cy="1463040"/>
          </a:xfrm>
          <a:prstGeom prst="rect">
            <a:avLst/>
          </a:prstGeom>
          <a:noFill/>
          <a:ln/>
        </p:spPr>
        <p:txBody>
          <a:bodyPr wrap="square" lIns="0" tIns="0" rIns="0" bIns="0" rtlCol="0" anchor="t"/>
          <a:lstStyle/>
          <a:p>
            <a:pPr algn="ctr" indent="0" marL="0">
              <a:buNone/>
            </a:pPr>
            <a:r>
              <a:rPr lang="en-US" sz="9600" b="1" spc="-300" kern="0" dirty="0">
                <a:solidFill>
                  <a:srgbClr val="FFFFFF"/>
                </a:solidFill>
                <a:latin typeface="Inter 1 Bold" pitchFamily="34" charset="0"/>
                <a:ea typeface="Inter 1 Bold" pitchFamily="34" charset="-122"/>
                <a:cs typeface="Inter 1 Bold" pitchFamily="34" charset="-120"/>
              </a:rPr>
              <a:t>Thank you</a:t>
            </a:r>
            <a:endParaRPr lang="en-US" sz="9600" dirty="0"/>
          </a:p>
        </p:txBody>
      </p:sp>
      <p:sp>
        <p:nvSpPr>
          <p:cNvPr id="4" name="Text 1"/>
          <p:cNvSpPr txBox="1"/>
          <p:nvPr/>
        </p:nvSpPr>
        <p:spPr>
          <a:xfrm>
            <a:off x="1028700" y="4800600"/>
            <a:ext cx="16230600" cy="548640"/>
          </a:xfrm>
          <a:prstGeom prst="rect">
            <a:avLst/>
          </a:prstGeom>
          <a:noFill/>
          <a:ln/>
        </p:spPr>
        <p:txBody>
          <a:bodyPr wrap="square" lIns="0" tIns="0" rIns="0" bIns="0" rtlCol="0" anchor="t"/>
          <a:lstStyle/>
          <a:p>
            <a:pPr algn="ctr" indent="0" marL="0">
              <a:buNone/>
            </a:pPr>
            <a:r>
              <a:rPr lang="en-US" sz="2400" dirty="0">
                <a:solidFill>
                  <a:srgbClr val="E6FBF5"/>
                </a:solidFill>
                <a:latin typeface="Inter 1" pitchFamily="34" charset="0"/>
                <a:ea typeface="Inter 1" pitchFamily="34" charset="-122"/>
                <a:cs typeface="Inter 1" pitchFamily="34" charset="-120"/>
              </a:rPr>
              <a:t>Questions and feedback welcome</a:t>
            </a:r>
            <a:endParaRPr lang="en-US" sz="2400" dirty="0"/>
          </a:p>
        </p:txBody>
      </p:sp>
      <p:sp>
        <p:nvSpPr>
          <p:cNvPr id="5" name="Text 2"/>
          <p:cNvSpPr txBox="1"/>
          <p:nvPr/>
        </p:nvSpPr>
        <p:spPr>
          <a:xfrm>
            <a:off x="1028700" y="8778240"/>
            <a:ext cx="16230600" cy="365760"/>
          </a:xfrm>
          <a:prstGeom prst="rect">
            <a:avLst/>
          </a:prstGeom>
          <a:noFill/>
          <a:ln/>
        </p:spPr>
        <p:txBody>
          <a:bodyPr wrap="square" lIns="0" tIns="0" rIns="0" bIns="0" rtlCol="0" anchor="t"/>
          <a:lstStyle/>
          <a:p>
            <a:pPr algn="ctr" indent="0" marL="0">
              <a:buNone/>
            </a:pPr>
            <a:r>
              <a:rPr lang="en-US" sz="1500" b="1" spc="100" kern="0" dirty="0">
                <a:solidFill>
                  <a:srgbClr val="FFFFFF"/>
                </a:solidFill>
                <a:latin typeface="Inter 1 Semi-Bold" pitchFamily="34" charset="0"/>
                <a:ea typeface="Inter 1 Semi-Bold" pitchFamily="34" charset="-122"/>
                <a:cs typeface="Inter 1 Semi-Bold" pitchFamily="34" charset="-120"/>
              </a:rPr>
              <a:t>AValidate   ·   Group 25</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Appendix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References &amp; AI Use</a:t>
            </a:r>
            <a:endParaRPr lang="en-US" sz="6000" dirty="0"/>
          </a:p>
        </p:txBody>
      </p:sp>
      <p:sp>
        <p:nvSpPr>
          <p:cNvPr id="4" name="Text 1"/>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16</a:t>
            </a:r>
            <a:endParaRPr lang="en-US" sz="1050" dirty="0"/>
          </a:p>
        </p:txBody>
      </p:sp>
      <p:sp>
        <p:nvSpPr>
          <p:cNvPr id="5" name="Shape 2"/>
          <p:cNvSpPr/>
          <p:nvPr/>
        </p:nvSpPr>
        <p:spPr>
          <a:xfrm>
            <a:off x="1028700" y="2194560"/>
            <a:ext cx="10058400" cy="7223760"/>
          </a:xfrm>
          <a:prstGeom prst="roundRect">
            <a:avLst>
              <a:gd name="adj" fmla="val 1772"/>
            </a:avLst>
          </a:prstGeom>
          <a:solidFill>
            <a:srgbClr val="EEF1F2"/>
          </a:solidFill>
          <a:ln w="12700">
            <a:solidFill>
              <a:srgbClr val="EEF1F2"/>
            </a:solidFill>
            <a:prstDash val="solid"/>
          </a:ln>
        </p:spPr>
      </p:sp>
      <p:sp>
        <p:nvSpPr>
          <p:cNvPr id="6" name="Text 3"/>
          <p:cNvSpPr txBox="1"/>
          <p:nvPr/>
        </p:nvSpPr>
        <p:spPr>
          <a:xfrm>
            <a:off x="1440180" y="2560320"/>
            <a:ext cx="9235440" cy="274320"/>
          </a:xfrm>
          <a:prstGeom prst="rect">
            <a:avLst/>
          </a:prstGeom>
          <a:noFill/>
          <a:ln/>
        </p:spPr>
        <p:txBody>
          <a:bodyPr wrap="square" lIns="0" tIns="0" rIns="0" bIns="0" rtlCol="0" anchor="t"/>
          <a:lstStyle/>
          <a:p>
            <a:pPr indent="0" marL="0">
              <a:buNone/>
            </a:pPr>
            <a:r>
              <a:rPr lang="en-US" sz="1200" b="1" spc="150" kern="0" dirty="0">
                <a:solidFill>
                  <a:srgbClr val="0097B2"/>
                </a:solidFill>
                <a:latin typeface="Inter 1 Bold" pitchFamily="34" charset="0"/>
                <a:ea typeface="Inter 1 Bold" pitchFamily="34" charset="-122"/>
                <a:cs typeface="Inter 1 Bold" pitchFamily="34" charset="-120"/>
              </a:rPr>
              <a:t>REFERENCES</a:t>
            </a:r>
            <a:endParaRPr lang="en-US" sz="1200" dirty="0"/>
          </a:p>
        </p:txBody>
      </p:sp>
      <p:sp>
        <p:nvSpPr>
          <p:cNvPr id="7" name="Text 4"/>
          <p:cNvSpPr txBox="1"/>
          <p:nvPr/>
        </p:nvSpPr>
        <p:spPr>
          <a:xfrm>
            <a:off x="1440180" y="3063240"/>
            <a:ext cx="9235440" cy="6035040"/>
          </a:xfrm>
          <a:prstGeom prst="rect">
            <a:avLst/>
          </a:prstGeom>
          <a:noFill/>
          <a:ln/>
        </p:spPr>
        <p:txBody>
          <a:bodyPr wrap="square" lIns="0" tIns="0" rIns="0" bIns="0" rtlCol="0" anchor="t"/>
          <a:lstStyle/>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[1]  Tian, Y. et al., “Audio-Visual Event Localization in Unconstrained Videos,” ECCV, 2018.</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[2]  Chen, H. et al., “VGGSound: A Large-scale Audio-Visual Dataset,” ICASSP, 2020.</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[3]  Chen, H. et al., “Localizing Visual Sounds the Hard Way,” CVPR, 2021.</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[4]  Chen, S. et al., “BEATs: Audio Pre-Training with Acoustic Tokenizers,” 2022.</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[5]  Radford, A. et al., “Learning Transferable Visual Models From Natural Language Supervision,” ICML, 2021.</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[6]  Arandjelović, R. and Zisserman, A., “Look, Listen and Learn,” ICCV, 2017.</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[7]  Owens, A. and Efros, A. A., “Audio-Visual Scene Analysis with Self-Supervised Multisensory Features,” ECCV, 2018.</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[8]  Korbar, B., Tran, D. and Torresani, L., “Cooperative Learning of Audio and Video Models from Self-Supervised Synchronization,” NeurIPS, 2018.</a:t>
            </a:r>
            <a:endParaRPr lang="en-US" sz="1600" dirty="0"/>
          </a:p>
        </p:txBody>
      </p:sp>
      <p:sp>
        <p:nvSpPr>
          <p:cNvPr id="8" name="Shape 5"/>
          <p:cNvSpPr/>
          <p:nvPr/>
        </p:nvSpPr>
        <p:spPr>
          <a:xfrm>
            <a:off x="11407140" y="2194560"/>
            <a:ext cx="5852160" cy="7223760"/>
          </a:xfrm>
          <a:prstGeom prst="roundRect">
            <a:avLst>
              <a:gd name="adj" fmla="val 2188"/>
            </a:avLst>
          </a:prstGeom>
          <a:solidFill>
            <a:srgbClr val="EEF1F2"/>
          </a:solidFill>
          <a:ln w="12700">
            <a:solidFill>
              <a:srgbClr val="EEF1F2"/>
            </a:solidFill>
            <a:prstDash val="solid"/>
          </a:ln>
        </p:spPr>
      </p:sp>
      <p:sp>
        <p:nvSpPr>
          <p:cNvPr id="9" name="Text 6"/>
          <p:cNvSpPr txBox="1"/>
          <p:nvPr/>
        </p:nvSpPr>
        <p:spPr>
          <a:xfrm>
            <a:off x="11818620" y="2560320"/>
            <a:ext cx="5029200" cy="274320"/>
          </a:xfrm>
          <a:prstGeom prst="rect">
            <a:avLst/>
          </a:prstGeom>
          <a:noFill/>
          <a:ln/>
        </p:spPr>
        <p:txBody>
          <a:bodyPr wrap="square" lIns="0" tIns="0" rIns="0" bIns="0" rtlCol="0" anchor="t"/>
          <a:lstStyle/>
          <a:p>
            <a:pPr indent="0" marL="0">
              <a:buNone/>
            </a:pPr>
            <a:r>
              <a:rPr lang="en-US" sz="1200" b="1" spc="150" kern="0" dirty="0">
                <a:solidFill>
                  <a:srgbClr val="0097B2"/>
                </a:solidFill>
                <a:latin typeface="Inter 1 Bold" pitchFamily="34" charset="0"/>
                <a:ea typeface="Inter 1 Bold" pitchFamily="34" charset="-122"/>
                <a:cs typeface="Inter 1 Bold" pitchFamily="34" charset="-120"/>
              </a:rPr>
              <a:t>USE OF AI TOOLS</a:t>
            </a:r>
            <a:endParaRPr lang="en-US" sz="1200" dirty="0"/>
          </a:p>
        </p:txBody>
      </p:sp>
      <p:sp>
        <p:nvSpPr>
          <p:cNvPr id="10" name="Text 7"/>
          <p:cNvSpPr txBox="1"/>
          <p:nvPr/>
        </p:nvSpPr>
        <p:spPr>
          <a:xfrm>
            <a:off x="11818620" y="3063240"/>
            <a:ext cx="5029200" cy="6035040"/>
          </a:xfrm>
          <a:prstGeom prst="rect">
            <a:avLst/>
          </a:prstGeom>
          <a:noFill/>
          <a:ln/>
        </p:spPr>
        <p:txBody>
          <a:bodyPr wrap="square" lIns="0" tIns="0" rIns="0" bIns="0" rtlCol="0" anchor="t"/>
          <a:lstStyle/>
          <a:p>
            <a:pPr indent="0" marL="0">
              <a:lnSpc>
                <a:spcPct val="125000"/>
              </a:lnSpc>
              <a:buNone/>
            </a:pPr>
            <a:r>
              <a:rPr lang="en-US" sz="1650" dirty="0">
                <a:solidFill>
                  <a:srgbClr val="202020"/>
                </a:solidFill>
                <a:latin typeface="Inter 1" pitchFamily="34" charset="0"/>
                <a:ea typeface="Inter 1" pitchFamily="34" charset="-122"/>
                <a:cs typeface="Inter 1" pitchFamily="34" charset="-120"/>
              </a:rPr>
              <a:t>ChatGPT and Claude were used to help review and refine the proposed architecture, structure the proposal and these slides, improve technical expression, and prepare diagrams. All model choices, dataset selections, implementation decisions, experiments and final content are reviewed and approved by the project team.</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2026-10-05T09:53:48Z</dcterms:created>
  <dcterms:modified xsi:type="dcterms:W3CDTF">2026-10-05T09:53:48Z</dcterms:modified>
</cp:coreProperties>
</file>